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3" r:id="rId2"/>
    <p:sldMasterId id="2147483674" r:id="rId3"/>
  </p:sldMasterIdLst>
  <p:notesMasterIdLst>
    <p:notesMasterId r:id="rId14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 type="screen16x9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5C0336-903C-4461-808E-CB701BA6F4ED}">
  <a:tblStyle styleId="{725C0336-903C-4461-808E-CB701BA6F4E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presProps" Target="presProps.xml"/><Relationship Id="rId10" Type="http://schemas.openxmlformats.org/officeDocument/2006/relationships/slide" Target="slides/slide7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0;p2"/>
          <p:cNvPicPr>
            <a:picLocks noChangeAspect="1"/>
          </p:cNvPicPr>
          <p:nvPr/>
        </p:nvPicPr>
        <p:blipFill rotWithShape="1">
          <a:blip r:embed="rId2"/>
          <a:srcRect l="100" r="100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ln>
            <a:noFill/>
          </a:ln>
        </p:spPr>
      </p:pic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6BD8CE26-A9FB-4503-BEE8-576C054A5E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lt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774316A6-806E-4FDE-98BD-3AE29342E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600">
                <a:solidFill>
                  <a:schemeClr val="lt1"/>
                </a:solidFill>
              </a:defRPr>
            </a:lvl1pPr>
            <a:lvl2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>
            <a:extLst>
              <a:ext uri="{FF2B5EF4-FFF2-40B4-BE49-F238E27FC236}">
                <a16:creationId xmlns:a16="http://schemas.microsoft.com/office/drawing/2014/main" id="{FCFCFD36-5DA9-448C-BA22-8F12B4215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>
            <a:extLst>
              <a:ext uri="{FF2B5EF4-FFF2-40B4-BE49-F238E27FC236}">
                <a16:creationId xmlns:a16="http://schemas.microsoft.com/office/drawing/2014/main" id="{C8127FC9-A1D8-48C9-96F8-326CD587755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>
            <a:extLst>
              <a:ext uri="{FF2B5EF4-FFF2-40B4-BE49-F238E27FC236}">
                <a16:creationId xmlns:a16="http://schemas.microsoft.com/office/drawing/2014/main" id="{4187A3C3-1B03-4F81-A2E6-41F84CDE0D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>
            <a:extLst>
              <a:ext uri="{FF2B5EF4-FFF2-40B4-BE49-F238E27FC236}">
                <a16:creationId xmlns:a16="http://schemas.microsoft.com/office/drawing/2014/main" id="{BD240082-CD0F-4416-9D3C-516DC6C713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>
            <a:extLst>
              <a:ext uri="{FF2B5EF4-FFF2-40B4-BE49-F238E27FC236}">
                <a16:creationId xmlns:a16="http://schemas.microsoft.com/office/drawing/2014/main" id="{09A500A5-B64C-443C-AA80-B5C1F94FFD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 marL="457200" indent="-3238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har char="●"/>
              <a:defRPr sz="1500"/>
            </a:lvl1pPr>
            <a:lvl2pPr marL="914400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har char="○"/>
              <a:defRPr sz="1300"/>
            </a:lvl2pPr>
            <a:lvl3pPr marL="1371600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har char="■"/>
              <a:defRPr sz="1300"/>
            </a:lvl3pPr>
            <a:lvl4pPr marL="1828800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har char="●"/>
              <a:defRPr sz="1300"/>
            </a:lvl4pPr>
            <a:lvl5pPr marL="2286000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har char="○"/>
              <a:defRPr sz="1300"/>
            </a:lvl5pPr>
            <a:lvl6pPr marL="2743200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har char="■"/>
              <a:defRPr sz="1300"/>
            </a:lvl6pPr>
            <a:lvl7pPr marL="3200400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har char="●"/>
              <a:defRPr sz="1300"/>
            </a:lvl7pPr>
            <a:lvl8pPr marL="3657600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har char="○"/>
              <a:defRPr sz="1300"/>
            </a:lvl8pPr>
            <a:lvl9pPr marL="4114800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>
            <a:extLst>
              <a:ext uri="{FF2B5EF4-FFF2-40B4-BE49-F238E27FC236}">
                <a16:creationId xmlns:a16="http://schemas.microsoft.com/office/drawing/2014/main" id="{BB7ACB41-636C-46C6-90F8-335C7368DAE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>
            <a:extLst>
              <a:ext uri="{FF2B5EF4-FFF2-40B4-BE49-F238E27FC236}">
                <a16:creationId xmlns:a16="http://schemas.microsoft.com/office/drawing/2014/main" id="{07CB0012-3141-4211-94CB-CD379AB7605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24" name="Google Shape;24;p6">
            <a:extLst>
              <a:ext uri="{FF2B5EF4-FFF2-40B4-BE49-F238E27FC236}">
                <a16:creationId xmlns:a16="http://schemas.microsoft.com/office/drawing/2014/main" id="{8188B415-32CB-428C-BA97-CA44CF088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>
            <a:extLst>
              <a:ext uri="{FF2B5EF4-FFF2-40B4-BE49-F238E27FC236}">
                <a16:creationId xmlns:a16="http://schemas.microsoft.com/office/drawing/2014/main" id="{3A3AB84E-7011-40CF-BE2F-8698712A4D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rgbClr val="013D85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>
                <a:solidFill>
                  <a:srgbClr val="013D85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>
                <a:solidFill>
                  <a:srgbClr val="013D85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>
                <a:solidFill>
                  <a:srgbClr val="013D85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>
                <a:solidFill>
                  <a:srgbClr val="013D85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>
                <a:solidFill>
                  <a:srgbClr val="013D85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>
                <a:solidFill>
                  <a:srgbClr val="013D85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>
                <a:solidFill>
                  <a:srgbClr val="013D85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>
            <a:extLst>
              <a:ext uri="{FF2B5EF4-FFF2-40B4-BE49-F238E27FC236}">
                <a16:creationId xmlns:a16="http://schemas.microsoft.com/office/drawing/2014/main" id="{AB0E65BB-80DB-49D2-B234-900831ABF15F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>
                <a:solidFill>
                  <a:srgbClr val="013D85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>
                <a:solidFill>
                  <a:srgbClr val="013D85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>
                <a:solidFill>
                  <a:srgbClr val="013D85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>
                <a:solidFill>
                  <a:srgbClr val="013D85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>
                <a:solidFill>
                  <a:srgbClr val="013D85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>
                <a:solidFill>
                  <a:srgbClr val="013D85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>
                <a:solidFill>
                  <a:srgbClr val="013D85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>
                <a:solidFill>
                  <a:srgbClr val="013D85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>
            <a:extLst>
              <a:ext uri="{FF2B5EF4-FFF2-40B4-BE49-F238E27FC236}">
                <a16:creationId xmlns:a16="http://schemas.microsoft.com/office/drawing/2014/main" id="{D23AB52B-B603-494C-AF8E-EBCD44DB59EF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chemeClr val="dk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>
            <a:extLst>
              <a:ext uri="{FF2B5EF4-FFF2-40B4-BE49-F238E27FC236}">
                <a16:creationId xmlns:a16="http://schemas.microsoft.com/office/drawing/2014/main" id="{A33CC58E-6E10-44E5-B24C-822F26DDA54F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chemeClr val="dk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>
            <a:extLst>
              <a:ext uri="{FF2B5EF4-FFF2-40B4-BE49-F238E27FC236}">
                <a16:creationId xmlns:a16="http://schemas.microsoft.com/office/drawing/2014/main" id="{EB56DE34-CD2D-4C7A-83FB-C6A182658D3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31" name="Google Shape;31;p7"/>
          <p:cNvPicPr>
            <a:picLocks noChangeAspect="1"/>
          </p:cNvPicPr>
          <p:nvPr/>
        </p:nvPicPr>
        <p:blipFill rotWithShape="1"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</p:pic>
      <p:sp>
        <p:nvSpPr>
          <p:cNvPr id="32" name="Google Shape;32;p7">
            <a:extLst>
              <a:ext uri="{FF2B5EF4-FFF2-40B4-BE49-F238E27FC236}">
                <a16:creationId xmlns:a16="http://schemas.microsoft.com/office/drawing/2014/main" id="{DD845B2A-5F98-4630-8005-74CE8C16D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4600"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50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50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50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50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50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50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50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>
            <a:extLst>
              <a:ext uri="{FF2B5EF4-FFF2-40B4-BE49-F238E27FC236}">
                <a16:creationId xmlns:a16="http://schemas.microsoft.com/office/drawing/2014/main" id="{DDABFF2D-38F4-4AB6-8DB3-489561A48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>
            <a:extLst>
              <a:ext uri="{FF2B5EF4-FFF2-40B4-BE49-F238E27FC236}">
                <a16:creationId xmlns:a16="http://schemas.microsoft.com/office/drawing/2014/main" id="{1C6FE807-F968-4B78-9A0A-A62DC7E467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13D85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>
                <a:solidFill>
                  <a:schemeClr val="dk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>
                <a:solidFill>
                  <a:schemeClr val="dk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>
                <a:solidFill>
                  <a:schemeClr val="dk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>
                <a:solidFill>
                  <a:schemeClr val="dk1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>
                <a:solidFill>
                  <a:schemeClr val="dk1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>
                <a:solidFill>
                  <a:schemeClr val="dk1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>
                <a:solidFill>
                  <a:schemeClr val="dk1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>
            <a:extLst>
              <a:ext uri="{FF2B5EF4-FFF2-40B4-BE49-F238E27FC236}">
                <a16:creationId xmlns:a16="http://schemas.microsoft.com/office/drawing/2014/main" id="{2231680E-AA1A-4784-A205-C7B0821959AE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chemeClr val="dk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>
            <a:extLst>
              <a:ext uri="{FF2B5EF4-FFF2-40B4-BE49-F238E27FC236}">
                <a16:creationId xmlns:a16="http://schemas.microsoft.com/office/drawing/2014/main" id="{A82B56B6-4BE2-45C6-80A3-6DB3DFCE707F}"/>
              </a:ext>
            </a:extLst>
          </p:cNvPr>
          <p:cNvSpPr>
            <a:spLocks noGrp="1"/>
          </p:cNvSpPr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>
            <a:extLst>
              <a:ext uri="{FF2B5EF4-FFF2-40B4-BE49-F238E27FC236}">
                <a16:creationId xmlns:a16="http://schemas.microsoft.com/office/drawing/2014/main" id="{D2F0728A-E2D0-465C-B3C4-093B32328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42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42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42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42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42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42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42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>
            <a:extLst>
              <a:ext uri="{FF2B5EF4-FFF2-40B4-BE49-F238E27FC236}">
                <a16:creationId xmlns:a16="http://schemas.microsoft.com/office/drawing/2014/main" id="{1B02E028-B4AF-4A90-B9BB-D68B2D389B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>
            <a:extLst>
              <a:ext uri="{FF2B5EF4-FFF2-40B4-BE49-F238E27FC236}">
                <a16:creationId xmlns:a16="http://schemas.microsoft.com/office/drawing/2014/main" id="{03351B20-731D-4D5D-9A0A-05338A9EB01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/>
          </a:bodyPr>
          <a:lstStyle>
            <a:lvl1pPr marL="457200" indent="-336550"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23850"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1150"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1150"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1150"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1150"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1150"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1150"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1150"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>
            <a:extLst>
              <a:ext uri="{FF2B5EF4-FFF2-40B4-BE49-F238E27FC236}">
                <a16:creationId xmlns:a16="http://schemas.microsoft.com/office/drawing/2014/main" id="{A9CECABC-297A-4CEE-B1B3-717E693D8D9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>
            <a:extLst>
              <a:ext uri="{FF2B5EF4-FFF2-40B4-BE49-F238E27FC236}">
                <a16:creationId xmlns:a16="http://schemas.microsoft.com/office/drawing/2014/main" id="{6BA52E70-65F0-4328-A6F6-C6B0C302BD4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>
            <a:extLst>
              <a:ext uri="{FF2B5EF4-FFF2-40B4-BE49-F238E27FC236}">
                <a16:creationId xmlns:a16="http://schemas.microsoft.com/office/drawing/2014/main" id="{58C341FD-8BD1-486D-B0E6-F873AD899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>
            <a:extLst>
              <a:ext uri="{FF2B5EF4-FFF2-40B4-BE49-F238E27FC236}">
                <a16:creationId xmlns:a16="http://schemas.microsoft.com/office/drawing/2014/main" id="{26B34B9A-90C3-48B8-9F7A-7F740381D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>
            <a:extLst>
              <a:ext uri="{FF2B5EF4-FFF2-40B4-BE49-F238E27FC236}">
                <a16:creationId xmlns:a16="http://schemas.microsoft.com/office/drawing/2014/main" id="{E28AEA2D-940C-40FB-B7DD-ABB18E3F85EF}"/>
              </a:ext>
            </a:extLst>
          </p:cNvPr>
          <p:cNvSpPr>
            <a:spLocks noGrp="1"/>
          </p:cNvSpPr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>
            <a:extLst>
              <a:ext uri="{FF2B5EF4-FFF2-40B4-BE49-F238E27FC236}">
                <a16:creationId xmlns:a16="http://schemas.microsoft.com/office/drawing/2014/main" id="{2792CD0C-245F-4FD2-93E5-EC21B94886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Courier New"/>
                <a:ea typeface="Courier New"/>
                <a:cs typeface="Courier New"/>
              </a:defRPr>
            </a:lvl1pPr>
            <a:lvl2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2pPr>
            <a:lvl3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3pPr>
            <a:lvl4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4pPr>
            <a:lvl5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5pPr>
            <a:lvl6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6pPr>
            <a:lvl7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7pPr>
            <a:lvl8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8pPr>
            <a:lvl9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>
            <a:extLst>
              <a:ext uri="{FF2B5EF4-FFF2-40B4-BE49-F238E27FC236}">
                <a16:creationId xmlns:a16="http://schemas.microsoft.com/office/drawing/2014/main" id="{C02D535E-CD27-429C-B43A-9BE73EFE9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>
            <a:extLst>
              <a:ext uri="{FF2B5EF4-FFF2-40B4-BE49-F238E27FC236}">
                <a16:creationId xmlns:a16="http://schemas.microsoft.com/office/drawing/2014/main" id="{9950FBC2-B306-4812-9B89-9E4135929435}"/>
              </a:ext>
            </a:extLst>
          </p:cNvPr>
          <p:cNvSpPr>
            <a:spLocks noGrp="1"/>
          </p:cNvSpPr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6105DC84-AADC-4131-9106-C8B92CABC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</a:defRPr>
            </a:lvl1pPr>
            <a:lvl2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>
                <a:solidFill>
                  <a:schemeClr val="lt1"/>
                </a:solidFill>
              </a:defRPr>
            </a:lvl2pPr>
            <a:lvl3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>
                <a:solidFill>
                  <a:schemeClr val="lt1"/>
                </a:solidFill>
              </a:defRPr>
            </a:lvl3pPr>
            <a:lvl4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>
                <a:solidFill>
                  <a:schemeClr val="lt1"/>
                </a:solidFill>
              </a:defRPr>
            </a:lvl4pPr>
            <a:lvl5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>
                <a:solidFill>
                  <a:schemeClr val="lt1"/>
                </a:solidFill>
              </a:defRPr>
            </a:lvl5pPr>
            <a:lvl6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>
                <a:solidFill>
                  <a:schemeClr val="lt1"/>
                </a:solidFill>
              </a:defRPr>
            </a:lvl6pPr>
            <a:lvl7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>
                <a:solidFill>
                  <a:schemeClr val="lt1"/>
                </a:solidFill>
              </a:defRPr>
            </a:lvl7pPr>
            <a:lvl8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>
                <a:solidFill>
                  <a:schemeClr val="lt1"/>
                </a:solidFill>
              </a:defRPr>
            </a:lvl8pPr>
            <a:lvl9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>
            <a:extLst>
              <a:ext uri="{FF2B5EF4-FFF2-40B4-BE49-F238E27FC236}">
                <a16:creationId xmlns:a16="http://schemas.microsoft.com/office/drawing/2014/main" id="{87E0E4F0-F5AE-4DE3-8A71-1AE771C78D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>
            <a:extLst>
              <a:ext uri="{FF2B5EF4-FFF2-40B4-BE49-F238E27FC236}">
                <a16:creationId xmlns:a16="http://schemas.microsoft.com/office/drawing/2014/main" id="{EE07CDC7-CA21-4F47-8707-A05F11725D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chemeClr val="dk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>
            <a:extLst>
              <a:ext uri="{FF2B5EF4-FFF2-40B4-BE49-F238E27FC236}">
                <a16:creationId xmlns:a16="http://schemas.microsoft.com/office/drawing/2014/main" id="{7690A75F-0570-444A-8A03-46DD25B62C30}"/>
              </a:ext>
            </a:extLst>
          </p:cNvPr>
          <p:cNvSpPr>
            <a:spLocks noGrp="1"/>
          </p:cNvSpPr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>
            <a:extLst>
              <a:ext uri="{FF2B5EF4-FFF2-40B4-BE49-F238E27FC236}">
                <a16:creationId xmlns:a16="http://schemas.microsoft.com/office/drawing/2014/main" id="{9FA33DA3-1BFF-41D4-87D9-F864468A9CA6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latin typeface="Courier New"/>
                <a:ea typeface="Courier New"/>
                <a:cs typeface="Courier New"/>
              </a:defRPr>
            </a:lvl1pPr>
            <a:lvl2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2pPr>
            <a:lvl3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3pPr>
            <a:lvl4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4pPr>
            <a:lvl5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5pPr>
            <a:lvl6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6pPr>
            <a:lvl7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7pPr>
            <a:lvl8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8pPr>
            <a:lvl9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>
            <a:extLst>
              <a:ext uri="{FF2B5EF4-FFF2-40B4-BE49-F238E27FC236}">
                <a16:creationId xmlns:a16="http://schemas.microsoft.com/office/drawing/2014/main" id="{B62B5CCB-B2A4-4418-AE3B-ECC75C58E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>
            <a:extLst>
              <a:ext uri="{FF2B5EF4-FFF2-40B4-BE49-F238E27FC236}">
                <a16:creationId xmlns:a16="http://schemas.microsoft.com/office/drawing/2014/main" id="{09AD03F2-BD97-429A-B7BF-78EA7DAAFBD5}"/>
              </a:ext>
            </a:extLst>
          </p:cNvPr>
          <p:cNvSpPr>
            <a:spLocks noGrp="1"/>
          </p:cNvSpPr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>
            <a:extLst>
              <a:ext uri="{FF2B5EF4-FFF2-40B4-BE49-F238E27FC236}">
                <a16:creationId xmlns:a16="http://schemas.microsoft.com/office/drawing/2014/main" id="{5302DAAF-BA93-42F5-856E-329B347E83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latin typeface="Courier New"/>
                <a:ea typeface="Courier New"/>
                <a:cs typeface="Courier New"/>
              </a:defRPr>
            </a:lvl1pPr>
            <a:lvl2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300"/>
            </a:lvl2pPr>
            <a:lvl3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>
            <a:extLst>
              <a:ext uri="{FF2B5EF4-FFF2-40B4-BE49-F238E27FC236}">
                <a16:creationId xmlns:a16="http://schemas.microsoft.com/office/drawing/2014/main" id="{251DD02D-8FC7-4C52-841A-8453D8E0ADF3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chemeClr val="dk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лок текст + картинка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>
            <a:extLst>
              <a:ext uri="{FF2B5EF4-FFF2-40B4-BE49-F238E27FC236}">
                <a16:creationId xmlns:a16="http://schemas.microsoft.com/office/drawing/2014/main" id="{68401083-2815-42B4-89AF-3046393AE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1493850"/>
            <a:ext cx="4424100" cy="2155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500"/>
            </a:lvl1pPr>
            <a:lvl2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9pPr>
          </a:lstStyle>
          <a:p>
            <a:endParaRPr/>
          </a:p>
        </p:txBody>
      </p:sp>
      <p:pic>
        <p:nvPicPr>
          <p:cNvPr id="71" name="Google Shape;71;p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3625" y="843000"/>
            <a:ext cx="3457500" cy="34575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Цитата, фон градиент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>
            <a:extLst>
              <a:ext uri="{FF2B5EF4-FFF2-40B4-BE49-F238E27FC236}">
                <a16:creationId xmlns:a16="http://schemas.microsoft.com/office/drawing/2014/main" id="{870153B9-311C-4CAA-8F16-28F32F65D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350" y="1999200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sp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4500"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>
            <a:endParaRPr/>
          </a:p>
        </p:txBody>
      </p:sp>
      <p:sp>
        <p:nvSpPr>
          <p:cNvPr id="74" name="Google Shape;74;p18">
            <a:extLst>
              <a:ext uri="{FF2B5EF4-FFF2-40B4-BE49-F238E27FC236}">
                <a16:creationId xmlns:a16="http://schemas.microsoft.com/office/drawing/2014/main" id="{636E8F39-C957-44B9-BA05-C02C7C8A0C5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этапы процесса">
  <p:cSld name="CUSTOM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9">
            <a:extLst>
              <a:ext uri="{FF2B5EF4-FFF2-40B4-BE49-F238E27FC236}">
                <a16:creationId xmlns:a16="http://schemas.microsoft.com/office/drawing/2014/main" id="{13ABECD9-74A0-4872-9096-CAD54C8D2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77" name="Google Shape;77;p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851" y="1821363"/>
            <a:ext cx="1643210" cy="755249"/>
          </a:xfrm>
          <a:prstGeom prst="rect">
            <a:avLst/>
          </a:prstGeom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8" name="Google Shape;78;p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8289" y="1821362"/>
            <a:ext cx="1643210" cy="755249"/>
          </a:xfrm>
          <a:prstGeom prst="rect">
            <a:avLst/>
          </a:prstGeom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9" name="Google Shape;79;p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7615" y="1821362"/>
            <a:ext cx="1643210" cy="755249"/>
          </a:xfrm>
          <a:prstGeom prst="rect">
            <a:avLst/>
          </a:prstGeom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80" name="Google Shape;80;p1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7001" y="1821362"/>
            <a:ext cx="1643210" cy="755249"/>
          </a:xfrm>
          <a:prstGeom prst="rect">
            <a:avLst/>
          </a:prstGeom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81" name="Google Shape;81;p19">
            <a:extLst>
              <a:ext uri="{FF2B5EF4-FFF2-40B4-BE49-F238E27FC236}">
                <a16:creationId xmlns:a16="http://schemas.microsoft.com/office/drawing/2014/main" id="{E765CBE8-1CB8-40D8-8329-D62153A8F804}"/>
              </a:ext>
            </a:extLst>
          </p:cNvPr>
          <p:cNvSpPr>
            <a:spLocks noGrp="1"/>
          </p:cNvSpPr>
          <p:nvPr/>
        </p:nvSpPr>
        <p:spPr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EEEEEE"/>
                </a:solidFill>
                <a:latin typeface="Roboto"/>
                <a:ea typeface="Roboto"/>
                <a:cs typeface="Roboto"/>
              </a:rPr>
              <a:t>Этап 1</a:t>
            </a:r>
          </a:p>
        </p:txBody>
      </p:sp>
      <p:sp>
        <p:nvSpPr>
          <p:cNvPr id="82" name="Google Shape;82;p19">
            <a:extLst>
              <a:ext uri="{FF2B5EF4-FFF2-40B4-BE49-F238E27FC236}">
                <a16:creationId xmlns:a16="http://schemas.microsoft.com/office/drawing/2014/main" id="{87E7835D-7910-44F3-8433-DF2EF88EA015}"/>
              </a:ext>
            </a:extLst>
          </p:cNvPr>
          <p:cNvSpPr>
            <a:spLocks noGrp="1"/>
          </p:cNvSpPr>
          <p:nvPr/>
        </p:nvSpPr>
        <p:spPr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EEEEEE"/>
                </a:solidFill>
                <a:latin typeface="Roboto"/>
                <a:ea typeface="Roboto"/>
                <a:cs typeface="Roboto"/>
              </a:rPr>
              <a:t>Этап 2</a:t>
            </a:r>
          </a:p>
        </p:txBody>
      </p:sp>
      <p:sp>
        <p:nvSpPr>
          <p:cNvPr id="83" name="Google Shape;83;p19">
            <a:extLst>
              <a:ext uri="{FF2B5EF4-FFF2-40B4-BE49-F238E27FC236}">
                <a16:creationId xmlns:a16="http://schemas.microsoft.com/office/drawing/2014/main" id="{C3284B3D-5724-4693-B862-6746372400F2}"/>
              </a:ext>
            </a:extLst>
          </p:cNvPr>
          <p:cNvSpPr>
            <a:spLocks noGrp="1"/>
          </p:cNvSpPr>
          <p:nvPr/>
        </p:nvSpPr>
        <p:spPr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EEEEEE"/>
                </a:solidFill>
                <a:latin typeface="Roboto"/>
                <a:ea typeface="Roboto"/>
                <a:cs typeface="Roboto"/>
              </a:rPr>
              <a:t>Этап 3</a:t>
            </a:r>
          </a:p>
        </p:txBody>
      </p:sp>
      <p:sp>
        <p:nvSpPr>
          <p:cNvPr id="84" name="Google Shape;84;p19">
            <a:extLst>
              <a:ext uri="{FF2B5EF4-FFF2-40B4-BE49-F238E27FC236}">
                <a16:creationId xmlns:a16="http://schemas.microsoft.com/office/drawing/2014/main" id="{4832E15D-CFCF-400D-B0F7-DEEFBB67288C}"/>
              </a:ext>
            </a:extLst>
          </p:cNvPr>
          <p:cNvSpPr>
            <a:spLocks noGrp="1"/>
          </p:cNvSpPr>
          <p:nvPr/>
        </p:nvSpPr>
        <p:spPr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EEEEEE"/>
                </a:solidFill>
                <a:latin typeface="Roboto"/>
                <a:ea typeface="Roboto"/>
                <a:cs typeface="Roboto"/>
              </a:rPr>
              <a:t>Этап 4</a:t>
            </a:r>
          </a:p>
        </p:txBody>
      </p:sp>
      <p:sp>
        <p:nvSpPr>
          <p:cNvPr id="85" name="Google Shape;85;p19">
            <a:extLst>
              <a:ext uri="{FF2B5EF4-FFF2-40B4-BE49-F238E27FC236}">
                <a16:creationId xmlns:a16="http://schemas.microsoft.com/office/drawing/2014/main" id="{1AD0C6AD-76BB-4ECD-820B-F87622A177A3}"/>
              </a:ext>
            </a:extLst>
          </p:cNvPr>
          <p:cNvSpPr>
            <a:spLocks noGrp="1"/>
          </p:cNvSpPr>
          <p:nvPr/>
        </p:nvSpPr>
        <p:spPr>
          <a:xfrm>
            <a:off x="98290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sp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i="0" u="non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sz="900">
                <a:solidFill>
                  <a:srgbClr val="000000"/>
                </a:solidFill>
                <a:latin typeface="Roboto"/>
                <a:ea typeface="Roboto"/>
                <a:cs typeface="Roboto"/>
              </a:rPr>
              <a:t> </a:t>
            </a:r>
            <a:r>
              <a:rPr sz="900" i="0" u="non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их типов данных, соглашений </a:t>
            </a:r>
          </a:p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i="0" u="non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об именовании и правил проверки целостностей </a:t>
            </a:r>
          </a:p>
        </p:txBody>
      </p:sp>
      <p:sp>
        <p:nvSpPr>
          <p:cNvPr id="86" name="Google Shape;86;p19">
            <a:extLst>
              <a:ext uri="{FF2B5EF4-FFF2-40B4-BE49-F238E27FC236}">
                <a16:creationId xmlns:a16="http://schemas.microsoft.com/office/drawing/2014/main" id="{97BD80CF-1F44-4B02-BA16-6CB6212A2C95}"/>
              </a:ext>
            </a:extLst>
          </p:cNvPr>
          <p:cNvSpPr>
            <a:spLocks noGrp="1"/>
          </p:cNvSpPr>
          <p:nvPr/>
        </p:nvSpPr>
        <p:spPr>
          <a:xfrm>
            <a:off x="2828343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sp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i="0" u="non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sz="900">
                <a:solidFill>
                  <a:srgbClr val="000000"/>
                </a:solidFill>
                <a:latin typeface="Roboto"/>
                <a:ea typeface="Roboto"/>
                <a:cs typeface="Roboto"/>
              </a:rPr>
              <a:t> </a:t>
            </a:r>
            <a:r>
              <a:rPr sz="900" i="0" u="non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их типов данных, соглашений </a:t>
            </a:r>
          </a:p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i="0" u="non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об именовании и правил проверки целостностей </a:t>
            </a:r>
          </a:p>
        </p:txBody>
      </p:sp>
      <p:sp>
        <p:nvSpPr>
          <p:cNvPr id="87" name="Google Shape;87;p19">
            <a:extLst>
              <a:ext uri="{FF2B5EF4-FFF2-40B4-BE49-F238E27FC236}">
                <a16:creationId xmlns:a16="http://schemas.microsoft.com/office/drawing/2014/main" id="{1EACA63E-7214-4A9A-8766-296AE0B8D52B}"/>
              </a:ext>
            </a:extLst>
          </p:cNvPr>
          <p:cNvSpPr>
            <a:spLocks noGrp="1"/>
          </p:cNvSpPr>
          <p:nvPr/>
        </p:nvSpPr>
        <p:spPr>
          <a:xfrm>
            <a:off x="4587670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sp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i="0" u="non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sz="900">
                <a:solidFill>
                  <a:srgbClr val="000000"/>
                </a:solidFill>
                <a:latin typeface="Roboto"/>
                <a:ea typeface="Roboto"/>
                <a:cs typeface="Roboto"/>
              </a:rPr>
              <a:t> </a:t>
            </a:r>
            <a:r>
              <a:rPr sz="900" i="0" u="non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их типов данных, соглашений </a:t>
            </a:r>
          </a:p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i="0" u="non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об именовании и правил проверки целостностей </a:t>
            </a:r>
          </a:p>
        </p:txBody>
      </p:sp>
      <p:sp>
        <p:nvSpPr>
          <p:cNvPr id="88" name="Google Shape;88;p19">
            <a:extLst>
              <a:ext uri="{FF2B5EF4-FFF2-40B4-BE49-F238E27FC236}">
                <a16:creationId xmlns:a16="http://schemas.microsoft.com/office/drawing/2014/main" id="{27AFAB70-100E-4F9F-BB97-543099BD2DAA}"/>
              </a:ext>
            </a:extLst>
          </p:cNvPr>
          <p:cNvSpPr>
            <a:spLocks noGrp="1"/>
          </p:cNvSpPr>
          <p:nvPr/>
        </p:nvSpPr>
        <p:spPr>
          <a:xfrm>
            <a:off x="640705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sp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i="0" u="non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sz="900">
                <a:solidFill>
                  <a:srgbClr val="000000"/>
                </a:solidFill>
                <a:latin typeface="Roboto"/>
                <a:ea typeface="Roboto"/>
                <a:cs typeface="Roboto"/>
              </a:rPr>
              <a:t> </a:t>
            </a:r>
            <a:r>
              <a:rPr sz="900" i="0" u="non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их типов данных, соглашений </a:t>
            </a:r>
          </a:p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i="0" u="non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об именовании и правил проверки целостностей 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писок в 2 колонки ">
  <p:cSld name="CUSTOM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>
            <a:extLst>
              <a:ext uri="{FF2B5EF4-FFF2-40B4-BE49-F238E27FC236}">
                <a16:creationId xmlns:a16="http://schemas.microsoft.com/office/drawing/2014/main" id="{DCF99D06-5F3F-4197-910F-8E8C9E0DC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graphicFrame>
        <p:nvGraphicFramePr>
          <p:cNvPr id="91" name="Google Shape;91;p20"/>
          <p:cNvGraphicFramePr/>
          <p:nvPr/>
        </p:nvGraphicFramePr>
        <p:xfrm>
          <a:off x="655650" y="1745800"/>
          <a:ext cx="3000000" cy="3000000"/>
        </p:xfrm>
        <a:graphic>
          <a:graphicData uri="http://schemas.openxmlformats.org/drawingml/2006/table">
            <a:tbl>
              <a:tblPr>
                <a:tableStyleId>{725C0336-903C-4461-808E-CB701BA6F4ED}</a:tableStyleId>
              </a:tblPr>
              <a:tblGrid>
                <a:gridCol w="38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91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1. Описание эксперимента</a:t>
                      </a:r>
                      <a:r>
                        <a:rPr sz="1700" b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</a:t>
                      </a:r>
                    </a:p>
                  </a:txBody>
                  <a:tcPr marL="91425" marR="91425" marT="91425" marB="91425">
                    <a:lnL w="9525" cmpd="sng">
                      <a:solidFill>
                        <a:srgbClr val="FFFFFF"/>
                      </a:solidFill>
                      <a:prstDash val="solid"/>
                    </a:lnL>
                    <a:lnR w="9525" cmpd="sng">
                      <a:solidFill>
                        <a:srgbClr val="FFFFFF"/>
                      </a:solidFill>
                      <a:prstDash val="solid"/>
                    </a:lnR>
                    <a:lnT w="9525" cmpd="sng">
                      <a:solidFill>
                        <a:srgbClr val="FFFFFF"/>
                      </a:solidFill>
                      <a:prstDash val="solid"/>
                    </a:lnT>
                    <a:lnB w="9525" cmpd="sng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2. Технические детали</a:t>
                      </a:r>
                    </a:p>
                  </a:txBody>
                  <a:tcPr marL="91425" marR="91425" marT="91425" marB="91425">
                    <a:lnL w="9525" cmpd="sng">
                      <a:solidFill>
                        <a:srgbClr val="FFFFFF"/>
                      </a:solidFill>
                      <a:prstDash val="solid"/>
                    </a:lnL>
                    <a:lnR w="9525" cmpd="sng">
                      <a:solidFill>
                        <a:srgbClr val="FFFFFF"/>
                      </a:solidFill>
                      <a:prstDash val="solid"/>
                    </a:lnR>
                    <a:lnT w="9525" cmpd="sng">
                      <a:solidFill>
                        <a:srgbClr val="FFFFFF"/>
                      </a:solidFill>
                      <a:prstDash val="solid"/>
                    </a:lnT>
                    <a:lnB w="9525" cmpd="sng">
                      <a:solidFill>
                        <a:srgbClr val="FFFFF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175">
                <a:tc>
                  <a:txBody>
                    <a:bodyPr/>
                    <a:lstStyle/>
                    <a:p>
                      <a:pPr marL="457200" indent="-323850" algn="l">
                        <a:lnSpc>
                          <a:spcPct val="115000"/>
                        </a:lnSpc>
                        <a:buChar char="●"/>
                      </a:pPr>
                      <a:r>
                        <a:rPr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  Гипотеза</a:t>
                      </a:r>
                    </a:p>
                    <a:p>
                      <a:pPr marL="457200" indent="-323850" algn="l">
                        <a:lnSpc>
                          <a:spcPct val="115000"/>
                        </a:lnSpc>
                        <a:buChar char="●"/>
                      </a:pPr>
                      <a:r>
                        <a:rPr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  Целевая аудитория</a:t>
                      </a:r>
                    </a:p>
                    <a:p>
                      <a:pPr marL="457200" indent="-323850" algn="l">
                        <a:lnSpc>
                          <a:spcPct val="115000"/>
                        </a:lnSpc>
                        <a:buChar char="●"/>
                      </a:pPr>
                      <a:r>
                        <a:rPr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  Ожидаемый результат</a:t>
                      </a:r>
                    </a:p>
                  </a:txBody>
                  <a:tcPr marL="91425" marR="91425" marT="91425" marB="91425">
                    <a:lnL w="9525" cmpd="sng">
                      <a:solidFill>
                        <a:srgbClr val="FFFFFF"/>
                      </a:solidFill>
                      <a:prstDash val="solid"/>
                    </a:lnL>
                    <a:lnR w="9525" cmpd="sng">
                      <a:solidFill>
                        <a:srgbClr val="FFFFFF"/>
                      </a:solidFill>
                      <a:prstDash val="solid"/>
                    </a:lnR>
                    <a:lnT w="9525" cmpd="sng">
                      <a:solidFill>
                        <a:srgbClr val="FFFFFF"/>
                      </a:solidFill>
                      <a:prstDash val="solid"/>
                    </a:lnT>
                    <a:lnB w="9525" cmpd="sng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57200" indent="-317500" algn="l">
                        <a:lnSpc>
                          <a:spcPct val="115000"/>
                        </a:lnSpc>
                        <a:buChar char="●"/>
                      </a:pPr>
                      <a:r>
                        <a:rPr sz="17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</a:t>
                      </a:r>
                      <a:r>
                        <a:rPr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Реализация</a:t>
                      </a:r>
                    </a:p>
                    <a:p>
                      <a:pPr marL="457200" indent="-323850" algn="l">
                        <a:lnSpc>
                          <a:spcPct val="115000"/>
                        </a:lnSpc>
                        <a:buChar char="●"/>
                      </a:pPr>
                      <a:r>
                        <a:rPr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Настройки</a:t>
                      </a:r>
                    </a:p>
                    <a:p>
                      <a:pPr marL="457200" indent="-323850" algn="l">
                        <a:lnSpc>
                          <a:spcPct val="115000"/>
                        </a:lnSpc>
                        <a:buChar char="●"/>
                      </a:pPr>
                      <a:r>
                        <a:rPr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Метрики</a:t>
                      </a:r>
                    </a:p>
                  </a:txBody>
                  <a:tcPr marL="91425" marR="91425" marT="91425" marB="91425">
                    <a:lnL w="9525" cmpd="sng">
                      <a:solidFill>
                        <a:srgbClr val="FFFFFF"/>
                      </a:solidFill>
                      <a:prstDash val="solid"/>
                    </a:lnL>
                    <a:lnR w="9525" cmpd="sng">
                      <a:solidFill>
                        <a:srgbClr val="FFFFFF"/>
                      </a:solidFill>
                      <a:prstDash val="solid"/>
                    </a:lnR>
                    <a:lnT w="9525" cmpd="sng">
                      <a:solidFill>
                        <a:srgbClr val="FFFFFF"/>
                      </a:solidFill>
                      <a:prstDash val="solid"/>
                    </a:lnT>
                    <a:lnB w="9525" cmpd="sng">
                      <a:solidFill>
                        <a:srgbClr val="FFFFF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сылка на источник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>
            <a:extLst>
              <a:ext uri="{FF2B5EF4-FFF2-40B4-BE49-F238E27FC236}">
                <a16:creationId xmlns:a16="http://schemas.microsoft.com/office/drawing/2014/main" id="{8E3B196F-800D-46CB-AC1C-714F4D36BD9E}"/>
              </a:ext>
            </a:extLst>
          </p:cNvPr>
          <p:cNvSpPr>
            <a:spLocks noGrp="1"/>
          </p:cNvSpPr>
          <p:nvPr/>
        </p:nvSpPr>
        <p:spPr>
          <a:xfrm>
            <a:off x="556300" y="4554000"/>
            <a:ext cx="423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Roboto"/>
                <a:ea typeface="Roboto"/>
                <a:cs typeface="Roboto"/>
              </a:rPr>
              <a:t>добавьте ссылку на источник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подтемой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2">
            <a:extLst>
              <a:ext uri="{FF2B5EF4-FFF2-40B4-BE49-F238E27FC236}">
                <a16:creationId xmlns:a16="http://schemas.microsoft.com/office/drawing/2014/main" id="{4D88909E-0B2C-4A43-92CE-6CB8129A8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sp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46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50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50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50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50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50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50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50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аблица ">
  <p:cSld name="CUSTOM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3">
            <a:extLst>
              <a:ext uri="{FF2B5EF4-FFF2-40B4-BE49-F238E27FC236}">
                <a16:creationId xmlns:a16="http://schemas.microsoft.com/office/drawing/2014/main" id="{BE1A80BD-1AE2-47FB-AD0E-E0E9ABFEB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graphicFrame>
        <p:nvGraphicFramePr>
          <p:cNvPr id="98" name="Google Shape;98;p23"/>
          <p:cNvGraphicFramePr/>
          <p:nvPr/>
        </p:nvGraphicFramePr>
        <p:xfrm>
          <a:off x="608700" y="1593650"/>
          <a:ext cx="3000000" cy="3000000"/>
        </p:xfrm>
        <a:graphic>
          <a:graphicData uri="http://schemas.openxmlformats.org/drawingml/2006/table">
            <a:tbl>
              <a:tblPr>
                <a:tableStyleId>{725C0336-903C-4461-808E-CB701BA6F4ED}</a:tableStyleId>
              </a:tblPr>
              <a:tblGrid>
                <a:gridCol w="39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4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7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61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mpd="sng">
                      <a:solidFill>
                        <a:srgbClr val="D9D9D9"/>
                      </a:solidFill>
                      <a:prstDash val="solid"/>
                    </a:lnL>
                    <a:lnR w="9525" cmpd="sng">
                      <a:solidFill>
                        <a:srgbClr val="D9D9D9"/>
                      </a:solidFill>
                      <a:prstDash val="solid"/>
                    </a:lnR>
                    <a:lnT w="9525" cmpd="sng">
                      <a:solidFill>
                        <a:srgbClr val="D9D9D9"/>
                      </a:solidFill>
                      <a:prstDash val="solid"/>
                    </a:lnT>
                    <a:lnB w="9525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Название столбца</a:t>
                      </a:r>
                    </a:p>
                  </a:txBody>
                  <a:tcPr marL="91425" marR="91425" marT="91425" marB="91425" anchor="ctr">
                    <a:lnL w="9525" cmpd="sng">
                      <a:solidFill>
                        <a:srgbClr val="D9D9D9"/>
                      </a:solidFill>
                      <a:prstDash val="solid"/>
                    </a:lnL>
                    <a:lnR w="9525" cmpd="sng">
                      <a:solidFill>
                        <a:srgbClr val="D9D9D9"/>
                      </a:solidFill>
                      <a:prstDash val="solid"/>
                    </a:lnR>
                    <a:lnT w="9525" cmpd="sng">
                      <a:solidFill>
                        <a:srgbClr val="D9D9D9"/>
                      </a:solidFill>
                      <a:prstDash val="solid"/>
                    </a:lnT>
                    <a:lnB w="9525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Название столбца</a:t>
                      </a:r>
                    </a:p>
                  </a:txBody>
                  <a:tcPr marL="91425" marR="91425" marT="91425" marB="91425" anchor="ctr">
                    <a:lnL w="9525" cmpd="sng">
                      <a:solidFill>
                        <a:srgbClr val="D9D9D9"/>
                      </a:solidFill>
                      <a:prstDash val="solid"/>
                    </a:lnL>
                    <a:lnR w="9525" cmpd="sng">
                      <a:solidFill>
                        <a:srgbClr val="D9D9D9"/>
                      </a:solidFill>
                      <a:prstDash val="solid"/>
                    </a:lnR>
                    <a:lnT w="9525" cmpd="sng">
                      <a:solidFill>
                        <a:srgbClr val="D9D9D9"/>
                      </a:solidFill>
                      <a:prstDash val="solid"/>
                    </a:lnT>
                    <a:lnB w="9525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Название столбца</a:t>
                      </a:r>
                    </a:p>
                  </a:txBody>
                  <a:tcPr marL="91425" marR="91425" marT="91425" marB="91425" anchor="ctr">
                    <a:lnL w="9525" cmpd="sng">
                      <a:solidFill>
                        <a:srgbClr val="D9D9D9"/>
                      </a:solidFill>
                      <a:prstDash val="solid"/>
                    </a:lnL>
                    <a:lnR w="9525" cmpd="sng">
                      <a:solidFill>
                        <a:srgbClr val="D9D9D9"/>
                      </a:solidFill>
                      <a:prstDash val="solid"/>
                    </a:lnR>
                    <a:lnT w="9525" cmpd="sng">
                      <a:solidFill>
                        <a:srgbClr val="D9D9D9"/>
                      </a:solidFill>
                      <a:prstDash val="solid"/>
                    </a:lnT>
                    <a:lnB w="9525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1.</a:t>
                      </a:r>
                    </a:p>
                  </a:txBody>
                  <a:tcPr marL="91425" marR="91425" marT="91425" marB="91425">
                    <a:lnL w="9525" cmpd="sng">
                      <a:solidFill>
                        <a:srgbClr val="D9D9D9"/>
                      </a:solidFill>
                      <a:prstDash val="solid"/>
                    </a:lnL>
                    <a:lnR w="9525" cmpd="sng">
                      <a:solidFill>
                        <a:srgbClr val="D9D9D9"/>
                      </a:solidFill>
                      <a:prstDash val="solid"/>
                    </a:lnR>
                    <a:lnT w="9525" cmpd="sng">
                      <a:solidFill>
                        <a:srgbClr val="D9D9D9"/>
                      </a:solidFill>
                      <a:prstDash val="solid"/>
                    </a:lnT>
                    <a:lnB w="9525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Текст нежирным шрифтом</a:t>
                      </a:r>
                    </a:p>
                  </a:txBody>
                  <a:tcPr marL="91425" marR="91425" marT="91425" marB="91425">
                    <a:lnL w="9525" cmpd="sng">
                      <a:solidFill>
                        <a:srgbClr val="D9D9D9"/>
                      </a:solidFill>
                      <a:prstDash val="solid"/>
                    </a:lnL>
                    <a:lnR w="9525" cmpd="sng">
                      <a:solidFill>
                        <a:srgbClr val="D9D9D9"/>
                      </a:solidFill>
                      <a:prstDash val="solid"/>
                    </a:lnR>
                    <a:lnT w="9525" cmpd="sng">
                      <a:solidFill>
                        <a:srgbClr val="D9D9D9"/>
                      </a:solidFill>
                      <a:prstDash val="solid"/>
                    </a:lnT>
                    <a:lnB w="9525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Текст нежирным шрифтом</a:t>
                      </a:r>
                    </a:p>
                  </a:txBody>
                  <a:tcPr marL="91425" marR="91425" marT="91425" marB="91425">
                    <a:lnL w="9525" cmpd="sng">
                      <a:solidFill>
                        <a:srgbClr val="D9D9D9"/>
                      </a:solidFill>
                      <a:prstDash val="solid"/>
                    </a:lnL>
                    <a:lnR w="9525" cmpd="sng">
                      <a:solidFill>
                        <a:srgbClr val="D9D9D9"/>
                      </a:solidFill>
                      <a:prstDash val="solid"/>
                    </a:lnR>
                    <a:lnT w="9525" cmpd="sng">
                      <a:solidFill>
                        <a:srgbClr val="D9D9D9"/>
                      </a:solidFill>
                      <a:prstDash val="solid"/>
                    </a:lnT>
                    <a:lnB w="9525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Текст нежирным шрифтом</a:t>
                      </a:r>
                    </a:p>
                  </a:txBody>
                  <a:tcPr marL="91425" marR="91425" marT="91425" marB="91425">
                    <a:lnL w="9525" cmpd="sng">
                      <a:solidFill>
                        <a:srgbClr val="D9D9D9"/>
                      </a:solidFill>
                      <a:prstDash val="solid"/>
                    </a:lnL>
                    <a:lnR w="9525" cmpd="sng">
                      <a:solidFill>
                        <a:srgbClr val="D9D9D9"/>
                      </a:solidFill>
                      <a:prstDash val="solid"/>
                    </a:lnR>
                    <a:lnT w="9525" cmpd="sng">
                      <a:solidFill>
                        <a:srgbClr val="D9D9D9"/>
                      </a:solidFill>
                      <a:prstDash val="solid"/>
                    </a:lnT>
                    <a:lnB w="9525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2.</a:t>
                      </a:r>
                    </a:p>
                  </a:txBody>
                  <a:tcPr marL="91425" marR="91425" marT="91425" marB="91425">
                    <a:lnL w="9525" cmpd="sng">
                      <a:solidFill>
                        <a:srgbClr val="D9D9D9"/>
                      </a:solidFill>
                      <a:prstDash val="solid"/>
                    </a:lnL>
                    <a:lnR w="9525" cmpd="sng">
                      <a:solidFill>
                        <a:srgbClr val="D9D9D9"/>
                      </a:solidFill>
                      <a:prstDash val="solid"/>
                    </a:lnR>
                    <a:lnT w="9525" cmpd="sng">
                      <a:solidFill>
                        <a:srgbClr val="D9D9D9"/>
                      </a:solidFill>
                      <a:prstDash val="solid"/>
                    </a:lnT>
                    <a:lnB w="9525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D9D9D9"/>
                      </a:solidFill>
                      <a:prstDash val="solid"/>
                    </a:lnL>
                    <a:lnR w="9525" cmpd="sng">
                      <a:solidFill>
                        <a:srgbClr val="D9D9D9"/>
                      </a:solidFill>
                      <a:prstDash val="solid"/>
                    </a:lnR>
                    <a:lnT w="9525" cmpd="sng">
                      <a:solidFill>
                        <a:srgbClr val="D9D9D9"/>
                      </a:solidFill>
                      <a:prstDash val="solid"/>
                    </a:lnT>
                    <a:lnB w="9525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D9D9D9"/>
                      </a:solidFill>
                      <a:prstDash val="solid"/>
                    </a:lnL>
                    <a:lnR w="9525" cmpd="sng">
                      <a:solidFill>
                        <a:srgbClr val="D9D9D9"/>
                      </a:solidFill>
                      <a:prstDash val="solid"/>
                    </a:lnR>
                    <a:lnT w="9525" cmpd="sng">
                      <a:solidFill>
                        <a:srgbClr val="D9D9D9"/>
                      </a:solidFill>
                      <a:prstDash val="solid"/>
                    </a:lnT>
                    <a:lnB w="9525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D9D9D9"/>
                      </a:solidFill>
                      <a:prstDash val="solid"/>
                    </a:lnL>
                    <a:lnR w="9525" cmpd="sng">
                      <a:solidFill>
                        <a:srgbClr val="D9D9D9"/>
                      </a:solidFill>
                      <a:prstDash val="solid"/>
                    </a:lnR>
                    <a:lnT w="9525" cmpd="sng">
                      <a:solidFill>
                        <a:srgbClr val="D9D9D9"/>
                      </a:solidFill>
                      <a:prstDash val="solid"/>
                    </a:lnT>
                    <a:lnB w="9525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3.</a:t>
                      </a:r>
                    </a:p>
                  </a:txBody>
                  <a:tcPr marL="91425" marR="91425" marT="91425" marB="91425">
                    <a:lnL w="9525" cmpd="sng">
                      <a:solidFill>
                        <a:srgbClr val="D9D9D9"/>
                      </a:solidFill>
                      <a:prstDash val="solid"/>
                    </a:lnL>
                    <a:lnR w="9525" cmpd="sng">
                      <a:solidFill>
                        <a:srgbClr val="D9D9D9"/>
                      </a:solidFill>
                      <a:prstDash val="solid"/>
                    </a:lnR>
                    <a:lnT w="9525" cmpd="sng">
                      <a:solidFill>
                        <a:srgbClr val="D9D9D9"/>
                      </a:solidFill>
                      <a:prstDash val="solid"/>
                    </a:lnT>
                    <a:lnB w="9525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D9D9D9"/>
                      </a:solidFill>
                      <a:prstDash val="solid"/>
                    </a:lnL>
                    <a:lnR w="9525" cmpd="sng">
                      <a:solidFill>
                        <a:srgbClr val="D9D9D9"/>
                      </a:solidFill>
                      <a:prstDash val="solid"/>
                    </a:lnR>
                    <a:lnT w="9525" cmpd="sng">
                      <a:solidFill>
                        <a:srgbClr val="D9D9D9"/>
                      </a:solidFill>
                      <a:prstDash val="solid"/>
                    </a:lnT>
                    <a:lnB w="9525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D9D9D9"/>
                      </a:solidFill>
                      <a:prstDash val="solid"/>
                    </a:lnL>
                    <a:lnR w="9525" cmpd="sng">
                      <a:solidFill>
                        <a:srgbClr val="D9D9D9"/>
                      </a:solidFill>
                      <a:prstDash val="solid"/>
                    </a:lnR>
                    <a:lnT w="9525" cmpd="sng">
                      <a:solidFill>
                        <a:srgbClr val="D9D9D9"/>
                      </a:solidFill>
                      <a:prstDash val="solid"/>
                    </a:lnT>
                    <a:lnB w="9525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D9D9D9"/>
                      </a:solidFill>
                      <a:prstDash val="solid"/>
                    </a:lnL>
                    <a:lnR w="9525" cmpd="sng">
                      <a:solidFill>
                        <a:srgbClr val="D9D9D9"/>
                      </a:solidFill>
                      <a:prstDash val="solid"/>
                    </a:lnR>
                    <a:lnT w="9525" cmpd="sng">
                      <a:solidFill>
                        <a:srgbClr val="D9D9D9"/>
                      </a:solidFill>
                      <a:prstDash val="solid"/>
                    </a:lnT>
                    <a:lnB w="9525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4.</a:t>
                      </a:r>
                    </a:p>
                  </a:txBody>
                  <a:tcPr marL="91425" marR="91425" marT="91425" marB="91425">
                    <a:lnL w="9525" cmpd="sng">
                      <a:solidFill>
                        <a:srgbClr val="D9D9D9"/>
                      </a:solidFill>
                      <a:prstDash val="solid"/>
                    </a:lnL>
                    <a:lnR w="9525" cmpd="sng">
                      <a:solidFill>
                        <a:srgbClr val="D9D9D9"/>
                      </a:solidFill>
                      <a:prstDash val="solid"/>
                    </a:lnR>
                    <a:lnT w="9525" cmpd="sng">
                      <a:solidFill>
                        <a:srgbClr val="D9D9D9"/>
                      </a:solidFill>
                      <a:prstDash val="solid"/>
                    </a:lnT>
                    <a:lnB w="9525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D9D9D9"/>
                      </a:solidFill>
                      <a:prstDash val="solid"/>
                    </a:lnL>
                    <a:lnR w="9525" cmpd="sng">
                      <a:solidFill>
                        <a:srgbClr val="D9D9D9"/>
                      </a:solidFill>
                      <a:prstDash val="solid"/>
                    </a:lnR>
                    <a:lnT w="9525" cmpd="sng">
                      <a:solidFill>
                        <a:srgbClr val="D9D9D9"/>
                      </a:solidFill>
                      <a:prstDash val="solid"/>
                    </a:lnT>
                    <a:lnB w="9525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D9D9D9"/>
                      </a:solidFill>
                      <a:prstDash val="solid"/>
                    </a:lnL>
                    <a:lnR w="9525" cmpd="sng">
                      <a:solidFill>
                        <a:srgbClr val="D9D9D9"/>
                      </a:solidFill>
                      <a:prstDash val="solid"/>
                    </a:lnR>
                    <a:lnT w="9525" cmpd="sng">
                      <a:solidFill>
                        <a:srgbClr val="D9D9D9"/>
                      </a:solidFill>
                      <a:prstDash val="solid"/>
                    </a:lnT>
                    <a:lnB w="9525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D9D9D9"/>
                      </a:solidFill>
                      <a:prstDash val="solid"/>
                    </a:lnL>
                    <a:lnR w="9525" cmpd="sng">
                      <a:solidFill>
                        <a:srgbClr val="D9D9D9"/>
                      </a:solidFill>
                      <a:prstDash val="solid"/>
                    </a:lnR>
                    <a:lnT w="9525" cmpd="sng">
                      <a:solidFill>
                        <a:srgbClr val="D9D9D9"/>
                      </a:solidFill>
                      <a:prstDash val="solid"/>
                    </a:lnT>
                    <a:lnB w="9525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5.</a:t>
                      </a:r>
                    </a:p>
                  </a:txBody>
                  <a:tcPr marL="91425" marR="91425" marT="91425" marB="91425">
                    <a:lnL w="9525" cmpd="sng">
                      <a:solidFill>
                        <a:srgbClr val="D9D9D9"/>
                      </a:solidFill>
                      <a:prstDash val="solid"/>
                    </a:lnL>
                    <a:lnR w="9525" cmpd="sng">
                      <a:solidFill>
                        <a:srgbClr val="D9D9D9"/>
                      </a:solidFill>
                      <a:prstDash val="solid"/>
                    </a:lnR>
                    <a:lnT w="9525" cmpd="sng">
                      <a:solidFill>
                        <a:srgbClr val="D9D9D9"/>
                      </a:solidFill>
                      <a:prstDash val="solid"/>
                    </a:lnT>
                    <a:lnB w="9525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D9D9D9"/>
                      </a:solidFill>
                      <a:prstDash val="solid"/>
                    </a:lnL>
                    <a:lnR w="9525" cmpd="sng">
                      <a:solidFill>
                        <a:srgbClr val="D9D9D9"/>
                      </a:solidFill>
                      <a:prstDash val="solid"/>
                    </a:lnR>
                    <a:lnT w="9525" cmpd="sng">
                      <a:solidFill>
                        <a:srgbClr val="D9D9D9"/>
                      </a:solidFill>
                      <a:prstDash val="solid"/>
                    </a:lnT>
                    <a:lnB w="9525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D9D9D9"/>
                      </a:solidFill>
                      <a:prstDash val="solid"/>
                    </a:lnL>
                    <a:lnR w="9525" cmpd="sng">
                      <a:solidFill>
                        <a:srgbClr val="D9D9D9"/>
                      </a:solidFill>
                      <a:prstDash val="solid"/>
                    </a:lnR>
                    <a:lnT w="9525" cmpd="sng">
                      <a:solidFill>
                        <a:srgbClr val="D9D9D9"/>
                      </a:solidFill>
                      <a:prstDash val="solid"/>
                    </a:lnT>
                    <a:lnB w="9525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D9D9D9"/>
                      </a:solidFill>
                      <a:prstDash val="solid"/>
                    </a:lnL>
                    <a:lnR w="9525" cmpd="sng">
                      <a:solidFill>
                        <a:srgbClr val="D9D9D9"/>
                      </a:solidFill>
                      <a:prstDash val="solid"/>
                    </a:lnR>
                    <a:lnT w="9525" cmpd="sng">
                      <a:solidFill>
                        <a:srgbClr val="D9D9D9"/>
                      </a:solidFill>
                      <a:prstDash val="solid"/>
                    </a:lnT>
                    <a:lnB w="9525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плашки + иллюстрация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>
            <a:extLst>
              <a:ext uri="{FF2B5EF4-FFF2-40B4-BE49-F238E27FC236}">
                <a16:creationId xmlns:a16="http://schemas.microsoft.com/office/drawing/2014/main" id="{500CFB78-1C09-4569-BC54-F552B7068DA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01" name="Google Shape;101;p24">
            <a:extLst>
              <a:ext uri="{FF2B5EF4-FFF2-40B4-BE49-F238E27FC236}">
                <a16:creationId xmlns:a16="http://schemas.microsoft.com/office/drawing/2014/main" id="{4B8D7EDA-F464-46FA-B9D9-A195063C7BDA}"/>
              </a:ext>
            </a:extLst>
          </p:cNvPr>
          <p:cNvSpPr>
            <a:spLocks noGrp="1"/>
          </p:cNvSpPr>
          <p:nvPr/>
        </p:nvSpPr>
        <p:spPr>
          <a:xfrm>
            <a:off x="791625" y="1039150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4">
            <a:extLst>
              <a:ext uri="{FF2B5EF4-FFF2-40B4-BE49-F238E27FC236}">
                <a16:creationId xmlns:a16="http://schemas.microsoft.com/office/drawing/2014/main" id="{37AD8AC4-732C-48B1-8913-0D2911233461}"/>
              </a:ext>
            </a:extLst>
          </p:cNvPr>
          <p:cNvSpPr>
            <a:spLocks noGrp="1"/>
          </p:cNvSpPr>
          <p:nvPr/>
        </p:nvSpPr>
        <p:spPr>
          <a:xfrm>
            <a:off x="791625" y="1904882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24">
            <a:extLst>
              <a:ext uri="{FF2B5EF4-FFF2-40B4-BE49-F238E27FC236}">
                <a16:creationId xmlns:a16="http://schemas.microsoft.com/office/drawing/2014/main" id="{4DC0520F-362E-4AC7-ADCB-F903EF03E303}"/>
              </a:ext>
            </a:extLst>
          </p:cNvPr>
          <p:cNvSpPr>
            <a:spLocks noGrp="1"/>
          </p:cNvSpPr>
          <p:nvPr/>
        </p:nvSpPr>
        <p:spPr>
          <a:xfrm>
            <a:off x="791625" y="2770607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24">
            <a:extLst>
              <a:ext uri="{FF2B5EF4-FFF2-40B4-BE49-F238E27FC236}">
                <a16:creationId xmlns:a16="http://schemas.microsoft.com/office/drawing/2014/main" id="{70055C9B-0CE8-4F3C-96E8-9A9B1F6B68A7}"/>
              </a:ext>
            </a:extLst>
          </p:cNvPr>
          <p:cNvSpPr>
            <a:spLocks noGrp="1"/>
          </p:cNvSpPr>
          <p:nvPr/>
        </p:nvSpPr>
        <p:spPr>
          <a:xfrm>
            <a:off x="791625" y="3636339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5" name="Google Shape;105;p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3900" y="1409075"/>
            <a:ext cx="2468700" cy="2468700"/>
          </a:xfrm>
          <a:prstGeom prst="round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>
            <a:extLst>
              <a:ext uri="{FF2B5EF4-FFF2-40B4-BE49-F238E27FC236}">
                <a16:creationId xmlns:a16="http://schemas.microsoft.com/office/drawing/2014/main" id="{16652086-0201-4C82-8F54-A8838D6DE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блока">
  <p:cSld name="CUSTOM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>
            <a:extLst>
              <a:ext uri="{FF2B5EF4-FFF2-40B4-BE49-F238E27FC236}">
                <a16:creationId xmlns:a16="http://schemas.microsoft.com/office/drawing/2014/main" id="{D2E6D756-491C-497E-8E50-466C84944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6">
            <a:extLst>
              <a:ext uri="{FF2B5EF4-FFF2-40B4-BE49-F238E27FC236}">
                <a16:creationId xmlns:a16="http://schemas.microsoft.com/office/drawing/2014/main" id="{473C12E3-FB83-4C48-857E-0DFCBD104A46}"/>
              </a:ext>
            </a:extLst>
          </p:cNvPr>
          <p:cNvSpPr>
            <a:spLocks noGrp="1"/>
          </p:cNvSpPr>
          <p:nvPr/>
        </p:nvSpPr>
        <p:spPr>
          <a:xfrm>
            <a:off x="932713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26">
            <a:extLst>
              <a:ext uri="{FF2B5EF4-FFF2-40B4-BE49-F238E27FC236}">
                <a16:creationId xmlns:a16="http://schemas.microsoft.com/office/drawing/2014/main" id="{7C56E65F-6652-4B68-842D-437001F6A46B}"/>
              </a:ext>
            </a:extLst>
          </p:cNvPr>
          <p:cNvSpPr>
            <a:spLocks noGrp="1"/>
          </p:cNvSpPr>
          <p:nvPr/>
        </p:nvSpPr>
        <p:spPr>
          <a:xfrm>
            <a:off x="3436420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26">
            <a:extLst>
              <a:ext uri="{FF2B5EF4-FFF2-40B4-BE49-F238E27FC236}">
                <a16:creationId xmlns:a16="http://schemas.microsoft.com/office/drawing/2014/main" id="{3F9153FE-DE44-41FE-BF82-F2F869DA6861}"/>
              </a:ext>
            </a:extLst>
          </p:cNvPr>
          <p:cNvSpPr>
            <a:spLocks noGrp="1"/>
          </p:cNvSpPr>
          <p:nvPr/>
        </p:nvSpPr>
        <p:spPr>
          <a:xfrm>
            <a:off x="5940127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26">
            <a:extLst>
              <a:ext uri="{FF2B5EF4-FFF2-40B4-BE49-F238E27FC236}">
                <a16:creationId xmlns:a16="http://schemas.microsoft.com/office/drawing/2014/main" id="{FE6D3D08-553D-41CD-BE82-3177C17B1DE5}"/>
              </a:ext>
            </a:extLst>
          </p:cNvPr>
          <p:cNvSpPr>
            <a:spLocks noGrp="1"/>
          </p:cNvSpPr>
          <p:nvPr/>
        </p:nvSpPr>
        <p:spPr>
          <a:xfrm>
            <a:off x="1073575" y="2074863"/>
            <a:ext cx="1846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sp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  <a:latin typeface="Roboto"/>
                <a:ea typeface="Roboto"/>
                <a:cs typeface="Roboto"/>
              </a:rPr>
              <a:t>Поле для текста</a:t>
            </a:r>
          </a:p>
        </p:txBody>
      </p:sp>
      <p:sp>
        <p:nvSpPr>
          <p:cNvPr id="114" name="Google Shape;114;p26">
            <a:extLst>
              <a:ext uri="{FF2B5EF4-FFF2-40B4-BE49-F238E27FC236}">
                <a16:creationId xmlns:a16="http://schemas.microsoft.com/office/drawing/2014/main" id="{9F71811B-35A7-4371-BE75-1D321D322235}"/>
              </a:ext>
            </a:extLst>
          </p:cNvPr>
          <p:cNvSpPr>
            <a:spLocks noGrp="1"/>
          </p:cNvSpPr>
          <p:nvPr/>
        </p:nvSpPr>
        <p:spPr>
          <a:xfrm>
            <a:off x="3530920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sp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  <a:latin typeface="Roboto"/>
                <a:ea typeface="Roboto"/>
                <a:cs typeface="Roboto"/>
              </a:rPr>
              <a:t>Поле для текста</a:t>
            </a:r>
          </a:p>
        </p:txBody>
      </p:sp>
      <p:sp>
        <p:nvSpPr>
          <p:cNvPr id="115" name="Google Shape;115;p26">
            <a:extLst>
              <a:ext uri="{FF2B5EF4-FFF2-40B4-BE49-F238E27FC236}">
                <a16:creationId xmlns:a16="http://schemas.microsoft.com/office/drawing/2014/main" id="{2D1BAD1D-7862-4EEB-A643-7134414676F2}"/>
              </a:ext>
            </a:extLst>
          </p:cNvPr>
          <p:cNvSpPr>
            <a:spLocks noGrp="1"/>
          </p:cNvSpPr>
          <p:nvPr/>
        </p:nvSpPr>
        <p:spPr>
          <a:xfrm>
            <a:off x="6080975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sp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  <a:latin typeface="Roboto"/>
                <a:ea typeface="Roboto"/>
                <a:cs typeface="Roboto"/>
              </a:rPr>
              <a:t>Поле для текста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жный тезис крупным шрифтом 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8">
            <a:extLst>
              <a:ext uri="{FF2B5EF4-FFF2-40B4-BE49-F238E27FC236}">
                <a16:creationId xmlns:a16="http://schemas.microsoft.com/office/drawing/2014/main" id="{F64DEC4E-68B2-4CDB-8E57-B12D16E3F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sp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>
            <a:endParaRPr/>
          </a:p>
        </p:txBody>
      </p:sp>
      <p:sp>
        <p:nvSpPr>
          <p:cNvPr id="122" name="Google Shape;122;p28">
            <a:extLst>
              <a:ext uri="{FF2B5EF4-FFF2-40B4-BE49-F238E27FC236}">
                <a16:creationId xmlns:a16="http://schemas.microsoft.com/office/drawing/2014/main" id="{23EFC86D-2215-48F4-A1FE-8B03F833686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>
            <a:extLst>
              <a:ext uri="{FF2B5EF4-FFF2-40B4-BE49-F238E27FC236}">
                <a16:creationId xmlns:a16="http://schemas.microsoft.com/office/drawing/2014/main" id="{43352897-2297-4365-97EA-60BBDE315D7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0">
            <a:extLst>
              <a:ext uri="{FF2B5EF4-FFF2-40B4-BE49-F238E27FC236}">
                <a16:creationId xmlns:a16="http://schemas.microsoft.com/office/drawing/2014/main" id="{0D2C9C2E-7C0A-4D2C-B262-5D0DEFBE1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ED79CED7-D53E-42D6-83A3-7F182DE5E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31">
            <a:extLst>
              <a:ext uri="{FF2B5EF4-FFF2-40B4-BE49-F238E27FC236}">
                <a16:creationId xmlns:a16="http://schemas.microsoft.com/office/drawing/2014/main" id="{BED49CF8-C3ED-4568-A5DF-C91377CBDD3D}"/>
              </a:ext>
            </a:extLst>
          </p:cNvPr>
          <p:cNvSpPr>
            <a:spLocks noGrp="1"/>
          </p:cNvSpPr>
          <p:nvPr/>
        </p:nvSpPr>
        <p:spPr>
          <a:xfrm>
            <a:off x="606200" y="1441163"/>
            <a:ext cx="7938600" cy="35649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4D3949D5-282B-4C8E-9A6F-D5807999EC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3675" y="1496071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Courier New"/>
                <a:ea typeface="Courier New"/>
                <a:cs typeface="Courier New"/>
              </a:defRPr>
            </a:lvl1pPr>
            <a:lvl2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2pPr>
            <a:lvl3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3pPr>
            <a:lvl4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4pPr>
            <a:lvl5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5pPr>
            <a:lvl6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6pPr>
            <a:lvl7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7pPr>
            <a:lvl8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8pPr>
            <a:lvl9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подтемой">
  <p:cSld name="MAIN_POIN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2">
            <a:extLst>
              <a:ext uri="{FF2B5EF4-FFF2-40B4-BE49-F238E27FC236}">
                <a16:creationId xmlns:a16="http://schemas.microsoft.com/office/drawing/2014/main" id="{8711F689-9488-4B5E-9AD8-95528F8B5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46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50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50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50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50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50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50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50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 1">
  <p:cSld name="CUSTOM_2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3">
            <a:extLst>
              <a:ext uri="{FF2B5EF4-FFF2-40B4-BE49-F238E27FC236}">
                <a16:creationId xmlns:a16="http://schemas.microsoft.com/office/drawing/2014/main" id="{FC1841C2-4FC1-4A7C-B433-74D9CCB23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33">
            <a:extLst>
              <a:ext uri="{FF2B5EF4-FFF2-40B4-BE49-F238E27FC236}">
                <a16:creationId xmlns:a16="http://schemas.microsoft.com/office/drawing/2014/main" id="{73AADA8C-19B2-4DB5-83EB-486B6D5F784A}"/>
              </a:ext>
            </a:extLst>
          </p:cNvPr>
          <p:cNvSpPr>
            <a:spLocks noGrp="1"/>
          </p:cNvSpPr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33">
            <a:extLst>
              <a:ext uri="{FF2B5EF4-FFF2-40B4-BE49-F238E27FC236}">
                <a16:creationId xmlns:a16="http://schemas.microsoft.com/office/drawing/2014/main" id="{74131B73-2F80-4177-A05C-7CD54429EF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</a:defRPr>
            </a:lvl1pPr>
            <a:lvl2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>
                <a:solidFill>
                  <a:schemeClr val="lt1"/>
                </a:solidFill>
              </a:defRPr>
            </a:lvl2pPr>
            <a:lvl3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>
                <a:solidFill>
                  <a:schemeClr val="lt1"/>
                </a:solidFill>
              </a:defRPr>
            </a:lvl3pPr>
            <a:lvl4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>
                <a:solidFill>
                  <a:schemeClr val="lt1"/>
                </a:solidFill>
              </a:defRPr>
            </a:lvl4pPr>
            <a:lvl5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>
                <a:solidFill>
                  <a:schemeClr val="lt1"/>
                </a:solidFill>
              </a:defRPr>
            </a:lvl5pPr>
            <a:lvl6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>
                <a:solidFill>
                  <a:schemeClr val="lt1"/>
                </a:solidFill>
              </a:defRPr>
            </a:lvl6pPr>
            <a:lvl7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>
                <a:solidFill>
                  <a:schemeClr val="lt1"/>
                </a:solidFill>
              </a:defRPr>
            </a:lvl7pPr>
            <a:lvl8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>
                <a:solidFill>
                  <a:schemeClr val="lt1"/>
                </a:solidFill>
              </a:defRPr>
            </a:lvl8pPr>
            <a:lvl9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 1">
  <p:cSld name="CUSTOM_4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34">
            <a:extLst>
              <a:ext uri="{FF2B5EF4-FFF2-40B4-BE49-F238E27FC236}">
                <a16:creationId xmlns:a16="http://schemas.microsoft.com/office/drawing/2014/main" id="{17D50727-992E-4A33-AF31-A422ED6F7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34">
            <a:extLst>
              <a:ext uri="{FF2B5EF4-FFF2-40B4-BE49-F238E27FC236}">
                <a16:creationId xmlns:a16="http://schemas.microsoft.com/office/drawing/2014/main" id="{E3A30ACC-A003-4C6D-9E44-A7D15FFF17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chemeClr val="dk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40" name="Google Shape;140;p34">
            <a:extLst>
              <a:ext uri="{FF2B5EF4-FFF2-40B4-BE49-F238E27FC236}">
                <a16:creationId xmlns:a16="http://schemas.microsoft.com/office/drawing/2014/main" id="{E5F5E490-E054-4EEB-B26D-7C03F486D088}"/>
              </a:ext>
            </a:extLst>
          </p:cNvPr>
          <p:cNvSpPr>
            <a:spLocks noGrp="1"/>
          </p:cNvSpPr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34">
            <a:extLst>
              <a:ext uri="{FF2B5EF4-FFF2-40B4-BE49-F238E27FC236}">
                <a16:creationId xmlns:a16="http://schemas.microsoft.com/office/drawing/2014/main" id="{ECA21914-9F6D-49F2-A67A-78D7CD16A839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latin typeface="Courier New"/>
                <a:ea typeface="Courier New"/>
                <a:cs typeface="Courier New"/>
              </a:defRPr>
            </a:lvl1pPr>
            <a:lvl2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2pPr>
            <a:lvl3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3pPr>
            <a:lvl4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4pPr>
            <a:lvl5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5pPr>
            <a:lvl6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6pPr>
            <a:lvl7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7pPr>
            <a:lvl8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8pPr>
            <a:lvl9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8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>
            <a:extLst>
              <a:ext uri="{FF2B5EF4-FFF2-40B4-BE49-F238E27FC236}">
                <a16:creationId xmlns:a16="http://schemas.microsoft.com/office/drawing/2014/main" id="{C1F148E8-E26E-43C4-83F8-7AECC328F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9pPr>
          </a:lstStyle>
          <a:p>
            <a:endParaRPr/>
          </a:p>
        </p:txBody>
      </p:sp>
      <p:sp>
        <p:nvSpPr>
          <p:cNvPr id="7" name="Google Shape;7;p1">
            <a:extLst>
              <a:ext uri="{FF2B5EF4-FFF2-40B4-BE49-F238E27FC236}">
                <a16:creationId xmlns:a16="http://schemas.microsoft.com/office/drawing/2014/main" id="{00E03055-4928-4EB6-9AD5-302084C81E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marL="914400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marL="1371600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3pPr>
            <a:lvl4pPr marL="1828800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4pPr>
            <a:lvl5pPr marL="2286000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5pPr>
            <a:lvl6pPr marL="2743200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6pPr>
            <a:lvl7pPr marL="3200400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7pPr>
            <a:lvl8pPr marL="3657600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8pPr>
            <a:lvl9pPr marL="4114800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9pPr>
          </a:lstStyle>
          <a:p>
            <a:endParaRPr/>
          </a:p>
        </p:txBody>
      </p:sp>
      <p:sp>
        <p:nvSpPr>
          <p:cNvPr id="8" name="Google Shape;8;p1">
            <a:extLst>
              <a:ext uri="{FF2B5EF4-FFF2-40B4-BE49-F238E27FC236}">
                <a16:creationId xmlns:a16="http://schemas.microsoft.com/office/drawing/2014/main" id="{62F99E3A-C053-44B7-8324-879E5EFA92C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>
            <a:extLst>
              <a:ext uri="{FF2B5EF4-FFF2-40B4-BE49-F238E27FC236}">
                <a16:creationId xmlns:a16="http://schemas.microsoft.com/office/drawing/2014/main" id="{7441DBF4-7626-4262-B410-14373CF0B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3000" b="1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9pPr>
          </a:lstStyle>
          <a:p>
            <a:endParaRPr/>
          </a:p>
        </p:txBody>
      </p:sp>
      <p:sp>
        <p:nvSpPr>
          <p:cNvPr id="67" name="Google Shape;67;p16">
            <a:extLst>
              <a:ext uri="{FF2B5EF4-FFF2-40B4-BE49-F238E27FC236}">
                <a16:creationId xmlns:a16="http://schemas.microsoft.com/office/drawing/2014/main" id="{D3EC348D-D9F4-4E08-A272-1D59360239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spAutoFit/>
          </a:bodyPr>
          <a:lstStyle>
            <a:lvl1pPr marL="45720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marL="914400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marL="1371600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3pPr>
            <a:lvl4pPr marL="1828800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4pPr>
            <a:lvl5pPr marL="2286000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5pPr>
            <a:lvl6pPr marL="2743200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6pPr>
            <a:lvl7pPr marL="3200400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7pPr>
            <a:lvl8pPr marL="3657600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8pPr>
            <a:lvl9pPr marL="4114800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9pPr>
          </a:lstStyle>
          <a:p>
            <a:endParaRPr/>
          </a:p>
        </p:txBody>
      </p:sp>
      <p:sp>
        <p:nvSpPr>
          <p:cNvPr id="68" name="Google Shape;68;p16">
            <a:extLst>
              <a:ext uri="{FF2B5EF4-FFF2-40B4-BE49-F238E27FC236}">
                <a16:creationId xmlns:a16="http://schemas.microsoft.com/office/drawing/2014/main" id="{9A593397-0CC7-479A-8CBC-7F600F98AFD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</p:sldLayoutIdLst>
  <p:hf sldNum="0" hdr="0" ftr="0" dt="0"/>
  <p:txStyles>
    <p:title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9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>
            <a:extLst>
              <a:ext uri="{FF2B5EF4-FFF2-40B4-BE49-F238E27FC236}">
                <a16:creationId xmlns:a16="http://schemas.microsoft.com/office/drawing/2014/main" id="{E766D2AC-D107-4246-AFAA-EA4BF6806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9pPr>
          </a:lstStyle>
          <a:p>
            <a:endParaRPr/>
          </a:p>
        </p:txBody>
      </p:sp>
      <p:sp>
        <p:nvSpPr>
          <p:cNvPr id="118" name="Google Shape;118;p27">
            <a:extLst>
              <a:ext uri="{FF2B5EF4-FFF2-40B4-BE49-F238E27FC236}">
                <a16:creationId xmlns:a16="http://schemas.microsoft.com/office/drawing/2014/main" id="{42C93656-8562-4908-A190-A964E74FD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marL="914400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marL="1371600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3pPr>
            <a:lvl4pPr marL="1828800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4pPr>
            <a:lvl5pPr marL="2286000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5pPr>
            <a:lvl6pPr marL="2743200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6pPr>
            <a:lvl7pPr marL="3200400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7pPr>
            <a:lvl8pPr marL="3657600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8pPr>
            <a:lvl9pPr marL="4114800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9pPr>
          </a:lstStyle>
          <a:p>
            <a:endParaRPr/>
          </a:p>
        </p:txBody>
      </p:sp>
      <p:sp>
        <p:nvSpPr>
          <p:cNvPr id="119" name="Google Shape;119;p27">
            <a:extLst>
              <a:ext uri="{FF2B5EF4-FFF2-40B4-BE49-F238E27FC236}">
                <a16:creationId xmlns:a16="http://schemas.microsoft.com/office/drawing/2014/main" id="{EF5A8EB7-B9DC-49AE-9B97-D3B758AB2E7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</p:sldLayoutIdLst>
  <p:hf sldNum="0" hdr="0" ftr="0" dt="0"/>
  <p:txStyles>
    <p:title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ackground">
            <a:extLst>
              <a:ext uri="{FF2B5EF4-FFF2-40B4-BE49-F238E27FC236}">
                <a16:creationId xmlns:a16="http://schemas.microsoft.com/office/drawing/2014/main" id="{86105D99-2497-4930-ABE8-C33EF4EA74B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106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541772C-829B-4F92-B94C-069AAD4B5FF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106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3D94B0C-7832-43BB-B038-C8C763C9EA4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666750" cy="5143500"/>
          </a:xfrm>
          <a:prstGeom prst="rect">
            <a:avLst/>
          </a:prstGeom>
          <a:solidFill>
            <a:srgbClr val="17A9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6A94B62-9E89-4CD0-BA08-2E25962BBC66}"/>
              </a:ext>
            </a:extLst>
          </p:cNvPr>
          <p:cNvSpPr>
            <a:spLocks noGrp="1"/>
          </p:cNvSpPr>
          <p:nvPr/>
        </p:nvSpPr>
        <p:spPr>
          <a:xfrm>
            <a:off x="1143000" y="1143000"/>
            <a:ext cx="6477000" cy="1238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075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3075" b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Отказоустойчивый</a:t>
            </a:r>
          </a:p>
          <a:p>
            <a:pPr algn="l">
              <a:defRPr sz="3075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3075" b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PostgreSQL-кластер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C5279DD-7C0A-4F40-BC7F-5D66775B9F50}"/>
              </a:ext>
            </a:extLst>
          </p:cNvPr>
          <p:cNvSpPr>
            <a:spLocks noGrp="1"/>
          </p:cNvSpPr>
          <p:nvPr/>
        </p:nvSpPr>
        <p:spPr>
          <a:xfrm>
            <a:off x="1143000" y="2619375"/>
            <a:ext cx="6191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1650" b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для платформы краткосрочной аренды жилья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21471CA-8D0D-4D5F-9AF4-2F51E1643361}"/>
              </a:ext>
            </a:extLst>
          </p:cNvPr>
          <p:cNvSpPr>
            <a:spLocks noGrp="1"/>
          </p:cNvSpPr>
          <p:nvPr/>
        </p:nvSpPr>
        <p:spPr>
          <a:xfrm>
            <a:off x="1143000" y="3714750"/>
            <a:ext cx="4095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C9D6FF"/>
                </a:solidFill>
                <a:latin typeface="Roboto"/>
                <a:ea typeface="Roboto"/>
                <a:cs typeface="Roboto"/>
              </a:defRPr>
            </a:pPr>
            <a:r>
              <a:rPr sz="1200" b="0">
                <a:solidFill>
                  <a:srgbClr val="C9D6FF"/>
                </a:solidFill>
                <a:latin typeface="Roboto"/>
                <a:ea typeface="Roboto"/>
                <a:cs typeface="Roboto"/>
              </a:rPr>
              <a:t>Проект по курсу OTUS «Базы данных»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4790420-251A-4401-B1E6-A07C2311ED13}"/>
              </a:ext>
            </a:extLst>
          </p:cNvPr>
          <p:cNvSpPr>
            <a:spLocks noGrp="1"/>
          </p:cNvSpPr>
          <p:nvPr/>
        </p:nvSpPr>
        <p:spPr>
          <a:xfrm>
            <a:off x="1143000" y="4038600"/>
            <a:ext cx="533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C9D6FF"/>
                </a:solidFill>
                <a:latin typeface="Roboto"/>
                <a:ea typeface="Roboto"/>
                <a:cs typeface="Roboto"/>
              </a:defRPr>
            </a:pPr>
            <a:r>
              <a:rPr sz="900" b="0">
                <a:solidFill>
                  <a:srgbClr val="C9D6FF"/>
                </a:solidFill>
                <a:latin typeface="Roboto"/>
                <a:ea typeface="Roboto"/>
                <a:cs typeface="Roboto"/>
              </a:rPr>
              <a:t>PostgreSQL HA · Patroni · etcd · pgBackRest · PMM</a:t>
            </a:r>
          </a:p>
        </p:txBody>
      </p:sp>
    </p:spTree>
    <p:extLst>
      <p:ext uri="{BB962C8B-B14F-4D97-AF65-F5344CB8AC3E}">
        <p14:creationId xmlns:p14="http://schemas.microsoft.com/office/powerpoint/2010/main" val="18288023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background">
            <a:extLst>
              <a:ext uri="{FF2B5EF4-FFF2-40B4-BE49-F238E27FC236}">
                <a16:creationId xmlns:a16="http://schemas.microsoft.com/office/drawing/2014/main" id="{B2008747-F70C-4E26-9752-5C969EB8788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title-accent">
            <a:extLst>
              <a:ext uri="{FF2B5EF4-FFF2-40B4-BE49-F238E27FC236}">
                <a16:creationId xmlns:a16="http://schemas.microsoft.com/office/drawing/2014/main" id="{DBD8FAF6-37DC-48D2-8CC4-60438A7DCEB3}"/>
              </a:ext>
            </a:extLst>
          </p:cNvPr>
          <p:cNvSpPr>
            <a:spLocks noGrp="1"/>
          </p:cNvSpPr>
          <p:nvPr/>
        </p:nvSpPr>
        <p:spPr>
          <a:xfrm>
            <a:off x="400050" y="285750"/>
            <a:ext cx="66675" cy="438150"/>
          </a:xfrm>
          <a:prstGeom prst="rect">
            <a:avLst/>
          </a:prstGeom>
          <a:solidFill>
            <a:srgbClr val="17A9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257C28B-6696-412C-A887-29020D5A449A}"/>
              </a:ext>
            </a:extLst>
          </p:cNvPr>
          <p:cNvSpPr>
            <a:spLocks noGrp="1"/>
          </p:cNvSpPr>
          <p:nvPr/>
        </p:nvSpPr>
        <p:spPr>
          <a:xfrm>
            <a:off x="571500" y="266700"/>
            <a:ext cx="7239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2175" b="1">
                <a:solidFill>
                  <a:srgbClr val="17151F"/>
                </a:solidFill>
                <a:latin typeface="Roboto"/>
                <a:ea typeface="Roboto"/>
                <a:cs typeface="Roboto"/>
              </a:rPr>
              <a:t>Логика защиты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7462D13-D691-4328-9D29-A6037E7B7852}"/>
              </a:ext>
            </a:extLst>
          </p:cNvPr>
          <p:cNvSpPr>
            <a:spLocks noGrp="1"/>
          </p:cNvSpPr>
          <p:nvPr/>
        </p:nvSpPr>
        <p:spPr>
          <a:xfrm>
            <a:off x="571500" y="762000"/>
            <a:ext cx="723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900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от предметной модели к эксплуатационным гарантиям</a:t>
            </a:r>
          </a:p>
        </p:txBody>
      </p:sp>
      <p:sp>
        <p:nvSpPr>
          <p:cNvPr id="5" name="Овал 4">
            <a:extLst>
              <a:ext uri="{FF2B5EF4-FFF2-40B4-BE49-F238E27FC236}">
                <a16:creationId xmlns:a16="http://schemas.microsoft.com/office/drawing/2014/main" id="{82E4C87E-5C94-4433-8B10-D93A784B814A}"/>
              </a:ext>
            </a:extLst>
          </p:cNvPr>
          <p:cNvSpPr>
            <a:spLocks noGrp="1"/>
          </p:cNvSpPr>
          <p:nvPr/>
        </p:nvSpPr>
        <p:spPr>
          <a:xfrm>
            <a:off x="609600" y="1409700"/>
            <a:ext cx="209550" cy="209550"/>
          </a:xfrm>
          <a:prstGeom prst="ellipse">
            <a:avLst/>
          </a:prstGeom>
          <a:solidFill>
            <a:srgbClr val="17A9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8D6B8DB5-AE60-4F32-A108-46EE2B75A544}"/>
              </a:ext>
            </a:extLst>
          </p:cNvPr>
          <p:cNvSpPr>
            <a:spLocks noGrp="1"/>
          </p:cNvSpPr>
          <p:nvPr/>
        </p:nvSpPr>
        <p:spPr>
          <a:xfrm>
            <a:off x="609600" y="1438275"/>
            <a:ext cx="2095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numCol="1" anchor="ctr"/>
          <a:lstStyle/>
          <a:p>
            <a:pPr algn="ctr">
              <a:defRPr sz="6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6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400904FB-B8E9-4C40-8D6B-061294E5D536}"/>
              </a:ext>
            </a:extLst>
          </p:cNvPr>
          <p:cNvSpPr>
            <a:spLocks noGrp="1"/>
          </p:cNvSpPr>
          <p:nvPr/>
        </p:nvSpPr>
        <p:spPr>
          <a:xfrm>
            <a:off x="1028700" y="1257300"/>
            <a:ext cx="6953250" cy="514350"/>
          </a:xfrm>
          <a:prstGeom prst="roundRect">
            <a:avLst>
              <a:gd name="adj" fmla="val 14815"/>
            </a:avLst>
          </a:prstGeom>
          <a:solidFill>
            <a:srgbClr val="F5F6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E5A597D-ABD5-4B3C-9898-B5DD582D906E}"/>
              </a:ext>
            </a:extLst>
          </p:cNvPr>
          <p:cNvSpPr>
            <a:spLocks noGrp="1"/>
          </p:cNvSpPr>
          <p:nvPr/>
        </p:nvSpPr>
        <p:spPr>
          <a:xfrm>
            <a:off x="1219200" y="1352550"/>
            <a:ext cx="2286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4D22B2"/>
                </a:solidFill>
                <a:latin typeface="Roboto"/>
                <a:ea typeface="Roboto"/>
                <a:cs typeface="Roboto"/>
              </a:defRPr>
            </a:pPr>
            <a:r>
              <a:rPr sz="1200" b="1" dirty="0" err="1">
                <a:solidFill>
                  <a:srgbClr val="4D22B2"/>
                </a:solidFill>
                <a:latin typeface="Roboto"/>
                <a:ea typeface="Roboto"/>
                <a:cs typeface="Roboto"/>
              </a:rPr>
              <a:t>Доменная</a:t>
            </a:r>
            <a:r>
              <a:rPr sz="1200" b="1" dirty="0">
                <a:solidFill>
                  <a:srgbClr val="4D22B2"/>
                </a:solidFill>
                <a:latin typeface="Roboto"/>
                <a:ea typeface="Roboto"/>
                <a:cs typeface="Roboto"/>
              </a:rPr>
              <a:t> </a:t>
            </a:r>
            <a:r>
              <a:rPr sz="1200" b="1" dirty="0" err="1">
                <a:solidFill>
                  <a:srgbClr val="4D22B2"/>
                </a:solidFill>
                <a:latin typeface="Roboto"/>
                <a:ea typeface="Roboto"/>
                <a:cs typeface="Roboto"/>
              </a:rPr>
              <a:t>схема</a:t>
            </a:r>
            <a:endParaRPr sz="1200" b="1" dirty="0">
              <a:solidFill>
                <a:srgbClr val="4D22B2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47AE7CAF-BD1B-47B8-B4B4-173C5B5376B6}"/>
              </a:ext>
            </a:extLst>
          </p:cNvPr>
          <p:cNvSpPr>
            <a:spLocks noGrp="1"/>
          </p:cNvSpPr>
          <p:nvPr/>
        </p:nvSpPr>
        <p:spPr>
          <a:xfrm>
            <a:off x="3543300" y="1381125"/>
            <a:ext cx="4000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1050" b="0">
                <a:solidFill>
                  <a:srgbClr val="17151F"/>
                </a:solidFill>
                <a:latin typeface="Roboto"/>
                <a:ea typeface="Roboto"/>
                <a:cs typeface="Roboto"/>
              </a:rPr>
              <a:t>сущности, ограничения, миграции</a:t>
            </a:r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6C90CCB4-42BC-43AA-AFE4-650BFF9A1B43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209550" cy="209550"/>
          </a:xfrm>
          <a:prstGeom prst="ellipse">
            <a:avLst/>
          </a:prstGeom>
          <a:solidFill>
            <a:srgbClr val="4D22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6C79D5C3-49D2-4534-82DE-92BD88FBD9AD}"/>
              </a:ext>
            </a:extLst>
          </p:cNvPr>
          <p:cNvSpPr>
            <a:spLocks noGrp="1"/>
          </p:cNvSpPr>
          <p:nvPr/>
        </p:nvSpPr>
        <p:spPr>
          <a:xfrm>
            <a:off x="609600" y="2124075"/>
            <a:ext cx="2095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6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2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190C393-8647-4B6F-9CA6-C1D13FF77C35}"/>
              </a:ext>
            </a:extLst>
          </p:cNvPr>
          <p:cNvSpPr>
            <a:spLocks noGrp="1"/>
          </p:cNvSpPr>
          <p:nvPr/>
        </p:nvSpPr>
        <p:spPr>
          <a:xfrm>
            <a:off x="1028700" y="1943100"/>
            <a:ext cx="6953250" cy="514350"/>
          </a:xfrm>
          <a:prstGeom prst="roundRect">
            <a:avLst>
              <a:gd name="adj" fmla="val 14815"/>
            </a:avLst>
          </a:prstGeom>
          <a:solidFill>
            <a:srgbClr val="F5F6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3ABF64D0-5DDD-477E-A306-2560F0D3A31E}"/>
              </a:ext>
            </a:extLst>
          </p:cNvPr>
          <p:cNvSpPr>
            <a:spLocks noGrp="1"/>
          </p:cNvSpPr>
          <p:nvPr/>
        </p:nvSpPr>
        <p:spPr>
          <a:xfrm>
            <a:off x="1219200" y="2038350"/>
            <a:ext cx="2286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4D22B2"/>
                </a:solidFill>
                <a:latin typeface="Roboto"/>
                <a:ea typeface="Roboto"/>
                <a:cs typeface="Roboto"/>
              </a:defRPr>
            </a:pPr>
            <a:r>
              <a:rPr sz="1200" b="1">
                <a:solidFill>
                  <a:srgbClr val="4D22B2"/>
                </a:solidFill>
                <a:latin typeface="Roboto"/>
                <a:ea typeface="Roboto"/>
                <a:cs typeface="Roboto"/>
              </a:rPr>
              <a:t>Высокая доступность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4AC25696-8E6F-4482-A3A7-B456421EF308}"/>
              </a:ext>
            </a:extLst>
          </p:cNvPr>
          <p:cNvSpPr>
            <a:spLocks noGrp="1"/>
          </p:cNvSpPr>
          <p:nvPr/>
        </p:nvSpPr>
        <p:spPr>
          <a:xfrm>
            <a:off x="3543300" y="2066925"/>
            <a:ext cx="4000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1050" b="0">
                <a:solidFill>
                  <a:srgbClr val="17151F"/>
                </a:solidFill>
                <a:latin typeface="Roboto"/>
                <a:ea typeface="Roboto"/>
                <a:cs typeface="Roboto"/>
              </a:rPr>
              <a:t>Patroni, etcd, клиентская маршрутизация</a:t>
            </a:r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E1A9A283-4ABC-4631-A596-A2F65B57C3C3}"/>
              </a:ext>
            </a:extLst>
          </p:cNvPr>
          <p:cNvSpPr>
            <a:spLocks noGrp="1"/>
          </p:cNvSpPr>
          <p:nvPr/>
        </p:nvSpPr>
        <p:spPr>
          <a:xfrm>
            <a:off x="609600" y="2781300"/>
            <a:ext cx="209550" cy="209550"/>
          </a:xfrm>
          <a:prstGeom prst="ellipse">
            <a:avLst/>
          </a:prstGeom>
          <a:solidFill>
            <a:srgbClr val="17A9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E71015C-6E54-4FE9-ADDE-54F6476F6248}"/>
              </a:ext>
            </a:extLst>
          </p:cNvPr>
          <p:cNvSpPr>
            <a:spLocks noGrp="1"/>
          </p:cNvSpPr>
          <p:nvPr/>
        </p:nvSpPr>
        <p:spPr>
          <a:xfrm>
            <a:off x="609600" y="2809875"/>
            <a:ext cx="2095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600" b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3</a:t>
            </a: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894C44A6-7483-4C1D-9487-BF6089FBEE75}"/>
              </a:ext>
            </a:extLst>
          </p:cNvPr>
          <p:cNvSpPr>
            <a:spLocks noGrp="1"/>
          </p:cNvSpPr>
          <p:nvPr/>
        </p:nvSpPr>
        <p:spPr>
          <a:xfrm>
            <a:off x="1028700" y="2628900"/>
            <a:ext cx="6953250" cy="514350"/>
          </a:xfrm>
          <a:prstGeom prst="roundRect">
            <a:avLst>
              <a:gd name="adj" fmla="val 14815"/>
            </a:avLst>
          </a:prstGeom>
          <a:solidFill>
            <a:srgbClr val="F5F6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A93B800F-C077-4CB3-B7C9-3FEAE0D47D11}"/>
              </a:ext>
            </a:extLst>
          </p:cNvPr>
          <p:cNvSpPr>
            <a:spLocks noGrp="1"/>
          </p:cNvSpPr>
          <p:nvPr/>
        </p:nvSpPr>
        <p:spPr>
          <a:xfrm>
            <a:off x="1219200" y="2724150"/>
            <a:ext cx="2286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4D22B2"/>
                </a:solidFill>
                <a:latin typeface="Roboto"/>
                <a:ea typeface="Roboto"/>
                <a:cs typeface="Roboto"/>
              </a:defRPr>
            </a:pPr>
            <a:r>
              <a:rPr sz="1200" b="1">
                <a:solidFill>
                  <a:srgbClr val="4D22B2"/>
                </a:solidFill>
                <a:latin typeface="Roboto"/>
                <a:ea typeface="Roboto"/>
                <a:cs typeface="Roboto"/>
              </a:rPr>
              <a:t>Сохранность данных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A812110E-9C29-446C-9B7E-70D1DC01E33D}"/>
              </a:ext>
            </a:extLst>
          </p:cNvPr>
          <p:cNvSpPr>
            <a:spLocks noGrp="1"/>
          </p:cNvSpPr>
          <p:nvPr/>
        </p:nvSpPr>
        <p:spPr>
          <a:xfrm>
            <a:off x="3543300" y="2752725"/>
            <a:ext cx="4000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1050" b="0">
                <a:solidFill>
                  <a:srgbClr val="17151F"/>
                </a:solidFill>
                <a:latin typeface="Roboto"/>
                <a:ea typeface="Roboto"/>
                <a:cs typeface="Roboto"/>
              </a:rPr>
              <a:t>RPO = 0 для подтвержденных транзакций</a:t>
            </a:r>
          </a:p>
        </p:txBody>
      </p:sp>
      <p:sp>
        <p:nvSpPr>
          <p:cNvPr id="20" name="Овал 19">
            <a:extLst>
              <a:ext uri="{FF2B5EF4-FFF2-40B4-BE49-F238E27FC236}">
                <a16:creationId xmlns:a16="http://schemas.microsoft.com/office/drawing/2014/main" id="{AE599F3F-7D7D-45F9-8AAA-2025CF990017}"/>
              </a:ext>
            </a:extLst>
          </p:cNvPr>
          <p:cNvSpPr>
            <a:spLocks noGrp="1"/>
          </p:cNvSpPr>
          <p:nvPr/>
        </p:nvSpPr>
        <p:spPr>
          <a:xfrm>
            <a:off x="609600" y="3467100"/>
            <a:ext cx="209550" cy="209550"/>
          </a:xfrm>
          <a:prstGeom prst="ellipse">
            <a:avLst/>
          </a:prstGeom>
          <a:solidFill>
            <a:srgbClr val="4D22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27D16C2-54EB-4A18-8871-A13C4FB9088D}"/>
              </a:ext>
            </a:extLst>
          </p:cNvPr>
          <p:cNvSpPr>
            <a:spLocks noGrp="1"/>
          </p:cNvSpPr>
          <p:nvPr/>
        </p:nvSpPr>
        <p:spPr>
          <a:xfrm>
            <a:off x="609600" y="3495675"/>
            <a:ext cx="2095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6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4</a:t>
            </a:r>
          </a:p>
        </p:txBody>
      </p:sp>
      <p:sp>
        <p:nvSpPr>
          <p:cNvPr id="22" name="Прямоугольник: скругленные углы 21">
            <a:extLst>
              <a:ext uri="{FF2B5EF4-FFF2-40B4-BE49-F238E27FC236}">
                <a16:creationId xmlns:a16="http://schemas.microsoft.com/office/drawing/2014/main" id="{4817D750-A4DD-4790-B60C-9DBFA0935860}"/>
              </a:ext>
            </a:extLst>
          </p:cNvPr>
          <p:cNvSpPr>
            <a:spLocks noGrp="1"/>
          </p:cNvSpPr>
          <p:nvPr/>
        </p:nvSpPr>
        <p:spPr>
          <a:xfrm>
            <a:off x="1028700" y="3314700"/>
            <a:ext cx="6953250" cy="514350"/>
          </a:xfrm>
          <a:prstGeom prst="roundRect">
            <a:avLst>
              <a:gd name="adj" fmla="val 14815"/>
            </a:avLst>
          </a:prstGeom>
          <a:solidFill>
            <a:srgbClr val="F5F6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95EAAA56-55AA-4F61-B240-4ABC8D6DAA4D}"/>
              </a:ext>
            </a:extLst>
          </p:cNvPr>
          <p:cNvSpPr>
            <a:spLocks noGrp="1"/>
          </p:cNvSpPr>
          <p:nvPr/>
        </p:nvSpPr>
        <p:spPr>
          <a:xfrm>
            <a:off x="1219200" y="3409950"/>
            <a:ext cx="2286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4D22B2"/>
                </a:solidFill>
                <a:latin typeface="Roboto"/>
                <a:ea typeface="Roboto"/>
                <a:cs typeface="Roboto"/>
              </a:defRPr>
            </a:pPr>
            <a:r>
              <a:rPr sz="1200" b="1">
                <a:solidFill>
                  <a:srgbClr val="4D22B2"/>
                </a:solidFill>
                <a:latin typeface="Roboto"/>
                <a:ea typeface="Roboto"/>
                <a:cs typeface="Roboto"/>
              </a:rPr>
              <a:t>Восстановление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89E781E2-5034-4F7D-BEFD-C9BAD00E7E0C}"/>
              </a:ext>
            </a:extLst>
          </p:cNvPr>
          <p:cNvSpPr>
            <a:spLocks noGrp="1"/>
          </p:cNvSpPr>
          <p:nvPr/>
        </p:nvSpPr>
        <p:spPr>
          <a:xfrm>
            <a:off x="3543300" y="3438525"/>
            <a:ext cx="4000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1050" b="0">
                <a:solidFill>
                  <a:srgbClr val="17151F"/>
                </a:solidFill>
                <a:latin typeface="Roboto"/>
                <a:ea typeface="Roboto"/>
                <a:cs typeface="Roboto"/>
              </a:rPr>
              <a:t>полная копия, архив WAL, PITR</a:t>
            </a:r>
          </a:p>
        </p:txBody>
      </p:sp>
      <p:sp>
        <p:nvSpPr>
          <p:cNvPr id="25" name="Овал 24">
            <a:extLst>
              <a:ext uri="{FF2B5EF4-FFF2-40B4-BE49-F238E27FC236}">
                <a16:creationId xmlns:a16="http://schemas.microsoft.com/office/drawing/2014/main" id="{DD2D0815-557C-471B-85F6-8475F9B9F873}"/>
              </a:ext>
            </a:extLst>
          </p:cNvPr>
          <p:cNvSpPr>
            <a:spLocks noGrp="1"/>
          </p:cNvSpPr>
          <p:nvPr/>
        </p:nvSpPr>
        <p:spPr>
          <a:xfrm>
            <a:off x="609600" y="4152900"/>
            <a:ext cx="209550" cy="209550"/>
          </a:xfrm>
          <a:prstGeom prst="ellipse">
            <a:avLst/>
          </a:prstGeom>
          <a:solidFill>
            <a:srgbClr val="17A9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84FFF5A-21DE-40FD-8368-E9D0633DE7A7}"/>
              </a:ext>
            </a:extLst>
          </p:cNvPr>
          <p:cNvSpPr>
            <a:spLocks noGrp="1"/>
          </p:cNvSpPr>
          <p:nvPr/>
        </p:nvSpPr>
        <p:spPr>
          <a:xfrm>
            <a:off x="609600" y="4181475"/>
            <a:ext cx="2095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600" b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5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9AFD5217-675D-4A1F-9A24-909424DDD59E}"/>
              </a:ext>
            </a:extLst>
          </p:cNvPr>
          <p:cNvSpPr>
            <a:spLocks noGrp="1"/>
          </p:cNvSpPr>
          <p:nvPr/>
        </p:nvSpPr>
        <p:spPr>
          <a:xfrm>
            <a:off x="1028700" y="4000500"/>
            <a:ext cx="6953250" cy="514350"/>
          </a:xfrm>
          <a:prstGeom prst="roundRect">
            <a:avLst>
              <a:gd name="adj" fmla="val 14815"/>
            </a:avLst>
          </a:prstGeom>
          <a:solidFill>
            <a:srgbClr val="F5F6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40342940-35D1-4BFF-B89D-6F9A5D18B048}"/>
              </a:ext>
            </a:extLst>
          </p:cNvPr>
          <p:cNvSpPr>
            <a:spLocks noGrp="1"/>
          </p:cNvSpPr>
          <p:nvPr/>
        </p:nvSpPr>
        <p:spPr>
          <a:xfrm>
            <a:off x="1219200" y="4095750"/>
            <a:ext cx="2286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4D22B2"/>
                </a:solidFill>
                <a:latin typeface="Roboto"/>
                <a:ea typeface="Roboto"/>
                <a:cs typeface="Roboto"/>
              </a:defRPr>
            </a:pPr>
            <a:r>
              <a:rPr sz="1200" b="1">
                <a:solidFill>
                  <a:srgbClr val="4D22B2"/>
                </a:solidFill>
                <a:latin typeface="Roboto"/>
                <a:ea typeface="Roboto"/>
                <a:cs typeface="Roboto"/>
              </a:rPr>
              <a:t>Наблюдаемость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079690DF-8D05-47C2-8BAC-A8FB7DD48BDE}"/>
              </a:ext>
            </a:extLst>
          </p:cNvPr>
          <p:cNvSpPr>
            <a:spLocks noGrp="1"/>
          </p:cNvSpPr>
          <p:nvPr/>
        </p:nvSpPr>
        <p:spPr>
          <a:xfrm>
            <a:off x="3543300" y="4124325"/>
            <a:ext cx="4000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1050" b="0">
                <a:solidFill>
                  <a:srgbClr val="17151F"/>
                </a:solidFill>
                <a:latin typeface="Roboto"/>
                <a:ea typeface="Roboto"/>
                <a:cs typeface="Roboto"/>
              </a:rPr>
              <a:t>PMM и состояние всех ключевых компонентов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DCE433A0-58C9-41B7-AC82-0F13B789D603}"/>
              </a:ext>
            </a:extLst>
          </p:cNvPr>
          <p:cNvSpPr>
            <a:spLocks noGrp="1"/>
          </p:cNvSpPr>
          <p:nvPr/>
        </p:nvSpPr>
        <p:spPr>
          <a:xfrm>
            <a:off x="400050" y="4857750"/>
            <a:ext cx="8343900" cy="9525"/>
          </a:xfrm>
          <a:prstGeom prst="rect">
            <a:avLst/>
          </a:prstGeom>
          <a:solidFill>
            <a:srgbClr val="D9DC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A2A2B57C-C57A-455E-B06E-6635F1C62DCF}"/>
              </a:ext>
            </a:extLst>
          </p:cNvPr>
          <p:cNvSpPr>
            <a:spLocks noGrp="1"/>
          </p:cNvSpPr>
          <p:nvPr/>
        </p:nvSpPr>
        <p:spPr>
          <a:xfrm>
            <a:off x="400050" y="4914900"/>
            <a:ext cx="24765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00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600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rental_housing_platform_db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601E9FC5-0ABE-450D-8CAB-2C2853EEB028}"/>
              </a:ext>
            </a:extLst>
          </p:cNvPr>
          <p:cNvSpPr>
            <a:spLocks noGrp="1"/>
          </p:cNvSpPr>
          <p:nvPr/>
        </p:nvSpPr>
        <p:spPr>
          <a:xfrm>
            <a:off x="8382000" y="4914900"/>
            <a:ext cx="3619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00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600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532748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background">
            <a:extLst>
              <a:ext uri="{FF2B5EF4-FFF2-40B4-BE49-F238E27FC236}">
                <a16:creationId xmlns:a16="http://schemas.microsoft.com/office/drawing/2014/main" id="{F865345A-7B36-4BE8-82F6-9316D621B8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title-accent">
            <a:extLst>
              <a:ext uri="{FF2B5EF4-FFF2-40B4-BE49-F238E27FC236}">
                <a16:creationId xmlns:a16="http://schemas.microsoft.com/office/drawing/2014/main" id="{B4EF41C2-4584-412C-A4CC-DF9F730F5F52}"/>
              </a:ext>
            </a:extLst>
          </p:cNvPr>
          <p:cNvSpPr>
            <a:spLocks noGrp="1"/>
          </p:cNvSpPr>
          <p:nvPr/>
        </p:nvSpPr>
        <p:spPr>
          <a:xfrm>
            <a:off x="400050" y="285750"/>
            <a:ext cx="66675" cy="438150"/>
          </a:xfrm>
          <a:prstGeom prst="rect">
            <a:avLst/>
          </a:prstGeom>
          <a:solidFill>
            <a:srgbClr val="17A9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F3E0BBC6-D3D7-4D62-BD3A-2CA5131C380C}"/>
              </a:ext>
            </a:extLst>
          </p:cNvPr>
          <p:cNvSpPr>
            <a:spLocks noGrp="1"/>
          </p:cNvSpPr>
          <p:nvPr/>
        </p:nvSpPr>
        <p:spPr>
          <a:xfrm>
            <a:off x="571500" y="266700"/>
            <a:ext cx="7239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2175" b="1">
                <a:solidFill>
                  <a:srgbClr val="17151F"/>
                </a:solidFill>
                <a:latin typeface="Roboto"/>
                <a:ea typeface="Roboto"/>
                <a:cs typeface="Roboto"/>
              </a:rPr>
              <a:t>Цель и границы проекта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E65CFEF-3588-45C7-9FD0-D5F13284DABF}"/>
              </a:ext>
            </a:extLst>
          </p:cNvPr>
          <p:cNvSpPr>
            <a:spLocks noGrp="1"/>
          </p:cNvSpPr>
          <p:nvPr/>
        </p:nvSpPr>
        <p:spPr>
          <a:xfrm>
            <a:off x="571500" y="762000"/>
            <a:ext cx="723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900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что именно проверяет работа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A148D12C-4BDC-4324-BFD2-F398962F1A36}"/>
              </a:ext>
            </a:extLst>
          </p:cNvPr>
          <p:cNvSpPr>
            <a:spLocks noGrp="1"/>
          </p:cNvSpPr>
          <p:nvPr/>
        </p:nvSpPr>
        <p:spPr>
          <a:xfrm>
            <a:off x="552450" y="1381125"/>
            <a:ext cx="2514600" cy="2381250"/>
          </a:xfrm>
          <a:prstGeom prst="roundRect">
            <a:avLst>
              <a:gd name="adj" fmla="val 3200"/>
            </a:avLst>
          </a:prstGeom>
          <a:solidFill>
            <a:srgbClr val="F0EC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014BA8C-58B2-4444-9A4D-ED4D3CC96D53}"/>
              </a:ext>
            </a:extLst>
          </p:cNvPr>
          <p:cNvSpPr>
            <a:spLocks noGrp="1"/>
          </p:cNvSpPr>
          <p:nvPr/>
        </p:nvSpPr>
        <p:spPr>
          <a:xfrm>
            <a:off x="762000" y="1600200"/>
            <a:ext cx="2095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4D22B2"/>
                </a:solidFill>
                <a:latin typeface="Roboto"/>
                <a:ea typeface="Roboto"/>
                <a:cs typeface="Roboto"/>
              </a:defRPr>
            </a:pPr>
            <a:r>
              <a:rPr sz="1650" b="1">
                <a:solidFill>
                  <a:srgbClr val="4D22B2"/>
                </a:solidFill>
                <a:latin typeface="Roboto"/>
                <a:ea typeface="Roboto"/>
                <a:cs typeface="Roboto"/>
              </a:rPr>
              <a:t>Цель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DA54A2F-C4D5-4F29-86EC-3261AC4A2129}"/>
              </a:ext>
            </a:extLst>
          </p:cNvPr>
          <p:cNvSpPr>
            <a:spLocks noGrp="1"/>
          </p:cNvSpPr>
          <p:nvPr/>
        </p:nvSpPr>
        <p:spPr>
          <a:xfrm>
            <a:off x="762000" y="2095500"/>
            <a:ext cx="2095500" cy="1238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1125" b="0">
                <a:solidFill>
                  <a:srgbClr val="17151F"/>
                </a:solidFill>
                <a:latin typeface="Roboto"/>
                <a:ea typeface="Roboto"/>
                <a:cs typeface="Roboto"/>
              </a:rPr>
              <a:t>Показать базу данных как инженерную систему: схема, кластер, резервное восстановление и наблюдаемость.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DDD2E850-6EA2-4420-AA40-80D4E348C162}"/>
              </a:ext>
            </a:extLst>
          </p:cNvPr>
          <p:cNvSpPr>
            <a:spLocks noGrp="1"/>
          </p:cNvSpPr>
          <p:nvPr/>
        </p:nvSpPr>
        <p:spPr>
          <a:xfrm>
            <a:off x="3429000" y="1381125"/>
            <a:ext cx="2514600" cy="2381250"/>
          </a:xfrm>
          <a:prstGeom prst="roundRect">
            <a:avLst>
              <a:gd name="adj" fmla="val 3200"/>
            </a:avLst>
          </a:prstGeom>
          <a:solidFill>
            <a:srgbClr val="F5F6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5015172-E1FF-4D47-8562-DC74B0E6DA48}"/>
              </a:ext>
            </a:extLst>
          </p:cNvPr>
          <p:cNvSpPr>
            <a:spLocks noGrp="1"/>
          </p:cNvSpPr>
          <p:nvPr/>
        </p:nvSpPr>
        <p:spPr>
          <a:xfrm>
            <a:off x="3638550" y="1600200"/>
            <a:ext cx="2095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7A9D6"/>
                </a:solidFill>
                <a:latin typeface="Roboto"/>
                <a:ea typeface="Roboto"/>
                <a:cs typeface="Roboto"/>
              </a:defRPr>
            </a:pPr>
            <a:r>
              <a:rPr sz="1650" b="1">
                <a:solidFill>
                  <a:srgbClr val="17A9D6"/>
                </a:solidFill>
                <a:latin typeface="Roboto"/>
                <a:ea typeface="Roboto"/>
                <a:cs typeface="Roboto"/>
              </a:rPr>
              <a:t>Границы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521F5D8-A802-43D8-91E5-54ACAC404608}"/>
              </a:ext>
            </a:extLst>
          </p:cNvPr>
          <p:cNvSpPr>
            <a:spLocks noGrp="1"/>
          </p:cNvSpPr>
          <p:nvPr/>
        </p:nvSpPr>
        <p:spPr>
          <a:xfrm>
            <a:off x="3638550" y="2095500"/>
            <a:ext cx="2095500" cy="1238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1125" b="0">
                <a:solidFill>
                  <a:srgbClr val="17151F"/>
                </a:solidFill>
                <a:latin typeface="Roboto"/>
                <a:ea typeface="Roboto"/>
                <a:cs typeface="Roboto"/>
              </a:rPr>
              <a:t>Проект не реализует полноценное приложение. Клиентский слой представлен SQL-сценариями и подключениями через PgBouncer/HAProxy.</a:t>
            </a: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91319EDE-3436-431E-B5A3-1F1C96F655DB}"/>
              </a:ext>
            </a:extLst>
          </p:cNvPr>
          <p:cNvSpPr>
            <a:spLocks noGrp="1"/>
          </p:cNvSpPr>
          <p:nvPr/>
        </p:nvSpPr>
        <p:spPr>
          <a:xfrm>
            <a:off x="6305550" y="1381125"/>
            <a:ext cx="2514600" cy="2381250"/>
          </a:xfrm>
          <a:prstGeom prst="roundRect">
            <a:avLst>
              <a:gd name="adj" fmla="val 3200"/>
            </a:avLst>
          </a:prstGeom>
          <a:solidFill>
            <a:srgbClr val="F5F6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6478916A-0712-4986-950B-E7EA3F5BE003}"/>
              </a:ext>
            </a:extLst>
          </p:cNvPr>
          <p:cNvSpPr>
            <a:spLocks noGrp="1"/>
          </p:cNvSpPr>
          <p:nvPr/>
        </p:nvSpPr>
        <p:spPr>
          <a:xfrm>
            <a:off x="6515100" y="1600200"/>
            <a:ext cx="2095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4D22B2"/>
                </a:solidFill>
                <a:latin typeface="Roboto"/>
                <a:ea typeface="Roboto"/>
                <a:cs typeface="Roboto"/>
              </a:defRPr>
            </a:pPr>
            <a:r>
              <a:rPr sz="1650" b="1">
                <a:solidFill>
                  <a:srgbClr val="4D22B2"/>
                </a:solidFill>
                <a:latin typeface="Roboto"/>
                <a:ea typeface="Roboto"/>
                <a:cs typeface="Roboto"/>
              </a:rPr>
              <a:t>Результат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49B51AC4-02FF-41A0-958F-45B3C5E6A0AA}"/>
              </a:ext>
            </a:extLst>
          </p:cNvPr>
          <p:cNvSpPr>
            <a:spLocks noGrp="1"/>
          </p:cNvSpPr>
          <p:nvPr/>
        </p:nvSpPr>
        <p:spPr>
          <a:xfrm>
            <a:off x="6515100" y="2095500"/>
            <a:ext cx="2095500" cy="1238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1125" b="0">
                <a:solidFill>
                  <a:srgbClr val="17151F"/>
                </a:solidFill>
                <a:latin typeface="Roboto"/>
                <a:ea typeface="Roboto"/>
                <a:cs typeface="Roboto"/>
              </a:rPr>
              <a:t>Локально воспроизводимый PostgreSQL-кластер с миграциями, отказоустойчивостью, архивом WAL и мониторингом.</a:t>
            </a: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E9C16B3-E2F6-40AF-B92D-A0459FFCA8EF}"/>
              </a:ext>
            </a:extLst>
          </p:cNvPr>
          <p:cNvSpPr>
            <a:spLocks noGrp="1"/>
          </p:cNvSpPr>
          <p:nvPr/>
        </p:nvSpPr>
        <p:spPr>
          <a:xfrm>
            <a:off x="800100" y="3905250"/>
            <a:ext cx="1428750" cy="723900"/>
          </a:xfrm>
          <a:prstGeom prst="roundRect">
            <a:avLst>
              <a:gd name="adj" fmla="val 10526"/>
            </a:avLst>
          </a:prstGeom>
          <a:solidFill>
            <a:srgbClr val="F5F6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C1CA4E10-A917-46EF-A7E2-D2D90DBF70B0}"/>
              </a:ext>
            </a:extLst>
          </p:cNvPr>
          <p:cNvSpPr>
            <a:spLocks noGrp="1"/>
          </p:cNvSpPr>
          <p:nvPr/>
        </p:nvSpPr>
        <p:spPr>
          <a:xfrm>
            <a:off x="971550" y="4019550"/>
            <a:ext cx="1085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4D22B2"/>
                </a:solidFill>
                <a:latin typeface="Roboto"/>
                <a:ea typeface="Roboto"/>
                <a:cs typeface="Roboto"/>
              </a:defRPr>
            </a:pPr>
            <a:r>
              <a:rPr sz="1800" b="1">
                <a:solidFill>
                  <a:srgbClr val="4D22B2"/>
                </a:solidFill>
                <a:latin typeface="Roboto"/>
                <a:ea typeface="Roboto"/>
                <a:cs typeface="Roboto"/>
              </a:rPr>
              <a:t>5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8081906-713A-4367-8027-F5BD2492740E}"/>
              </a:ext>
            </a:extLst>
          </p:cNvPr>
          <p:cNvSpPr>
            <a:spLocks noGrp="1"/>
          </p:cNvSpPr>
          <p:nvPr/>
        </p:nvSpPr>
        <p:spPr>
          <a:xfrm>
            <a:off x="971550" y="4362450"/>
            <a:ext cx="1085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750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PostgreSQL-узлов</a:t>
            </a: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8698C74F-687F-4255-859F-6FC94AFF0BD3}"/>
              </a:ext>
            </a:extLst>
          </p:cNvPr>
          <p:cNvSpPr>
            <a:spLocks noGrp="1"/>
          </p:cNvSpPr>
          <p:nvPr/>
        </p:nvSpPr>
        <p:spPr>
          <a:xfrm>
            <a:off x="2705100" y="3905250"/>
            <a:ext cx="1428750" cy="723900"/>
          </a:xfrm>
          <a:prstGeom prst="roundRect">
            <a:avLst>
              <a:gd name="adj" fmla="val 10526"/>
            </a:avLst>
          </a:prstGeom>
          <a:solidFill>
            <a:srgbClr val="F5F6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1033ADC5-84F7-4ADD-9116-B96C33734CF2}"/>
              </a:ext>
            </a:extLst>
          </p:cNvPr>
          <p:cNvSpPr>
            <a:spLocks noGrp="1"/>
          </p:cNvSpPr>
          <p:nvPr/>
        </p:nvSpPr>
        <p:spPr>
          <a:xfrm>
            <a:off x="2876550" y="4019550"/>
            <a:ext cx="1085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7A9D6"/>
                </a:solidFill>
                <a:latin typeface="Roboto"/>
                <a:ea typeface="Roboto"/>
                <a:cs typeface="Roboto"/>
              </a:defRPr>
            </a:pPr>
            <a:r>
              <a:rPr sz="1800" b="1">
                <a:solidFill>
                  <a:srgbClr val="17A9D6"/>
                </a:solidFill>
                <a:latin typeface="Roboto"/>
                <a:ea typeface="Roboto"/>
                <a:cs typeface="Roboto"/>
              </a:rPr>
              <a:t>5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F057F1FD-A4CB-4DE1-BE91-1F056A6D2EA5}"/>
              </a:ext>
            </a:extLst>
          </p:cNvPr>
          <p:cNvSpPr>
            <a:spLocks noGrp="1"/>
          </p:cNvSpPr>
          <p:nvPr/>
        </p:nvSpPr>
        <p:spPr>
          <a:xfrm>
            <a:off x="2876550" y="4362450"/>
            <a:ext cx="1085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750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etcd-узлов</a:t>
            </a:r>
          </a:p>
        </p:txBody>
      </p:sp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FCD8F6DA-40BF-47B4-B764-69C4C358E823}"/>
              </a:ext>
            </a:extLst>
          </p:cNvPr>
          <p:cNvSpPr>
            <a:spLocks noGrp="1"/>
          </p:cNvSpPr>
          <p:nvPr/>
        </p:nvSpPr>
        <p:spPr>
          <a:xfrm>
            <a:off x="4610100" y="3905250"/>
            <a:ext cx="1619250" cy="723900"/>
          </a:xfrm>
          <a:prstGeom prst="roundRect">
            <a:avLst>
              <a:gd name="adj" fmla="val 10526"/>
            </a:avLst>
          </a:prstGeom>
          <a:solidFill>
            <a:srgbClr val="F5F6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F3D2B1F2-8367-4A8F-BAB5-8F07681EE6AA}"/>
              </a:ext>
            </a:extLst>
          </p:cNvPr>
          <p:cNvSpPr>
            <a:spLocks noGrp="1"/>
          </p:cNvSpPr>
          <p:nvPr/>
        </p:nvSpPr>
        <p:spPr>
          <a:xfrm>
            <a:off x="4781550" y="4019550"/>
            <a:ext cx="12763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4D22B2"/>
                </a:solidFill>
                <a:latin typeface="Roboto"/>
                <a:ea typeface="Roboto"/>
                <a:cs typeface="Roboto"/>
              </a:defRPr>
            </a:pPr>
            <a:r>
              <a:rPr sz="1800" b="1">
                <a:solidFill>
                  <a:srgbClr val="4D22B2"/>
                </a:solidFill>
                <a:latin typeface="Roboto"/>
                <a:ea typeface="Roboto"/>
                <a:cs typeface="Roboto"/>
              </a:rPr>
              <a:t>2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CF02522D-D68A-465C-A7FF-5DA29BCBB424}"/>
              </a:ext>
            </a:extLst>
          </p:cNvPr>
          <p:cNvSpPr>
            <a:spLocks noGrp="1"/>
          </p:cNvSpPr>
          <p:nvPr/>
        </p:nvSpPr>
        <p:spPr>
          <a:xfrm>
            <a:off x="4781550" y="4362450"/>
            <a:ext cx="12763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750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синхронные реплики</a:t>
            </a:r>
          </a:p>
        </p:txBody>
      </p:sp>
      <p:sp>
        <p:nvSpPr>
          <p:cNvPr id="23" name="Прямоугольник: скругленные углы 22">
            <a:extLst>
              <a:ext uri="{FF2B5EF4-FFF2-40B4-BE49-F238E27FC236}">
                <a16:creationId xmlns:a16="http://schemas.microsoft.com/office/drawing/2014/main" id="{601D3AD9-C4CF-485F-8FF3-776803773D65}"/>
              </a:ext>
            </a:extLst>
          </p:cNvPr>
          <p:cNvSpPr>
            <a:spLocks noGrp="1"/>
          </p:cNvSpPr>
          <p:nvPr/>
        </p:nvSpPr>
        <p:spPr>
          <a:xfrm>
            <a:off x="6705600" y="3905250"/>
            <a:ext cx="1428750" cy="723900"/>
          </a:xfrm>
          <a:prstGeom prst="roundRect">
            <a:avLst>
              <a:gd name="adj" fmla="val 10526"/>
            </a:avLst>
          </a:prstGeom>
          <a:solidFill>
            <a:srgbClr val="F5F6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006A45F-1407-4796-9689-D59C7AB12E5F}"/>
              </a:ext>
            </a:extLst>
          </p:cNvPr>
          <p:cNvSpPr>
            <a:spLocks noGrp="1"/>
          </p:cNvSpPr>
          <p:nvPr/>
        </p:nvSpPr>
        <p:spPr>
          <a:xfrm>
            <a:off x="6877050" y="4019550"/>
            <a:ext cx="1085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7A9D6"/>
                </a:solidFill>
                <a:latin typeface="Roboto"/>
                <a:ea typeface="Roboto"/>
                <a:cs typeface="Roboto"/>
              </a:defRPr>
            </a:pPr>
            <a:r>
              <a:rPr sz="1800" b="1">
                <a:solidFill>
                  <a:srgbClr val="17A9D6"/>
                </a:solidFill>
                <a:latin typeface="Roboto"/>
                <a:ea typeface="Roboto"/>
                <a:cs typeface="Roboto"/>
              </a:rPr>
              <a:t>2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827F8EB7-F40D-4D42-BD6A-A05480D1B837}"/>
              </a:ext>
            </a:extLst>
          </p:cNvPr>
          <p:cNvSpPr>
            <a:spLocks noGrp="1"/>
          </p:cNvSpPr>
          <p:nvPr/>
        </p:nvSpPr>
        <p:spPr>
          <a:xfrm>
            <a:off x="6877050" y="4362450"/>
            <a:ext cx="1085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750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клиентские цепочки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B8E415B0-672E-4853-950E-084620664BD8}"/>
              </a:ext>
            </a:extLst>
          </p:cNvPr>
          <p:cNvSpPr>
            <a:spLocks noGrp="1"/>
          </p:cNvSpPr>
          <p:nvPr/>
        </p:nvSpPr>
        <p:spPr>
          <a:xfrm>
            <a:off x="400050" y="4857750"/>
            <a:ext cx="8343900" cy="9525"/>
          </a:xfrm>
          <a:prstGeom prst="rect">
            <a:avLst/>
          </a:prstGeom>
          <a:solidFill>
            <a:srgbClr val="D9DC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524DED4F-E71C-48A5-8943-19C512CCCA95}"/>
              </a:ext>
            </a:extLst>
          </p:cNvPr>
          <p:cNvSpPr>
            <a:spLocks noGrp="1"/>
          </p:cNvSpPr>
          <p:nvPr/>
        </p:nvSpPr>
        <p:spPr>
          <a:xfrm>
            <a:off x="400050" y="4914900"/>
            <a:ext cx="24765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00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600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rental_housing_platform_db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6A0F3C06-A11F-457A-9F42-EA72FAAC0854}"/>
              </a:ext>
            </a:extLst>
          </p:cNvPr>
          <p:cNvSpPr>
            <a:spLocks noGrp="1"/>
          </p:cNvSpPr>
          <p:nvPr/>
        </p:nvSpPr>
        <p:spPr>
          <a:xfrm>
            <a:off x="8382000" y="4914900"/>
            <a:ext cx="3619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00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600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1111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ackground">
            <a:extLst>
              <a:ext uri="{FF2B5EF4-FFF2-40B4-BE49-F238E27FC236}">
                <a16:creationId xmlns:a16="http://schemas.microsoft.com/office/drawing/2014/main" id="{27E72F80-9545-414D-BDA3-FB5C8CCEA0F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title-accent">
            <a:extLst>
              <a:ext uri="{FF2B5EF4-FFF2-40B4-BE49-F238E27FC236}">
                <a16:creationId xmlns:a16="http://schemas.microsoft.com/office/drawing/2014/main" id="{0E383496-089F-455D-B323-35D0252FCFD7}"/>
              </a:ext>
            </a:extLst>
          </p:cNvPr>
          <p:cNvSpPr>
            <a:spLocks noGrp="1"/>
          </p:cNvSpPr>
          <p:nvPr/>
        </p:nvSpPr>
        <p:spPr>
          <a:xfrm>
            <a:off x="400050" y="285750"/>
            <a:ext cx="66675" cy="438150"/>
          </a:xfrm>
          <a:prstGeom prst="rect">
            <a:avLst/>
          </a:prstGeom>
          <a:solidFill>
            <a:srgbClr val="17A9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F513B46-40BF-49DB-9202-674B98972DA7}"/>
              </a:ext>
            </a:extLst>
          </p:cNvPr>
          <p:cNvSpPr>
            <a:spLocks noGrp="1"/>
          </p:cNvSpPr>
          <p:nvPr/>
        </p:nvSpPr>
        <p:spPr>
          <a:xfrm>
            <a:off x="571500" y="266700"/>
            <a:ext cx="7239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2175" b="1">
                <a:solidFill>
                  <a:srgbClr val="17151F"/>
                </a:solidFill>
                <a:latin typeface="Roboto"/>
                <a:ea typeface="Roboto"/>
                <a:cs typeface="Roboto"/>
              </a:rPr>
              <a:t>Доменная модель задает проверяемые инварианты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DB29DBD-DB2B-4BFA-A222-13402E2644C5}"/>
              </a:ext>
            </a:extLst>
          </p:cNvPr>
          <p:cNvSpPr>
            <a:spLocks noGrp="1"/>
          </p:cNvSpPr>
          <p:nvPr/>
        </p:nvSpPr>
        <p:spPr>
          <a:xfrm>
            <a:off x="571500" y="762000"/>
            <a:ext cx="723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900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схема нужна для конкретных правил предметной области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BB9E92F5-4D95-4924-BD62-433263A85452}"/>
              </a:ext>
            </a:extLst>
          </p:cNvPr>
          <p:cNvSpPr>
            <a:spLocks noGrp="1"/>
          </p:cNvSpPr>
          <p:nvPr/>
        </p:nvSpPr>
        <p:spPr>
          <a:xfrm>
            <a:off x="514350" y="1276350"/>
            <a:ext cx="3790950" cy="3429000"/>
          </a:xfrm>
          <a:prstGeom prst="roundRect">
            <a:avLst>
              <a:gd name="adj" fmla="val 2222"/>
            </a:avLst>
          </a:prstGeom>
          <a:solidFill>
            <a:srgbClr val="F5F6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60E4E52-8CDC-4F94-A1BA-A3F54FA7CB3C}"/>
              </a:ext>
            </a:extLst>
          </p:cNvPr>
          <p:cNvSpPr>
            <a:spLocks noGrp="1"/>
          </p:cNvSpPr>
          <p:nvPr/>
        </p:nvSpPr>
        <p:spPr>
          <a:xfrm>
            <a:off x="781050" y="1543050"/>
            <a:ext cx="3048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4D22B2"/>
                </a:solidFill>
                <a:latin typeface="Roboto"/>
                <a:ea typeface="Roboto"/>
                <a:cs typeface="Roboto"/>
              </a:defRPr>
            </a:pPr>
            <a:r>
              <a:rPr sz="1500" b="1">
                <a:solidFill>
                  <a:srgbClr val="4D22B2"/>
                </a:solidFill>
                <a:latin typeface="Roboto"/>
                <a:ea typeface="Roboto"/>
                <a:cs typeface="Roboto"/>
              </a:rPr>
              <a:t>Ключевые сущности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0112A5F8-FD70-4C19-AAEC-26D9BDAB8FCE}"/>
              </a:ext>
            </a:extLst>
          </p:cNvPr>
          <p:cNvSpPr>
            <a:spLocks noGrp="1"/>
          </p:cNvSpPr>
          <p:nvPr/>
        </p:nvSpPr>
        <p:spPr>
          <a:xfrm>
            <a:off x="781050" y="2000250"/>
            <a:ext cx="3143250" cy="1238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1125" b="0">
                <a:solidFill>
                  <a:srgbClr val="17151F"/>
                </a:solidFill>
                <a:latin typeface="Roboto"/>
                <a:ea typeface="Roboto"/>
                <a:cs typeface="Roboto"/>
              </a:rPr>
              <a:t>• пользователи, роли и права доступа</a:t>
            </a:r>
          </a:p>
          <a:p>
            <a:pPr algn="l">
              <a:defRPr sz="1125" b="0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1125" b="0">
                <a:solidFill>
                  <a:srgbClr val="17151F"/>
                </a:solidFill>
                <a:latin typeface="Roboto"/>
                <a:ea typeface="Roboto"/>
                <a:cs typeface="Roboto"/>
              </a:rPr>
              <a:t>• объявления, адреса, фотографии</a:t>
            </a:r>
          </a:p>
          <a:p>
            <a:pPr algn="l">
              <a:defRPr sz="1125" b="0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1125" b="0">
                <a:solidFill>
                  <a:srgbClr val="17151F"/>
                </a:solidFill>
                <a:latin typeface="Roboto"/>
                <a:ea typeface="Roboto"/>
                <a:cs typeface="Roboto"/>
              </a:rPr>
              <a:t>• календарь доступности и цены</a:t>
            </a:r>
          </a:p>
          <a:p>
            <a:pPr algn="l">
              <a:defRPr sz="1125" b="0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1125" b="0">
                <a:solidFill>
                  <a:srgbClr val="17151F"/>
                </a:solidFill>
                <a:latin typeface="Roboto"/>
                <a:ea typeface="Roboto"/>
                <a:cs typeface="Roboto"/>
              </a:rPr>
              <a:t>• бронирования, платежи и отзывы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A9D4ACC6-BF14-4CE5-A1A6-56F3649E1D28}"/>
              </a:ext>
            </a:extLst>
          </p:cNvPr>
          <p:cNvSpPr>
            <a:spLocks noGrp="1"/>
          </p:cNvSpPr>
          <p:nvPr/>
        </p:nvSpPr>
        <p:spPr>
          <a:xfrm>
            <a:off x="781050" y="3562350"/>
            <a:ext cx="31432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1050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Миграции V001-V006 создают схему последовательно, без ручного подключения к конкретному узлу PostgreSQL.</a:t>
            </a: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AD5E8CC4-6A47-48CD-96FB-71690024350D}"/>
              </a:ext>
            </a:extLst>
          </p:cNvPr>
          <p:cNvSpPr>
            <a:spLocks noGrp="1"/>
          </p:cNvSpPr>
          <p:nvPr/>
        </p:nvSpPr>
        <p:spPr>
          <a:xfrm>
            <a:off x="4762500" y="1276350"/>
            <a:ext cx="3790950" cy="3429000"/>
          </a:xfrm>
          <a:prstGeom prst="roundRect">
            <a:avLst>
              <a:gd name="adj" fmla="val 2222"/>
            </a:avLst>
          </a:prstGeom>
          <a:solidFill>
            <a:srgbClr val="F0EC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024CDF8-BA99-4DEC-9744-BCF24A1F273C}"/>
              </a:ext>
            </a:extLst>
          </p:cNvPr>
          <p:cNvSpPr>
            <a:spLocks noGrp="1"/>
          </p:cNvSpPr>
          <p:nvPr/>
        </p:nvSpPr>
        <p:spPr>
          <a:xfrm>
            <a:off x="5029200" y="1543050"/>
            <a:ext cx="3048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4D22B2"/>
                </a:solidFill>
                <a:latin typeface="Roboto"/>
                <a:ea typeface="Roboto"/>
                <a:cs typeface="Roboto"/>
              </a:defRPr>
            </a:pPr>
            <a:r>
              <a:rPr sz="1500" b="1">
                <a:solidFill>
                  <a:srgbClr val="4D22B2"/>
                </a:solidFill>
                <a:latin typeface="Roboto"/>
                <a:ea typeface="Roboto"/>
                <a:cs typeface="Roboto"/>
              </a:rPr>
              <a:t>Проверяемые правила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4A98BBC0-6D82-4AD4-8FC9-023AF55DBD31}"/>
              </a:ext>
            </a:extLst>
          </p:cNvPr>
          <p:cNvSpPr>
            <a:spLocks noGrp="1"/>
          </p:cNvSpPr>
          <p:nvPr/>
        </p:nvSpPr>
        <p:spPr>
          <a:xfrm>
            <a:off x="5029200" y="2000250"/>
            <a:ext cx="3143250" cy="1466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1125" b="0">
                <a:solidFill>
                  <a:srgbClr val="17151F"/>
                </a:solidFill>
                <a:latin typeface="Roboto"/>
                <a:ea typeface="Roboto"/>
                <a:cs typeface="Roboto"/>
              </a:rPr>
              <a:t>• один период проживания нельзя забронировать дважды</a:t>
            </a:r>
          </a:p>
          <a:p>
            <a:pPr algn="l">
              <a:defRPr sz="1125" b="0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1125" b="0">
                <a:solidFill>
                  <a:srgbClr val="17151F"/>
                </a:solidFill>
                <a:latin typeface="Roboto"/>
                <a:ea typeface="Roboto"/>
                <a:cs typeface="Roboto"/>
              </a:rPr>
              <a:t>• платеж связан с конкретным бронированием</a:t>
            </a:r>
          </a:p>
          <a:p>
            <a:pPr algn="l">
              <a:defRPr sz="1125" b="0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1125" b="0">
                <a:solidFill>
                  <a:srgbClr val="17151F"/>
                </a:solidFill>
                <a:latin typeface="Roboto"/>
                <a:ea typeface="Roboto"/>
                <a:cs typeface="Roboto"/>
              </a:rPr>
              <a:t>• статусы отражают жизненный цикл бронирования</a:t>
            </a:r>
          </a:p>
          <a:p>
            <a:pPr algn="l">
              <a:defRPr sz="1125" b="0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1125" b="0">
                <a:solidFill>
                  <a:srgbClr val="17151F"/>
                </a:solidFill>
                <a:latin typeface="Roboto"/>
                <a:ea typeface="Roboto"/>
                <a:cs typeface="Roboto"/>
              </a:rPr>
              <a:t>• отзыв допустим только после завершенного проживания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3B8A7140-774A-4E3E-937B-D5BC9C93D7BD}"/>
              </a:ext>
            </a:extLst>
          </p:cNvPr>
          <p:cNvSpPr>
            <a:spLocks noGrp="1"/>
          </p:cNvSpPr>
          <p:nvPr/>
        </p:nvSpPr>
        <p:spPr>
          <a:xfrm>
            <a:off x="5029200" y="3695700"/>
            <a:ext cx="3143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1050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Seed-данные и SQL-проверки дают воспроизводимое состояние для защиты инвариантов.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420F9255-7645-450C-B86C-8A762EA6AED2}"/>
              </a:ext>
            </a:extLst>
          </p:cNvPr>
          <p:cNvSpPr>
            <a:spLocks noGrp="1"/>
          </p:cNvSpPr>
          <p:nvPr/>
        </p:nvSpPr>
        <p:spPr>
          <a:xfrm>
            <a:off x="400050" y="4857750"/>
            <a:ext cx="8343900" cy="9525"/>
          </a:xfrm>
          <a:prstGeom prst="rect">
            <a:avLst/>
          </a:prstGeom>
          <a:solidFill>
            <a:srgbClr val="D9DC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207E2B0-ADEF-452A-98A4-1BE4BFE06B55}"/>
              </a:ext>
            </a:extLst>
          </p:cNvPr>
          <p:cNvSpPr>
            <a:spLocks noGrp="1"/>
          </p:cNvSpPr>
          <p:nvPr/>
        </p:nvSpPr>
        <p:spPr>
          <a:xfrm>
            <a:off x="400050" y="4914900"/>
            <a:ext cx="24765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00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600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rental_housing_platform_db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FE07E99-4619-4A27-838C-0755EA427446}"/>
              </a:ext>
            </a:extLst>
          </p:cNvPr>
          <p:cNvSpPr>
            <a:spLocks noGrp="1"/>
          </p:cNvSpPr>
          <p:nvPr/>
        </p:nvSpPr>
        <p:spPr>
          <a:xfrm>
            <a:off x="8382000" y="4914900"/>
            <a:ext cx="3619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00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600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840989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ackground">
            <a:extLst>
              <a:ext uri="{FF2B5EF4-FFF2-40B4-BE49-F238E27FC236}">
                <a16:creationId xmlns:a16="http://schemas.microsoft.com/office/drawing/2014/main" id="{CC431C46-427B-42A7-9DA4-BF1747B6E43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title-accent">
            <a:extLst>
              <a:ext uri="{FF2B5EF4-FFF2-40B4-BE49-F238E27FC236}">
                <a16:creationId xmlns:a16="http://schemas.microsoft.com/office/drawing/2014/main" id="{74129F61-1EAD-4C4C-84EE-8B55A3C61B9F}"/>
              </a:ext>
            </a:extLst>
          </p:cNvPr>
          <p:cNvSpPr>
            <a:spLocks noGrp="1"/>
          </p:cNvSpPr>
          <p:nvPr/>
        </p:nvSpPr>
        <p:spPr>
          <a:xfrm>
            <a:off x="400050" y="285750"/>
            <a:ext cx="66675" cy="438150"/>
          </a:xfrm>
          <a:prstGeom prst="rect">
            <a:avLst/>
          </a:prstGeom>
          <a:solidFill>
            <a:srgbClr val="17A9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B8C1E65-EB00-45E3-8703-64E4A91B6B4E}"/>
              </a:ext>
            </a:extLst>
          </p:cNvPr>
          <p:cNvSpPr>
            <a:spLocks noGrp="1"/>
          </p:cNvSpPr>
          <p:nvPr/>
        </p:nvSpPr>
        <p:spPr>
          <a:xfrm>
            <a:off x="571500" y="266700"/>
            <a:ext cx="7239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2175" b="1">
                <a:solidFill>
                  <a:srgbClr val="17151F"/>
                </a:solidFill>
                <a:latin typeface="Roboto"/>
                <a:ea typeface="Roboto"/>
                <a:cs typeface="Roboto"/>
              </a:rPr>
              <a:t>Архитектура разделяет роли компонентов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3B6A397-209A-4DE3-8234-BF251EF35487}"/>
              </a:ext>
            </a:extLst>
          </p:cNvPr>
          <p:cNvSpPr>
            <a:spLocks noGrp="1"/>
          </p:cNvSpPr>
          <p:nvPr/>
        </p:nvSpPr>
        <p:spPr>
          <a:xfrm>
            <a:off x="571500" y="762000"/>
            <a:ext cx="723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900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кластер, маршрутизация, резервное копирование и наблюдаемость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424074" y="1143000"/>
            <a:ext cx="6295853" cy="3543300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CE3DFD5-CDEC-468C-B747-5F99F1478DC6}"/>
              </a:ext>
            </a:extLst>
          </p:cNvPr>
          <p:cNvSpPr>
            <a:spLocks noGrp="1"/>
          </p:cNvSpPr>
          <p:nvPr/>
        </p:nvSpPr>
        <p:spPr>
          <a:xfrm>
            <a:off x="400050" y="4857750"/>
            <a:ext cx="8343900" cy="9525"/>
          </a:xfrm>
          <a:prstGeom prst="rect">
            <a:avLst/>
          </a:prstGeom>
          <a:solidFill>
            <a:srgbClr val="D9DC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D7D7DA5A-5884-4F35-A492-60D13E285B3B}"/>
              </a:ext>
            </a:extLst>
          </p:cNvPr>
          <p:cNvSpPr>
            <a:spLocks noGrp="1"/>
          </p:cNvSpPr>
          <p:nvPr/>
        </p:nvSpPr>
        <p:spPr>
          <a:xfrm>
            <a:off x="400050" y="4914900"/>
            <a:ext cx="24765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00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600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rental_housing_platform_db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A90CA8C1-7A3B-46B7-AFEF-D56B1B1D108B}"/>
              </a:ext>
            </a:extLst>
          </p:cNvPr>
          <p:cNvSpPr>
            <a:spLocks noGrp="1"/>
          </p:cNvSpPr>
          <p:nvPr/>
        </p:nvSpPr>
        <p:spPr>
          <a:xfrm>
            <a:off x="8382000" y="4914900"/>
            <a:ext cx="3619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00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600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37752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background">
            <a:extLst>
              <a:ext uri="{FF2B5EF4-FFF2-40B4-BE49-F238E27FC236}">
                <a16:creationId xmlns:a16="http://schemas.microsoft.com/office/drawing/2014/main" id="{2481F0A1-9A49-45EA-94DE-2959A80F3FE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title-accent">
            <a:extLst>
              <a:ext uri="{FF2B5EF4-FFF2-40B4-BE49-F238E27FC236}">
                <a16:creationId xmlns:a16="http://schemas.microsoft.com/office/drawing/2014/main" id="{3CA54726-47D4-4C03-8DB1-AFE491FE56E2}"/>
              </a:ext>
            </a:extLst>
          </p:cNvPr>
          <p:cNvSpPr>
            <a:spLocks noGrp="1"/>
          </p:cNvSpPr>
          <p:nvPr/>
        </p:nvSpPr>
        <p:spPr>
          <a:xfrm>
            <a:off x="400050" y="285750"/>
            <a:ext cx="66675" cy="438150"/>
          </a:xfrm>
          <a:prstGeom prst="rect">
            <a:avLst/>
          </a:prstGeom>
          <a:solidFill>
            <a:srgbClr val="17A9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3B466D8-32E6-4C06-BA27-39AAA741FB2D}"/>
              </a:ext>
            </a:extLst>
          </p:cNvPr>
          <p:cNvSpPr>
            <a:spLocks noGrp="1"/>
          </p:cNvSpPr>
          <p:nvPr/>
        </p:nvSpPr>
        <p:spPr>
          <a:xfrm>
            <a:off x="571500" y="266700"/>
            <a:ext cx="7239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2175" b="1">
                <a:solidFill>
                  <a:srgbClr val="17151F"/>
                </a:solidFill>
                <a:latin typeface="Roboto"/>
                <a:ea typeface="Roboto"/>
                <a:cs typeface="Roboto"/>
              </a:rPr>
              <a:t>Кворум исключает split-brain-решение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E2B33DB-F731-4D16-AD85-8B5A1ED2C935}"/>
              </a:ext>
            </a:extLst>
          </p:cNvPr>
          <p:cNvSpPr>
            <a:spLocks noGrp="1"/>
          </p:cNvSpPr>
          <p:nvPr/>
        </p:nvSpPr>
        <p:spPr>
          <a:xfrm>
            <a:off x="571500" y="762000"/>
            <a:ext cx="723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900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Patroni выбирает leader только через согласованное состояние etcd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D477A148-87B3-4E78-B7A7-99768FFF34A8}"/>
              </a:ext>
            </a:extLst>
          </p:cNvPr>
          <p:cNvSpPr>
            <a:spLocks noGrp="1"/>
          </p:cNvSpPr>
          <p:nvPr/>
        </p:nvSpPr>
        <p:spPr>
          <a:xfrm>
            <a:off x="514350" y="1257300"/>
            <a:ext cx="3429000" cy="3162300"/>
          </a:xfrm>
          <a:prstGeom prst="roundRect">
            <a:avLst>
              <a:gd name="adj" fmla="val 2410"/>
            </a:avLst>
          </a:prstGeom>
          <a:solidFill>
            <a:srgbClr val="F5F6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82230A03-034A-4036-9658-3AA753ADA924}"/>
              </a:ext>
            </a:extLst>
          </p:cNvPr>
          <p:cNvSpPr>
            <a:spLocks noGrp="1"/>
          </p:cNvSpPr>
          <p:nvPr/>
        </p:nvSpPr>
        <p:spPr>
          <a:xfrm>
            <a:off x="781050" y="1524000"/>
            <a:ext cx="2857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4D22B2"/>
                </a:solidFill>
                <a:latin typeface="Roboto"/>
                <a:ea typeface="Roboto"/>
                <a:cs typeface="Roboto"/>
              </a:defRPr>
            </a:pPr>
            <a:r>
              <a:rPr sz="1500" b="1">
                <a:solidFill>
                  <a:srgbClr val="4D22B2"/>
                </a:solidFill>
                <a:latin typeface="Roboto"/>
                <a:ea typeface="Roboto"/>
                <a:cs typeface="Roboto"/>
              </a:rPr>
              <a:t>Почему 5 узлов переживают отказ 2, но не 3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0E3E046-31D3-4983-8204-653B45A58E66}"/>
              </a:ext>
            </a:extLst>
          </p:cNvPr>
          <p:cNvSpPr>
            <a:spLocks noGrp="1"/>
          </p:cNvSpPr>
          <p:nvPr/>
        </p:nvSpPr>
        <p:spPr>
          <a:xfrm>
            <a:off x="781050" y="2190750"/>
            <a:ext cx="2781300" cy="1409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1125" b="0">
                <a:solidFill>
                  <a:srgbClr val="17151F"/>
                </a:solidFill>
                <a:latin typeface="Roboto"/>
                <a:ea typeface="Roboto"/>
                <a:cs typeface="Roboto"/>
              </a:rPr>
              <a:t>• для пяти etcd-узлов большинство равно трем</a:t>
            </a:r>
          </a:p>
          <a:p>
            <a:pPr algn="l">
              <a:defRPr sz="1125" b="0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1125" b="0">
                <a:solidFill>
                  <a:srgbClr val="17151F"/>
                </a:solidFill>
                <a:latin typeface="Roboto"/>
                <a:ea typeface="Roboto"/>
                <a:cs typeface="Roboto"/>
              </a:rPr>
              <a:t>• любое решение о leader должно получить кворум</a:t>
            </a:r>
          </a:p>
          <a:p>
            <a:pPr algn="l">
              <a:defRPr sz="1125" b="0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1125" b="0">
                <a:solidFill>
                  <a:srgbClr val="17151F"/>
                </a:solidFill>
                <a:latin typeface="Roboto"/>
                <a:ea typeface="Roboto"/>
                <a:cs typeface="Roboto"/>
              </a:rPr>
              <a:t>• два разных большинства из пяти узлов обязательно пересекаются</a:t>
            </a:r>
          </a:p>
          <a:p>
            <a:pPr algn="l">
              <a:defRPr sz="1125" b="0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1125" b="0">
                <a:solidFill>
                  <a:srgbClr val="17151F"/>
                </a:solidFill>
                <a:latin typeface="Roboto"/>
                <a:ea typeface="Roboto"/>
                <a:cs typeface="Roboto"/>
              </a:rPr>
              <a:t>• узел из пересечения не подтвердит два конфликтующих решения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96F113C-7F19-4919-9593-3AEB2E88D9A7}"/>
              </a:ext>
            </a:extLst>
          </p:cNvPr>
          <p:cNvSpPr>
            <a:spLocks noGrp="1"/>
          </p:cNvSpPr>
          <p:nvPr/>
        </p:nvSpPr>
        <p:spPr>
          <a:xfrm>
            <a:off x="781050" y="3848100"/>
            <a:ext cx="2762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975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Если осталось только два etcd-узла, безопасное согласование невозможно: это меньше большинства.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305300" y="1514475"/>
            <a:ext cx="3857625" cy="2571750"/>
          </a:xfrm>
          <a:prstGeom prst="rect">
            <a:avLst/>
          </a:prstGeom>
        </p:spPr>
      </p:pic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875A77B1-E1F7-4FAC-87F0-CD19A0EC3C39}"/>
              </a:ext>
            </a:extLst>
          </p:cNvPr>
          <p:cNvSpPr>
            <a:spLocks noGrp="1"/>
          </p:cNvSpPr>
          <p:nvPr/>
        </p:nvSpPr>
        <p:spPr>
          <a:xfrm>
            <a:off x="400050" y="4857750"/>
            <a:ext cx="8343900" cy="9525"/>
          </a:xfrm>
          <a:prstGeom prst="rect">
            <a:avLst/>
          </a:prstGeom>
          <a:solidFill>
            <a:srgbClr val="D9DC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442218F-AFB0-4318-90CB-4A9B489FD0B9}"/>
              </a:ext>
            </a:extLst>
          </p:cNvPr>
          <p:cNvSpPr>
            <a:spLocks noGrp="1"/>
          </p:cNvSpPr>
          <p:nvPr/>
        </p:nvSpPr>
        <p:spPr>
          <a:xfrm>
            <a:off x="400050" y="4914900"/>
            <a:ext cx="24765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00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600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rental_housing_platform_db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C74EE03-7C6E-4B1C-B2A1-6733DAAE8232}"/>
              </a:ext>
            </a:extLst>
          </p:cNvPr>
          <p:cNvSpPr>
            <a:spLocks noGrp="1"/>
          </p:cNvSpPr>
          <p:nvPr/>
        </p:nvSpPr>
        <p:spPr>
          <a:xfrm>
            <a:off x="8382000" y="4914900"/>
            <a:ext cx="3619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00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600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24862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background">
            <a:extLst>
              <a:ext uri="{FF2B5EF4-FFF2-40B4-BE49-F238E27FC236}">
                <a16:creationId xmlns:a16="http://schemas.microsoft.com/office/drawing/2014/main" id="{088475FE-ACAF-4B89-A732-DDC3562E989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title-accent">
            <a:extLst>
              <a:ext uri="{FF2B5EF4-FFF2-40B4-BE49-F238E27FC236}">
                <a16:creationId xmlns:a16="http://schemas.microsoft.com/office/drawing/2014/main" id="{33B190AC-8F7A-4B4E-BDFE-E443870F466A}"/>
              </a:ext>
            </a:extLst>
          </p:cNvPr>
          <p:cNvSpPr>
            <a:spLocks noGrp="1"/>
          </p:cNvSpPr>
          <p:nvPr/>
        </p:nvSpPr>
        <p:spPr>
          <a:xfrm>
            <a:off x="400050" y="285750"/>
            <a:ext cx="66675" cy="438150"/>
          </a:xfrm>
          <a:prstGeom prst="rect">
            <a:avLst/>
          </a:prstGeom>
          <a:solidFill>
            <a:srgbClr val="17A9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2C89156-50A7-4E22-9DA7-307D2BCCE8B3}"/>
              </a:ext>
            </a:extLst>
          </p:cNvPr>
          <p:cNvSpPr>
            <a:spLocks noGrp="1"/>
          </p:cNvSpPr>
          <p:nvPr/>
        </p:nvSpPr>
        <p:spPr>
          <a:xfrm>
            <a:off x="571500" y="266700"/>
            <a:ext cx="7239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2175" b="1">
                <a:solidFill>
                  <a:srgbClr val="17151F"/>
                </a:solidFill>
                <a:latin typeface="Roboto"/>
                <a:ea typeface="Roboto"/>
                <a:cs typeface="Roboto"/>
              </a:rPr>
              <a:t>Клиентский доступ отделен от физического primary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C19C444-62DA-42A2-927C-F8BBBCDA359D}"/>
              </a:ext>
            </a:extLst>
          </p:cNvPr>
          <p:cNvSpPr>
            <a:spLocks noGrp="1"/>
          </p:cNvSpPr>
          <p:nvPr/>
        </p:nvSpPr>
        <p:spPr>
          <a:xfrm>
            <a:off x="571500" y="762000"/>
            <a:ext cx="723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900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PgBouncer и HAProxy дают стабильные точки подключения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76250" y="1409700"/>
            <a:ext cx="4171950" cy="2781300"/>
          </a:xfrm>
          <a:prstGeom prst="rect">
            <a:avLst/>
          </a:prstGeom>
        </p:spPr>
      </p:pic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F0E37362-282F-4C9B-AFBE-56298C4CBF12}"/>
              </a:ext>
            </a:extLst>
          </p:cNvPr>
          <p:cNvSpPr>
            <a:spLocks noGrp="1"/>
          </p:cNvSpPr>
          <p:nvPr/>
        </p:nvSpPr>
        <p:spPr>
          <a:xfrm>
            <a:off x="5105400" y="1371600"/>
            <a:ext cx="3219450" cy="1181100"/>
          </a:xfrm>
          <a:prstGeom prst="roundRect">
            <a:avLst>
              <a:gd name="adj" fmla="val 6452"/>
            </a:avLst>
          </a:prstGeom>
          <a:solidFill>
            <a:srgbClr val="F5F6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95AAFD1-C735-4AA4-8033-1AAE324BDBB5}"/>
              </a:ext>
            </a:extLst>
          </p:cNvPr>
          <p:cNvSpPr>
            <a:spLocks noGrp="1"/>
          </p:cNvSpPr>
          <p:nvPr/>
        </p:nvSpPr>
        <p:spPr>
          <a:xfrm>
            <a:off x="5334000" y="1581150"/>
            <a:ext cx="2476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4D22B2"/>
                </a:solidFill>
                <a:latin typeface="Roboto"/>
                <a:ea typeface="Roboto"/>
                <a:cs typeface="Roboto"/>
              </a:defRPr>
            </a:pPr>
            <a:r>
              <a:rPr sz="1500" b="1">
                <a:solidFill>
                  <a:srgbClr val="4D22B2"/>
                </a:solidFill>
                <a:latin typeface="Roboto"/>
                <a:ea typeface="Roboto"/>
                <a:cs typeface="Roboto"/>
              </a:rPr>
              <a:t>Маршрутизация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1564368-3566-48C3-8DF1-9D9FAE6C3F78}"/>
              </a:ext>
            </a:extLst>
          </p:cNvPr>
          <p:cNvSpPr>
            <a:spLocks noGrp="1"/>
          </p:cNvSpPr>
          <p:nvPr/>
        </p:nvSpPr>
        <p:spPr>
          <a:xfrm>
            <a:off x="5334000" y="2000250"/>
            <a:ext cx="26670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1050" b="0">
                <a:solidFill>
                  <a:srgbClr val="17151F"/>
                </a:solidFill>
                <a:latin typeface="Roboto"/>
                <a:ea typeface="Roboto"/>
                <a:cs typeface="Roboto"/>
              </a:rPr>
              <a:t>Запись идет на текущий основной узел, чтение может идти на реплики или на primary в строгом режиме.</a:t>
            </a: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99D0F5E5-EC55-4D1D-9569-7B7D2AC04EB0}"/>
              </a:ext>
            </a:extLst>
          </p:cNvPr>
          <p:cNvSpPr>
            <a:spLocks noGrp="1"/>
          </p:cNvSpPr>
          <p:nvPr/>
        </p:nvSpPr>
        <p:spPr>
          <a:xfrm>
            <a:off x="5105400" y="2857500"/>
            <a:ext cx="3219450" cy="1524000"/>
          </a:xfrm>
          <a:prstGeom prst="roundRect">
            <a:avLst>
              <a:gd name="adj" fmla="val 6452"/>
            </a:avLst>
          </a:prstGeom>
          <a:solidFill>
            <a:srgbClr val="F0EC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1CBE413-B0AE-4ACD-B984-156D9F5F6081}"/>
              </a:ext>
            </a:extLst>
          </p:cNvPr>
          <p:cNvSpPr>
            <a:spLocks noGrp="1"/>
          </p:cNvSpPr>
          <p:nvPr/>
        </p:nvSpPr>
        <p:spPr>
          <a:xfrm>
            <a:off x="5334000" y="3067050"/>
            <a:ext cx="2476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7A9D6"/>
                </a:solidFill>
                <a:latin typeface="Roboto"/>
                <a:ea typeface="Roboto"/>
                <a:cs typeface="Roboto"/>
              </a:defRPr>
            </a:pPr>
            <a:r>
              <a:rPr sz="1500" b="1">
                <a:solidFill>
                  <a:srgbClr val="17A9D6"/>
                </a:solidFill>
                <a:latin typeface="Roboto"/>
                <a:ea typeface="Roboto"/>
                <a:cs typeface="Roboto"/>
              </a:rPr>
              <a:t>RPO = 0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331CB18-DC4B-4709-9240-F69A559ABD07}"/>
              </a:ext>
            </a:extLst>
          </p:cNvPr>
          <p:cNvSpPr>
            <a:spLocks noGrp="1"/>
          </p:cNvSpPr>
          <p:nvPr/>
        </p:nvSpPr>
        <p:spPr>
          <a:xfrm>
            <a:off x="5334000" y="3486150"/>
            <a:ext cx="2667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1050" b="0">
                <a:solidFill>
                  <a:srgbClr val="17151F"/>
                </a:solidFill>
                <a:latin typeface="Roboto"/>
                <a:ea typeface="Roboto"/>
                <a:cs typeface="Roboto"/>
              </a:rPr>
              <a:t>Коммит подтверждается после записи на primary и две синхронные реплики. Если реплик недостаточно, запись останавливается.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1599260-7575-4477-90C0-8501F463D005}"/>
              </a:ext>
            </a:extLst>
          </p:cNvPr>
          <p:cNvSpPr>
            <a:spLocks noGrp="1"/>
          </p:cNvSpPr>
          <p:nvPr/>
        </p:nvSpPr>
        <p:spPr>
          <a:xfrm>
            <a:off x="400050" y="4857750"/>
            <a:ext cx="8343900" cy="9525"/>
          </a:xfrm>
          <a:prstGeom prst="rect">
            <a:avLst/>
          </a:prstGeom>
          <a:solidFill>
            <a:srgbClr val="D9DC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17E769A-8C53-4E4C-8804-4BEFFF064CCC}"/>
              </a:ext>
            </a:extLst>
          </p:cNvPr>
          <p:cNvSpPr>
            <a:spLocks noGrp="1"/>
          </p:cNvSpPr>
          <p:nvPr/>
        </p:nvSpPr>
        <p:spPr>
          <a:xfrm>
            <a:off x="400050" y="4914900"/>
            <a:ext cx="24765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00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600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rental_housing_platform_db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2A1E1BE-97D0-42AC-AED1-DFCE9805855D}"/>
              </a:ext>
            </a:extLst>
          </p:cNvPr>
          <p:cNvSpPr>
            <a:spLocks noGrp="1"/>
          </p:cNvSpPr>
          <p:nvPr/>
        </p:nvSpPr>
        <p:spPr>
          <a:xfrm>
            <a:off x="8382000" y="4914900"/>
            <a:ext cx="3619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00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600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7131790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background">
            <a:extLst>
              <a:ext uri="{FF2B5EF4-FFF2-40B4-BE49-F238E27FC236}">
                <a16:creationId xmlns:a16="http://schemas.microsoft.com/office/drawing/2014/main" id="{351C8819-A5F9-4467-BEBB-F3FA881A4F5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title-accent">
            <a:extLst>
              <a:ext uri="{FF2B5EF4-FFF2-40B4-BE49-F238E27FC236}">
                <a16:creationId xmlns:a16="http://schemas.microsoft.com/office/drawing/2014/main" id="{E8AC7F1D-F5E1-441D-B3C9-9D545F5258D0}"/>
              </a:ext>
            </a:extLst>
          </p:cNvPr>
          <p:cNvSpPr>
            <a:spLocks noGrp="1"/>
          </p:cNvSpPr>
          <p:nvPr/>
        </p:nvSpPr>
        <p:spPr>
          <a:xfrm>
            <a:off x="400050" y="285750"/>
            <a:ext cx="66675" cy="438150"/>
          </a:xfrm>
          <a:prstGeom prst="rect">
            <a:avLst/>
          </a:prstGeom>
          <a:solidFill>
            <a:srgbClr val="17A9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3DE0612-118C-46B2-8C9F-8C8D4F0357C6}"/>
              </a:ext>
            </a:extLst>
          </p:cNvPr>
          <p:cNvSpPr>
            <a:spLocks noGrp="1"/>
          </p:cNvSpPr>
          <p:nvPr/>
        </p:nvSpPr>
        <p:spPr>
          <a:xfrm>
            <a:off x="571500" y="266700"/>
            <a:ext cx="7239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2175" b="1">
                <a:solidFill>
                  <a:srgbClr val="17151F"/>
                </a:solidFill>
                <a:latin typeface="Roboto"/>
                <a:ea typeface="Roboto"/>
                <a:cs typeface="Roboto"/>
              </a:rPr>
              <a:t>Резервное восстановление защищает данные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679B2CC-E3EA-4A3F-BC6E-727ACFF8D2FF}"/>
              </a:ext>
            </a:extLst>
          </p:cNvPr>
          <p:cNvSpPr>
            <a:spLocks noGrp="1"/>
          </p:cNvSpPr>
          <p:nvPr/>
        </p:nvSpPr>
        <p:spPr>
          <a:xfrm>
            <a:off x="571500" y="762000"/>
            <a:ext cx="723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900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от логических ошибок через полную копию и архив WAL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95300" y="1216025"/>
            <a:ext cx="4838700" cy="3225800"/>
          </a:xfrm>
          <a:prstGeom prst="rect">
            <a:avLst/>
          </a:prstGeom>
        </p:spPr>
      </p:pic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836C5B3C-D9DD-4DD9-B737-3E50D047A5A8}"/>
              </a:ext>
            </a:extLst>
          </p:cNvPr>
          <p:cNvSpPr>
            <a:spLocks noGrp="1"/>
          </p:cNvSpPr>
          <p:nvPr/>
        </p:nvSpPr>
        <p:spPr>
          <a:xfrm>
            <a:off x="5715000" y="1333500"/>
            <a:ext cx="2800350" cy="495300"/>
          </a:xfrm>
          <a:prstGeom prst="roundRect">
            <a:avLst>
              <a:gd name="adj" fmla="val 15385"/>
            </a:avLst>
          </a:prstGeom>
          <a:solidFill>
            <a:srgbClr val="3164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E83DD0A-34FE-464D-BB86-B0A9632327AC}"/>
              </a:ext>
            </a:extLst>
          </p:cNvPr>
          <p:cNvSpPr>
            <a:spLocks noGrp="1"/>
          </p:cNvSpPr>
          <p:nvPr/>
        </p:nvSpPr>
        <p:spPr>
          <a:xfrm>
            <a:off x="5848350" y="1466850"/>
            <a:ext cx="2476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13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38D5972-6D96-440D-8DDB-C21C52141347}"/>
              </a:ext>
            </a:extLst>
          </p:cNvPr>
          <p:cNvSpPr>
            <a:spLocks noGrp="1"/>
          </p:cNvSpPr>
          <p:nvPr/>
        </p:nvSpPr>
        <p:spPr>
          <a:xfrm>
            <a:off x="6172200" y="1509712"/>
            <a:ext cx="2247900" cy="161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1050" b="1" dirty="0" err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Полная</a:t>
            </a:r>
            <a:r>
              <a:rPr sz="10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резервная</a:t>
            </a:r>
            <a:r>
              <a:rPr sz="10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копия</a:t>
            </a:r>
            <a:endParaRPr sz="1050" b="1" dirty="0">
              <a:solidFill>
                <a:srgbClr val="FFFFFF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BFAE0A82-6290-432B-AD2D-855A8D9142E1}"/>
              </a:ext>
            </a:extLst>
          </p:cNvPr>
          <p:cNvSpPr>
            <a:spLocks noGrp="1"/>
          </p:cNvSpPr>
          <p:nvPr/>
        </p:nvSpPr>
        <p:spPr>
          <a:xfrm>
            <a:off x="5715000" y="2057400"/>
            <a:ext cx="2800350" cy="495300"/>
          </a:xfrm>
          <a:prstGeom prst="roundRect">
            <a:avLst>
              <a:gd name="adj" fmla="val 15385"/>
            </a:avLst>
          </a:prstGeom>
          <a:solidFill>
            <a:srgbClr val="4D22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A002D60D-123D-4FA7-A920-7E2B20ABEF9F}"/>
              </a:ext>
            </a:extLst>
          </p:cNvPr>
          <p:cNvSpPr>
            <a:spLocks noGrp="1"/>
          </p:cNvSpPr>
          <p:nvPr/>
        </p:nvSpPr>
        <p:spPr>
          <a:xfrm>
            <a:off x="5848350" y="2190750"/>
            <a:ext cx="2476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1350" b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2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7E1B132-4347-4EA1-A7BD-D3373B880908}"/>
              </a:ext>
            </a:extLst>
          </p:cNvPr>
          <p:cNvSpPr>
            <a:spLocks noGrp="1"/>
          </p:cNvSpPr>
          <p:nvPr/>
        </p:nvSpPr>
        <p:spPr>
          <a:xfrm>
            <a:off x="6172200" y="2228850"/>
            <a:ext cx="2247900" cy="1428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1050" b="1" dirty="0" err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Непрерывный</a:t>
            </a:r>
            <a:r>
              <a:rPr sz="10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архив</a:t>
            </a:r>
            <a:r>
              <a:rPr sz="10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 WAL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541CEB74-FAE0-4545-8B41-9F577CE39153}"/>
              </a:ext>
            </a:extLst>
          </p:cNvPr>
          <p:cNvSpPr>
            <a:spLocks noGrp="1"/>
          </p:cNvSpPr>
          <p:nvPr/>
        </p:nvSpPr>
        <p:spPr>
          <a:xfrm>
            <a:off x="5715000" y="2781300"/>
            <a:ext cx="2800350" cy="495300"/>
          </a:xfrm>
          <a:prstGeom prst="roundRect">
            <a:avLst>
              <a:gd name="adj" fmla="val 15385"/>
            </a:avLst>
          </a:prstGeom>
          <a:solidFill>
            <a:srgbClr val="24106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4423763C-0D2A-47E1-B3B7-6B718EEDC6A9}"/>
              </a:ext>
            </a:extLst>
          </p:cNvPr>
          <p:cNvSpPr>
            <a:spLocks noGrp="1"/>
          </p:cNvSpPr>
          <p:nvPr/>
        </p:nvSpPr>
        <p:spPr>
          <a:xfrm>
            <a:off x="5848350" y="2914650"/>
            <a:ext cx="2476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1350" b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C311E82F-262A-4369-8975-A13DF74B17DF}"/>
              </a:ext>
            </a:extLst>
          </p:cNvPr>
          <p:cNvSpPr>
            <a:spLocks noGrp="1"/>
          </p:cNvSpPr>
          <p:nvPr/>
        </p:nvSpPr>
        <p:spPr>
          <a:xfrm>
            <a:off x="6172200" y="2957512"/>
            <a:ext cx="2247900" cy="161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1050" b="1" dirty="0" err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Выбор</a:t>
            </a:r>
            <a:r>
              <a:rPr sz="10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момента</a:t>
            </a:r>
            <a:r>
              <a:rPr sz="10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до</a:t>
            </a:r>
            <a:r>
              <a:rPr sz="10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ошибки</a:t>
            </a:r>
            <a:endParaRPr sz="1050" b="1" dirty="0">
              <a:solidFill>
                <a:srgbClr val="FFFFFF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41F8141F-16F7-41E5-A55A-53B41C590934}"/>
              </a:ext>
            </a:extLst>
          </p:cNvPr>
          <p:cNvSpPr>
            <a:spLocks noGrp="1"/>
          </p:cNvSpPr>
          <p:nvPr/>
        </p:nvSpPr>
        <p:spPr>
          <a:xfrm>
            <a:off x="5715000" y="3505200"/>
            <a:ext cx="2800350" cy="495300"/>
          </a:xfrm>
          <a:prstGeom prst="roundRect">
            <a:avLst>
              <a:gd name="adj" fmla="val 15385"/>
            </a:avLst>
          </a:prstGeom>
          <a:solidFill>
            <a:srgbClr val="17A9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3D0DE95-0697-4E60-89CA-C3077F92F472}"/>
              </a:ext>
            </a:extLst>
          </p:cNvPr>
          <p:cNvSpPr>
            <a:spLocks noGrp="1"/>
          </p:cNvSpPr>
          <p:nvPr/>
        </p:nvSpPr>
        <p:spPr>
          <a:xfrm>
            <a:off x="5848350" y="3638550"/>
            <a:ext cx="2476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1350" b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4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928A7F04-F55E-4519-979D-C606070FCA99}"/>
              </a:ext>
            </a:extLst>
          </p:cNvPr>
          <p:cNvSpPr>
            <a:spLocks noGrp="1"/>
          </p:cNvSpPr>
          <p:nvPr/>
        </p:nvSpPr>
        <p:spPr>
          <a:xfrm>
            <a:off x="6172200" y="3629025"/>
            <a:ext cx="22479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1050" b="1" dirty="0" err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Восстановительный</a:t>
            </a:r>
            <a:r>
              <a:rPr sz="10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узел</a:t>
            </a:r>
            <a:endParaRPr sz="1050" b="1" dirty="0">
              <a:solidFill>
                <a:srgbClr val="FFFFFF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C6BFEB67-6951-4928-8BDF-1E75975D80CA}"/>
              </a:ext>
            </a:extLst>
          </p:cNvPr>
          <p:cNvSpPr>
            <a:spLocks noGrp="1"/>
          </p:cNvSpPr>
          <p:nvPr/>
        </p:nvSpPr>
        <p:spPr>
          <a:xfrm>
            <a:off x="5715000" y="4343400"/>
            <a:ext cx="28575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975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PITR нужен для возврата к состоянию до ошибочного DELETE, UPDATE, DROP или неудачной миграции.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F921D1D-156F-4695-8A52-D5FACF4F680C}"/>
              </a:ext>
            </a:extLst>
          </p:cNvPr>
          <p:cNvSpPr>
            <a:spLocks noGrp="1"/>
          </p:cNvSpPr>
          <p:nvPr/>
        </p:nvSpPr>
        <p:spPr>
          <a:xfrm>
            <a:off x="400050" y="4857750"/>
            <a:ext cx="8343900" cy="9525"/>
          </a:xfrm>
          <a:prstGeom prst="rect">
            <a:avLst/>
          </a:prstGeom>
          <a:solidFill>
            <a:srgbClr val="D9DC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0E79956-ABC8-4DF5-BA56-DF3FBEEEEFB2}"/>
              </a:ext>
            </a:extLst>
          </p:cNvPr>
          <p:cNvSpPr>
            <a:spLocks noGrp="1"/>
          </p:cNvSpPr>
          <p:nvPr/>
        </p:nvSpPr>
        <p:spPr>
          <a:xfrm>
            <a:off x="400050" y="4914900"/>
            <a:ext cx="24765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00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600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rental_housing_platform_db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F2A00678-BF0C-41CE-9055-1E86DA5758AB}"/>
              </a:ext>
            </a:extLst>
          </p:cNvPr>
          <p:cNvSpPr>
            <a:spLocks noGrp="1"/>
          </p:cNvSpPr>
          <p:nvPr/>
        </p:nvSpPr>
        <p:spPr>
          <a:xfrm>
            <a:off x="8382000" y="4914900"/>
            <a:ext cx="3619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00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600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37723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background">
            <a:extLst>
              <a:ext uri="{FF2B5EF4-FFF2-40B4-BE49-F238E27FC236}">
                <a16:creationId xmlns:a16="http://schemas.microsoft.com/office/drawing/2014/main" id="{8B013400-6631-40BA-9125-AFBA5A90162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title-accent">
            <a:extLst>
              <a:ext uri="{FF2B5EF4-FFF2-40B4-BE49-F238E27FC236}">
                <a16:creationId xmlns:a16="http://schemas.microsoft.com/office/drawing/2014/main" id="{F253BFAB-75B9-4AA0-902B-083CEDDE46BD}"/>
              </a:ext>
            </a:extLst>
          </p:cNvPr>
          <p:cNvSpPr>
            <a:spLocks noGrp="1"/>
          </p:cNvSpPr>
          <p:nvPr/>
        </p:nvSpPr>
        <p:spPr>
          <a:xfrm>
            <a:off x="400050" y="285750"/>
            <a:ext cx="66675" cy="438150"/>
          </a:xfrm>
          <a:prstGeom prst="rect">
            <a:avLst/>
          </a:prstGeom>
          <a:solidFill>
            <a:srgbClr val="17A9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5215AB1C-34CE-47D2-BD19-946DF03441FA}"/>
              </a:ext>
            </a:extLst>
          </p:cNvPr>
          <p:cNvSpPr>
            <a:spLocks noGrp="1"/>
          </p:cNvSpPr>
          <p:nvPr/>
        </p:nvSpPr>
        <p:spPr>
          <a:xfrm>
            <a:off x="571500" y="266700"/>
            <a:ext cx="7239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2175" b="1">
                <a:solidFill>
                  <a:srgbClr val="17151F"/>
                </a:solidFill>
                <a:latin typeface="Roboto"/>
                <a:ea typeface="Roboto"/>
                <a:cs typeface="Roboto"/>
              </a:rPr>
              <a:t>Наблюдаемость покрывает все критические контуры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4D88798-D973-4998-BC95-8EEFBD8C04F8}"/>
              </a:ext>
            </a:extLst>
          </p:cNvPr>
          <p:cNvSpPr>
            <a:spLocks noGrp="1"/>
          </p:cNvSpPr>
          <p:nvPr/>
        </p:nvSpPr>
        <p:spPr>
          <a:xfrm>
            <a:off x="571500" y="762000"/>
            <a:ext cx="723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900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PMM дополняется custom exporter-ом проекта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860436FE-FCE0-45B9-BD29-617E479E51B7}"/>
              </a:ext>
            </a:extLst>
          </p:cNvPr>
          <p:cNvSpPr>
            <a:spLocks noGrp="1"/>
          </p:cNvSpPr>
          <p:nvPr/>
        </p:nvSpPr>
        <p:spPr>
          <a:xfrm>
            <a:off x="495300" y="1219200"/>
            <a:ext cx="3429000" cy="3429000"/>
          </a:xfrm>
          <a:prstGeom prst="roundRect">
            <a:avLst>
              <a:gd name="adj" fmla="val 2222"/>
            </a:avLst>
          </a:prstGeom>
          <a:solidFill>
            <a:srgbClr val="F5F6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350DF3C-100E-4480-BE13-C4A8BDEDC244}"/>
              </a:ext>
            </a:extLst>
          </p:cNvPr>
          <p:cNvSpPr>
            <a:spLocks noGrp="1"/>
          </p:cNvSpPr>
          <p:nvPr/>
        </p:nvSpPr>
        <p:spPr>
          <a:xfrm>
            <a:off x="742950" y="1466850"/>
            <a:ext cx="2857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4D22B2"/>
                </a:solidFill>
                <a:latin typeface="Roboto"/>
                <a:ea typeface="Roboto"/>
                <a:cs typeface="Roboto"/>
              </a:defRPr>
            </a:pPr>
            <a:r>
              <a:rPr sz="1500" b="1">
                <a:solidFill>
                  <a:srgbClr val="4D22B2"/>
                </a:solidFill>
                <a:latin typeface="Roboto"/>
                <a:ea typeface="Roboto"/>
                <a:cs typeface="Roboto"/>
              </a:rPr>
              <a:t>Что контролируется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A6FF75B-C12A-4756-9246-9F64D63569A0}"/>
              </a:ext>
            </a:extLst>
          </p:cNvPr>
          <p:cNvSpPr>
            <a:spLocks noGrp="1"/>
          </p:cNvSpPr>
          <p:nvPr/>
        </p:nvSpPr>
        <p:spPr>
          <a:xfrm>
            <a:off x="742950" y="1962150"/>
            <a:ext cx="2857500" cy="1381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1125" b="0">
                <a:solidFill>
                  <a:srgbClr val="17151F"/>
                </a:solidFill>
                <a:latin typeface="Roboto"/>
                <a:ea typeface="Roboto"/>
                <a:cs typeface="Roboto"/>
              </a:rPr>
              <a:t>• PostgreSQL и роли Patroni</a:t>
            </a:r>
          </a:p>
          <a:p>
            <a:pPr algn="l">
              <a:defRPr sz="1125" b="0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1125" b="0">
                <a:solidFill>
                  <a:srgbClr val="17151F"/>
                </a:solidFill>
                <a:latin typeface="Roboto"/>
                <a:ea typeface="Roboto"/>
                <a:cs typeface="Roboto"/>
              </a:rPr>
              <a:t>• кворум etcd</a:t>
            </a:r>
          </a:p>
          <a:p>
            <a:pPr algn="l">
              <a:defRPr sz="1125" b="0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1125" b="0">
                <a:solidFill>
                  <a:srgbClr val="17151F"/>
                </a:solidFill>
                <a:latin typeface="Roboto"/>
                <a:ea typeface="Roboto"/>
                <a:cs typeface="Roboto"/>
              </a:rPr>
              <a:t>• PgBouncer и HAProxy</a:t>
            </a:r>
          </a:p>
          <a:p>
            <a:pPr algn="l">
              <a:defRPr sz="1125" b="0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1125" b="0">
                <a:solidFill>
                  <a:srgbClr val="17151F"/>
                </a:solidFill>
                <a:latin typeface="Roboto"/>
                <a:ea typeface="Roboto"/>
                <a:cs typeface="Roboto"/>
              </a:rPr>
              <a:t>• MinIO и pgBackRest</a:t>
            </a:r>
          </a:p>
          <a:p>
            <a:pPr algn="l">
              <a:defRPr sz="1125" b="0">
                <a:solidFill>
                  <a:srgbClr val="17151F"/>
                </a:solidFill>
                <a:latin typeface="Roboto"/>
                <a:ea typeface="Roboto"/>
                <a:cs typeface="Roboto"/>
              </a:defRPr>
            </a:pPr>
            <a:r>
              <a:rPr sz="1125" b="0">
                <a:solidFill>
                  <a:srgbClr val="17151F"/>
                </a:solidFill>
                <a:latin typeface="Roboto"/>
                <a:ea typeface="Roboto"/>
                <a:cs typeface="Roboto"/>
              </a:rPr>
              <a:t>• backup-worker-a и backup-worker-b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614ED9F-57CB-4D3F-B6E7-26FA329BB1AD}"/>
              </a:ext>
            </a:extLst>
          </p:cNvPr>
          <p:cNvSpPr>
            <a:spLocks noGrp="1"/>
          </p:cNvSpPr>
          <p:nvPr/>
        </p:nvSpPr>
        <p:spPr>
          <a:xfrm>
            <a:off x="742950" y="3638550"/>
            <a:ext cx="2781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1050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Главный дашборд показывает агрегированную таблицу состояния компонентов, чтобы быстро локализовать деградацию.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400550" y="1848520"/>
            <a:ext cx="3829050" cy="1884611"/>
          </a:xfrm>
          <a:prstGeom prst="rect">
            <a:avLst/>
          </a:prstGeom>
        </p:spPr>
      </p:pic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2163ED8-4739-439B-816A-779BEF76ACF2}"/>
              </a:ext>
            </a:extLst>
          </p:cNvPr>
          <p:cNvSpPr>
            <a:spLocks noGrp="1"/>
          </p:cNvSpPr>
          <p:nvPr/>
        </p:nvSpPr>
        <p:spPr>
          <a:xfrm>
            <a:off x="400050" y="4857750"/>
            <a:ext cx="8343900" cy="9525"/>
          </a:xfrm>
          <a:prstGeom prst="rect">
            <a:avLst/>
          </a:prstGeom>
          <a:solidFill>
            <a:srgbClr val="D9DCE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87845EE-6D7A-44D3-957E-96B335C59201}"/>
              </a:ext>
            </a:extLst>
          </p:cNvPr>
          <p:cNvSpPr>
            <a:spLocks noGrp="1"/>
          </p:cNvSpPr>
          <p:nvPr/>
        </p:nvSpPr>
        <p:spPr>
          <a:xfrm>
            <a:off x="400050" y="4914900"/>
            <a:ext cx="24765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00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600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rental_housing_platform_db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8D298515-88AD-438A-AE3E-00EEE225AAF4}"/>
              </a:ext>
            </a:extLst>
          </p:cNvPr>
          <p:cNvSpPr>
            <a:spLocks noGrp="1"/>
          </p:cNvSpPr>
          <p:nvPr/>
        </p:nvSpPr>
        <p:spPr>
          <a:xfrm>
            <a:off x="8382000" y="4914900"/>
            <a:ext cx="3619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00" b="0">
                <a:solidFill>
                  <a:srgbClr val="5D6270"/>
                </a:solidFill>
                <a:latin typeface="Roboto"/>
                <a:ea typeface="Roboto"/>
                <a:cs typeface="Roboto"/>
              </a:defRPr>
            </a:pPr>
            <a:r>
              <a:rPr sz="600" b="0">
                <a:solidFill>
                  <a:srgbClr val="5D6270"/>
                </a:solidFill>
                <a:latin typeface="Roboto"/>
                <a:ea typeface="Roboto"/>
                <a:cs typeface="Robot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7247419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">
            <a:extLst>
              <a:ext uri="{FF2B5EF4-FFF2-40B4-BE49-F238E27FC236}">
                <a16:creationId xmlns:a16="http://schemas.microsoft.com/office/drawing/2014/main" id="{7A522EF8-E2DC-402B-AEE4-F9397B0579F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106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BD2F60A-4892-45D1-84A6-EFC028214C4F}"/>
              </a:ext>
            </a:extLst>
          </p:cNvPr>
          <p:cNvSpPr>
            <a:spLocks noGrp="1"/>
          </p:cNvSpPr>
          <p:nvPr/>
        </p:nvSpPr>
        <p:spPr>
          <a:xfrm>
            <a:off x="819150" y="704850"/>
            <a:ext cx="72390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0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3000" b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Итоги проекта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D98EF42-C8C2-46F5-B20B-49C1BC1794BD}"/>
              </a:ext>
            </a:extLst>
          </p:cNvPr>
          <p:cNvSpPr>
            <a:spLocks noGrp="1"/>
          </p:cNvSpPr>
          <p:nvPr/>
        </p:nvSpPr>
        <p:spPr>
          <a:xfrm>
            <a:off x="876300" y="1619250"/>
            <a:ext cx="68580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1500" b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• Доменная схема и миграции создают проверяемую модель данных.</a:t>
            </a:r>
          </a:p>
          <a:p>
            <a:pPr algn="l">
              <a:defRPr sz="1500" b="0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1500" b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• Patroni, etcd и синхронные реплики обеспечивают отказоустойчивость подтвержденной записи.</a:t>
            </a:r>
          </a:p>
          <a:p>
            <a:pPr algn="l">
              <a:defRPr sz="1500" b="0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1500" b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• pgBackRest, архив WAL и PITR отделяют восстановление от логических ошибок.</a:t>
            </a:r>
          </a:p>
          <a:p>
            <a:pPr algn="l">
              <a:defRPr sz="1500" b="0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1500" b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• PMM показывает состояние узлов, прокси, резервного контура и рабочих контейнеров.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85103DBC-0218-4923-A425-0E1E0A70997B}"/>
              </a:ext>
            </a:extLst>
          </p:cNvPr>
          <p:cNvSpPr>
            <a:spLocks noGrp="1"/>
          </p:cNvSpPr>
          <p:nvPr/>
        </p:nvSpPr>
        <p:spPr>
          <a:xfrm>
            <a:off x="876300" y="3886200"/>
            <a:ext cx="6858000" cy="628650"/>
          </a:xfrm>
          <a:prstGeom prst="roundRect">
            <a:avLst>
              <a:gd name="adj" fmla="val 12121"/>
            </a:avLst>
          </a:prstGeom>
          <a:solidFill>
            <a:srgbClr val="FFFFFF">
              <a:alpha val="12157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FFD69557-5E0C-4B3C-81AE-29055295BD89}"/>
              </a:ext>
            </a:extLst>
          </p:cNvPr>
          <p:cNvSpPr>
            <a:spLocks noGrp="1"/>
          </p:cNvSpPr>
          <p:nvPr/>
        </p:nvSpPr>
        <p:spPr>
          <a:xfrm>
            <a:off x="1123950" y="4048125"/>
            <a:ext cx="6286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E6E4FF"/>
                </a:solidFill>
                <a:latin typeface="Roboto"/>
                <a:ea typeface="Roboto"/>
                <a:cs typeface="Roboto"/>
              </a:defRPr>
            </a:pPr>
            <a:r>
              <a:rPr sz="1050" b="0">
                <a:solidFill>
                  <a:srgbClr val="E6E4FF"/>
                </a:solidFill>
                <a:latin typeface="Roboto"/>
                <a:ea typeface="Roboto"/>
                <a:cs typeface="Roboto"/>
              </a:rPr>
              <a:t>Для промышленной эксплуатации потребуются внешнее S3-совместимое хранилище, управление секретами, размещение по зонам отказа и регламентные проверки восстановления.</a:t>
            </a:r>
          </a:p>
        </p:txBody>
      </p:sp>
    </p:spTree>
    <p:extLst>
      <p:ext uri="{BB962C8B-B14F-4D97-AF65-F5344CB8AC3E}">
        <p14:creationId xmlns:p14="http://schemas.microsoft.com/office/powerpoint/2010/main" val="1075984661"/>
      </p:ext>
    </p:extLst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593</Words>
  <Application>Microsoft Office PowerPoint</Application>
  <DocSecurity>0</DocSecurity>
  <PresentationFormat>Экран (16:9)</PresentationFormat>
  <Paragraphs>110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Arial</vt:lpstr>
      <vt:lpstr>Courier New</vt:lpstr>
      <vt:lpstr>Roboto</vt:lpstr>
      <vt:lpstr>Светлая тема</vt:lpstr>
      <vt:lpstr>Светлая тема</vt:lpstr>
      <vt:lpstr>Светлая тема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Yakov Sidin</cp:lastModifiedBy>
  <cp:revision>2</cp:revision>
  <dcterms:created xsi:type="dcterms:W3CDTF">2026-06-04T15:02:04Z</dcterms:created>
  <dcterms:modified xsi:type="dcterms:W3CDTF">2026-06-04T15:13:42Z</dcterms:modified>
</cp:coreProperties>
</file>