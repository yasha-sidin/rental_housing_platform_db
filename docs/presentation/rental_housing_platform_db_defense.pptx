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74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5C0336-903C-4461-808E-CB701BA6F4ED}">
  <a:tblStyle styleId="{725C0336-903C-4461-808E-CB701BA6F4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2"/>
          <p:cNvPicPr>
            <a:picLocks noChangeAspect="1"/>
          </p:cNvPicPr>
          <p:nvPr/>
        </p:nvPicPr>
        <p:blipFill rotWithShape="1">
          <a:blip r:embed="rId2"/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ln>
            <a:noFill/>
          </a:ln>
        </p:spPr>
      </p:pic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6BD8CE26-A9FB-4503-BEE8-576C054A5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774316A6-806E-4FDE-98BD-3AE29342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FCFCFD36-5DA9-448C-BA22-8F12B4215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C8127FC9-A1D8-48C9-96F8-326CD58775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4187A3C3-1B03-4F81-A2E6-41F84CDE0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>
            <a:extLst>
              <a:ext uri="{FF2B5EF4-FFF2-40B4-BE49-F238E27FC236}">
                <a16:creationId xmlns:a16="http://schemas.microsoft.com/office/drawing/2014/main" id="{BD240082-CD0F-4416-9D3C-516DC6C7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>
            <a:extLst>
              <a:ext uri="{FF2B5EF4-FFF2-40B4-BE49-F238E27FC236}">
                <a16:creationId xmlns:a16="http://schemas.microsoft.com/office/drawing/2014/main" id="{09A500A5-B64C-443C-AA80-B5C1F94FF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238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har char="●"/>
              <a:defRPr sz="1500"/>
            </a:lvl1pPr>
            <a:lvl2pPr marL="9144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har char="○"/>
              <a:defRPr sz="1300"/>
            </a:lvl2pPr>
            <a:lvl3pPr marL="13716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har char="■"/>
              <a:defRPr sz="1300"/>
            </a:lvl3pPr>
            <a:lvl4pPr marL="18288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har char="●"/>
              <a:defRPr sz="1300"/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300"/>
            </a:lvl5pPr>
            <a:lvl6pPr marL="27432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har char="■"/>
              <a:defRPr sz="1300"/>
            </a:lvl6pPr>
            <a:lvl7pPr marL="32004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har char="●"/>
              <a:defRPr sz="1300"/>
            </a:lvl7pPr>
            <a:lvl8pPr marL="36576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har char="○"/>
              <a:defRPr sz="1300"/>
            </a:lvl8pPr>
            <a:lvl9pPr marL="4114800" indent="-3111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BB7ACB41-636C-46C6-90F8-335C7368DAE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>
            <a:extLst>
              <a:ext uri="{FF2B5EF4-FFF2-40B4-BE49-F238E27FC236}">
                <a16:creationId xmlns:a16="http://schemas.microsoft.com/office/drawing/2014/main" id="{07CB0012-3141-4211-94CB-CD379AB760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4" name="Google Shape;24;p6">
            <a:extLst>
              <a:ext uri="{FF2B5EF4-FFF2-40B4-BE49-F238E27FC236}">
                <a16:creationId xmlns:a16="http://schemas.microsoft.com/office/drawing/2014/main" id="{8188B415-32CB-428C-BA97-CA44CF08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>
            <a:extLst>
              <a:ext uri="{FF2B5EF4-FFF2-40B4-BE49-F238E27FC236}">
                <a16:creationId xmlns:a16="http://schemas.microsoft.com/office/drawing/2014/main" id="{3A3AB84E-7011-40CF-BE2F-8698712A4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AB0E65BB-80DB-49D2-B234-900831ABF15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D23AB52B-B603-494C-AF8E-EBCD44DB59E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>
            <a:extLst>
              <a:ext uri="{FF2B5EF4-FFF2-40B4-BE49-F238E27FC236}">
                <a16:creationId xmlns:a16="http://schemas.microsoft.com/office/drawing/2014/main" id="{A33CC58E-6E10-44E5-B24C-822F26DDA54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EB56DE34-CD2D-4C7A-83FB-C6A182658D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31" name="Google Shape;31;p7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32" name="Google Shape;32;p7">
            <a:extLst>
              <a:ext uri="{FF2B5EF4-FFF2-40B4-BE49-F238E27FC236}">
                <a16:creationId xmlns:a16="http://schemas.microsoft.com/office/drawing/2014/main" id="{DD845B2A-5F98-4630-8005-74CE8C16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DDABFF2D-38F4-4AB6-8DB3-489561A48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>
            <a:extLst>
              <a:ext uri="{FF2B5EF4-FFF2-40B4-BE49-F238E27FC236}">
                <a16:creationId xmlns:a16="http://schemas.microsoft.com/office/drawing/2014/main" id="{1C6FE807-F968-4B78-9A0A-A62DC7E46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>
            <a:extLst>
              <a:ext uri="{FF2B5EF4-FFF2-40B4-BE49-F238E27FC236}">
                <a16:creationId xmlns:a16="http://schemas.microsoft.com/office/drawing/2014/main" id="{2231680E-AA1A-4784-A205-C7B0821959A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A82B56B6-4BE2-45C6-80A3-6DB3DFCE707F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D2F0728A-E2D0-465C-B3C4-093B32328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1B02E028-B4AF-4A90-B9BB-D68B2D389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>
            <a:extLst>
              <a:ext uri="{FF2B5EF4-FFF2-40B4-BE49-F238E27FC236}">
                <a16:creationId xmlns:a16="http://schemas.microsoft.com/office/drawing/2014/main" id="{03351B20-731D-4D5D-9A0A-05338A9EB0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2385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115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115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115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115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115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115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115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>
            <a:extLst>
              <a:ext uri="{FF2B5EF4-FFF2-40B4-BE49-F238E27FC236}">
                <a16:creationId xmlns:a16="http://schemas.microsoft.com/office/drawing/2014/main" id="{A9CECABC-297A-4CEE-B1B3-717E693D8D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>
            <a:extLst>
              <a:ext uri="{FF2B5EF4-FFF2-40B4-BE49-F238E27FC236}">
                <a16:creationId xmlns:a16="http://schemas.microsoft.com/office/drawing/2014/main" id="{6BA52E70-65F0-4328-A6F6-C6B0C302BD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58C341FD-8BD1-486D-B0E6-F873AD89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>
            <a:extLst>
              <a:ext uri="{FF2B5EF4-FFF2-40B4-BE49-F238E27FC236}">
                <a16:creationId xmlns:a16="http://schemas.microsoft.com/office/drawing/2014/main" id="{26B34B9A-90C3-48B8-9F7A-7F740381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E28AEA2D-940C-40FB-B7DD-ABB18E3F85EF}"/>
              </a:ext>
            </a:extLst>
          </p:cNvPr>
          <p:cNvSpPr>
            <a:spLocks noGrp="1"/>
          </p:cNvSpPr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>
            <a:extLst>
              <a:ext uri="{FF2B5EF4-FFF2-40B4-BE49-F238E27FC236}">
                <a16:creationId xmlns:a16="http://schemas.microsoft.com/office/drawing/2014/main" id="{2792CD0C-245F-4FD2-93E5-EC21B9488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C02D535E-CD27-429C-B43A-9BE73EFE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9950FBC2-B306-4812-9B89-9E4135929435}"/>
              </a:ext>
            </a:extLst>
          </p:cNvPr>
          <p:cNvSpPr>
            <a:spLocks noGrp="1"/>
          </p:cNvSpPr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6105DC84-AADC-4131-9106-C8B92CABC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87E0E4F0-F5AE-4DE3-8A71-1AE771C78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EE07CDC7-CA21-4F47-8707-A05F11725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>
            <a:extLst>
              <a:ext uri="{FF2B5EF4-FFF2-40B4-BE49-F238E27FC236}">
                <a16:creationId xmlns:a16="http://schemas.microsoft.com/office/drawing/2014/main" id="{7690A75F-0570-444A-8A03-46DD25B62C30}"/>
              </a:ext>
            </a:extLst>
          </p:cNvPr>
          <p:cNvSpPr>
            <a:spLocks noGrp="1"/>
          </p:cNvSpPr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9FA33DA3-1BFF-41D4-87D9-F864468A9CA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B62B5CCB-B2A4-4418-AE3B-ECC75C58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09AD03F2-BD97-429A-B7BF-78EA7DAAFBD5}"/>
              </a:ext>
            </a:extLst>
          </p:cNvPr>
          <p:cNvSpPr>
            <a:spLocks noGrp="1"/>
          </p:cNvSpPr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302DAAF-BA93-42F5-856E-329B347E8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251DD02D-8FC7-4C52-841A-8453D8E0ADF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>
            <a:extLst>
              <a:ext uri="{FF2B5EF4-FFF2-40B4-BE49-F238E27FC236}">
                <a16:creationId xmlns:a16="http://schemas.microsoft.com/office/drawing/2014/main" id="{68401083-2815-42B4-89AF-3046393AE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500"/>
            </a:lvl1pPr>
            <a:lvl2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>
            <a:extLst>
              <a:ext uri="{FF2B5EF4-FFF2-40B4-BE49-F238E27FC236}">
                <a16:creationId xmlns:a16="http://schemas.microsoft.com/office/drawing/2014/main" id="{870153B9-311C-4CAA-8F16-28F32F65D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>
            <a:extLst>
              <a:ext uri="{FF2B5EF4-FFF2-40B4-BE49-F238E27FC236}">
                <a16:creationId xmlns:a16="http://schemas.microsoft.com/office/drawing/2014/main" id="{636E8F39-C957-44B9-BA05-C02C7C8A0C5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>
            <a:extLst>
              <a:ext uri="{FF2B5EF4-FFF2-40B4-BE49-F238E27FC236}">
                <a16:creationId xmlns:a16="http://schemas.microsoft.com/office/drawing/2014/main" id="{13ABECD9-74A0-4872-9096-CAD54C8D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>
            <a:extLst>
              <a:ext uri="{FF2B5EF4-FFF2-40B4-BE49-F238E27FC236}">
                <a16:creationId xmlns:a16="http://schemas.microsoft.com/office/drawing/2014/main" id="{E765CBE8-1CB8-40D8-8329-D62153A8F804}"/>
              </a:ext>
            </a:extLst>
          </p:cNvPr>
          <p:cNvSpPr>
            <a:spLocks noGrp="1"/>
          </p:cNvSpPr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EEEEEE"/>
                </a:solidFill>
                <a:latin typeface="Roboto"/>
                <a:ea typeface="Roboto"/>
                <a:cs typeface="Roboto"/>
              </a:rPr>
              <a:t>Этап 1</a:t>
            </a:r>
          </a:p>
        </p:txBody>
      </p:sp>
      <p:sp>
        <p:nvSpPr>
          <p:cNvPr id="82" name="Google Shape;82;p19">
            <a:extLst>
              <a:ext uri="{FF2B5EF4-FFF2-40B4-BE49-F238E27FC236}">
                <a16:creationId xmlns:a16="http://schemas.microsoft.com/office/drawing/2014/main" id="{87E7835D-7910-44F3-8433-DF2EF88EA015}"/>
              </a:ext>
            </a:extLst>
          </p:cNvPr>
          <p:cNvSpPr>
            <a:spLocks noGrp="1"/>
          </p:cNvSpPr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EEEEEE"/>
                </a:solidFill>
                <a:latin typeface="Roboto"/>
                <a:ea typeface="Roboto"/>
                <a:cs typeface="Roboto"/>
              </a:rPr>
              <a:t>Этап 2</a:t>
            </a:r>
          </a:p>
        </p:txBody>
      </p:sp>
      <p:sp>
        <p:nvSpPr>
          <p:cNvPr id="83" name="Google Shape;83;p19">
            <a:extLst>
              <a:ext uri="{FF2B5EF4-FFF2-40B4-BE49-F238E27FC236}">
                <a16:creationId xmlns:a16="http://schemas.microsoft.com/office/drawing/2014/main" id="{C3284B3D-5724-4693-B862-6746372400F2}"/>
              </a:ext>
            </a:extLst>
          </p:cNvPr>
          <p:cNvSpPr>
            <a:spLocks noGrp="1"/>
          </p:cNvSpPr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EEEEEE"/>
                </a:solidFill>
                <a:latin typeface="Roboto"/>
                <a:ea typeface="Roboto"/>
                <a:cs typeface="Roboto"/>
              </a:rPr>
              <a:t>Этап 3</a:t>
            </a:r>
          </a:p>
        </p:txBody>
      </p:sp>
      <p:sp>
        <p:nvSpPr>
          <p:cNvPr id="84" name="Google Shape;84;p19">
            <a:extLst>
              <a:ext uri="{FF2B5EF4-FFF2-40B4-BE49-F238E27FC236}">
                <a16:creationId xmlns:a16="http://schemas.microsoft.com/office/drawing/2014/main" id="{4832E15D-CFCF-400D-B0F7-DEEFBB67288C}"/>
              </a:ext>
            </a:extLst>
          </p:cNvPr>
          <p:cNvSpPr>
            <a:spLocks noGrp="1"/>
          </p:cNvSpPr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EEEEEE"/>
                </a:solidFill>
                <a:latin typeface="Roboto"/>
                <a:ea typeface="Roboto"/>
                <a:cs typeface="Roboto"/>
              </a:rPr>
              <a:t>Этап 4</a:t>
            </a:r>
          </a:p>
        </p:txBody>
      </p:sp>
      <p:sp>
        <p:nvSpPr>
          <p:cNvPr id="85" name="Google Shape;85;p19">
            <a:extLst>
              <a:ext uri="{FF2B5EF4-FFF2-40B4-BE49-F238E27FC236}">
                <a16:creationId xmlns:a16="http://schemas.microsoft.com/office/drawing/2014/main" id="{1AD0C6AD-76BB-4ECD-820B-F87622A177A3}"/>
              </a:ext>
            </a:extLst>
          </p:cNvPr>
          <p:cNvSpPr>
            <a:spLocks noGrp="1"/>
          </p:cNvSpPr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sz="9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их типов данных, соглашений 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об именовании и правил проверки целостностей </a:t>
            </a:r>
          </a:p>
        </p:txBody>
      </p:sp>
      <p:sp>
        <p:nvSpPr>
          <p:cNvPr id="86" name="Google Shape;86;p19">
            <a:extLst>
              <a:ext uri="{FF2B5EF4-FFF2-40B4-BE49-F238E27FC236}">
                <a16:creationId xmlns:a16="http://schemas.microsoft.com/office/drawing/2014/main" id="{97BD80CF-1F44-4B02-BA16-6CB6212A2C95}"/>
              </a:ext>
            </a:extLst>
          </p:cNvPr>
          <p:cNvSpPr>
            <a:spLocks noGrp="1"/>
          </p:cNvSpPr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sz="9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их типов данных, соглашений 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об именовании и правил проверки целостностей </a:t>
            </a:r>
          </a:p>
        </p:txBody>
      </p:sp>
      <p:sp>
        <p:nvSpPr>
          <p:cNvPr id="87" name="Google Shape;87;p19">
            <a:extLst>
              <a:ext uri="{FF2B5EF4-FFF2-40B4-BE49-F238E27FC236}">
                <a16:creationId xmlns:a16="http://schemas.microsoft.com/office/drawing/2014/main" id="{1EACA63E-7214-4A9A-8766-296AE0B8D52B}"/>
              </a:ext>
            </a:extLst>
          </p:cNvPr>
          <p:cNvSpPr>
            <a:spLocks noGrp="1"/>
          </p:cNvSpPr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sz="9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их типов данных, соглашений 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об именовании и правил проверки целостностей </a:t>
            </a:r>
          </a:p>
        </p:txBody>
      </p:sp>
      <p:sp>
        <p:nvSpPr>
          <p:cNvPr id="88" name="Google Shape;88;p19">
            <a:extLst>
              <a:ext uri="{FF2B5EF4-FFF2-40B4-BE49-F238E27FC236}">
                <a16:creationId xmlns:a16="http://schemas.microsoft.com/office/drawing/2014/main" id="{27AFAB70-100E-4F9F-BB97-543099BD2DAA}"/>
              </a:ext>
            </a:extLst>
          </p:cNvPr>
          <p:cNvSpPr>
            <a:spLocks noGrp="1"/>
          </p:cNvSpPr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sz="90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их типов данных, соглашений 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i="0" u="none" cap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об именовании и правил проверки целостностей 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>
            <a:extLst>
              <a:ext uri="{FF2B5EF4-FFF2-40B4-BE49-F238E27FC236}">
                <a16:creationId xmlns:a16="http://schemas.microsoft.com/office/drawing/2014/main" id="{DCF99D06-5F3F-4197-910F-8E8C9E0D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tableStyleId>{725C0336-903C-4461-808E-CB701BA6F4ED}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1. Описание эксперимента</a:t>
                      </a:r>
                      <a:r>
                        <a:rPr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2. Технические детали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indent="-323850" algn="l">
                        <a:lnSpc>
                          <a:spcPct val="115000"/>
                        </a:lnSpc>
                        <a:buChar char="●"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  Гипотеза</a:t>
                      </a:r>
                    </a:p>
                    <a:p>
                      <a:pPr marL="457200" indent="-323850" algn="l">
                        <a:lnSpc>
                          <a:spcPct val="115000"/>
                        </a:lnSpc>
                        <a:buChar char="●"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  Целевая аудитория</a:t>
                      </a:r>
                    </a:p>
                    <a:p>
                      <a:pPr marL="457200" indent="-323850" algn="l">
                        <a:lnSpc>
                          <a:spcPct val="115000"/>
                        </a:lnSpc>
                        <a:buChar char="●"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  Ожидаемый результат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317500" algn="l">
                        <a:lnSpc>
                          <a:spcPct val="115000"/>
                        </a:lnSpc>
                        <a:buChar char="●"/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Реализация</a:t>
                      </a:r>
                    </a:p>
                    <a:p>
                      <a:pPr marL="457200" indent="-323850" algn="l">
                        <a:lnSpc>
                          <a:spcPct val="115000"/>
                        </a:lnSpc>
                        <a:buChar char="●"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Настройки</a:t>
                      </a:r>
                    </a:p>
                    <a:p>
                      <a:pPr marL="457200" indent="-323850" algn="l">
                        <a:lnSpc>
                          <a:spcPct val="115000"/>
                        </a:lnSpc>
                        <a:buChar char="●"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 Метрики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FFFFFF"/>
                      </a:solidFill>
                      <a:prstDash val="solid"/>
                    </a:lnL>
                    <a:lnR w="9525" cmpd="sng">
                      <a:solidFill>
                        <a:srgbClr val="FFFFFF"/>
                      </a:solidFill>
                      <a:prstDash val="solid"/>
                    </a:lnR>
                    <a:lnT w="9525" cmpd="sng">
                      <a:solidFill>
                        <a:srgbClr val="FFFFFF"/>
                      </a:solidFill>
                      <a:prstDash val="solid"/>
                    </a:lnT>
                    <a:lnB w="9525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>
            <a:extLst>
              <a:ext uri="{FF2B5EF4-FFF2-40B4-BE49-F238E27FC236}">
                <a16:creationId xmlns:a16="http://schemas.microsoft.com/office/drawing/2014/main" id="{8E3B196F-800D-46CB-AC1C-714F4D36BD9E}"/>
              </a:ext>
            </a:extLst>
          </p:cNvPr>
          <p:cNvSpPr>
            <a:spLocks noGrp="1"/>
          </p:cNvSpPr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добавьте ссылку на источник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>
            <a:extLst>
              <a:ext uri="{FF2B5EF4-FFF2-40B4-BE49-F238E27FC236}">
                <a16:creationId xmlns:a16="http://schemas.microsoft.com/office/drawing/2014/main" id="{4D88909E-0B2C-4A43-92CE-6CB8129A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>
            <a:extLst>
              <a:ext uri="{FF2B5EF4-FFF2-40B4-BE49-F238E27FC236}">
                <a16:creationId xmlns:a16="http://schemas.microsoft.com/office/drawing/2014/main" id="{BE1A80BD-1AE2-47FB-AD0E-E0E9ABFEB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tableStyleId>{725C0336-903C-4461-808E-CB701BA6F4ED}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Название столбца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Название столбца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Название столбца</a:t>
                      </a:r>
                    </a:p>
                  </a:txBody>
                  <a:tcPr marL="91425" marR="91425" marT="91425" marB="91425" anchor="ctr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1.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Текст нежирным шрифтом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Текст нежирным шрифтом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Текст нежирным шрифтом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2.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3.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4.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</a:rPr>
                        <a:t>5.</a:t>
                      </a:r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D9D9D9"/>
                      </a:solidFill>
                      <a:prstDash val="solid"/>
                    </a:lnL>
                    <a:lnR w="9525" cmpd="sng">
                      <a:solidFill>
                        <a:srgbClr val="D9D9D9"/>
                      </a:solidFill>
                      <a:prstDash val="solid"/>
                    </a:lnR>
                    <a:lnT w="9525" cmpd="sng">
                      <a:solidFill>
                        <a:srgbClr val="D9D9D9"/>
                      </a:solidFill>
                      <a:prstDash val="solid"/>
                    </a:lnT>
                    <a:lnB w="9525" cmpd="sng">
                      <a:solidFill>
                        <a:srgbClr val="D9D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>
            <a:extLst>
              <a:ext uri="{FF2B5EF4-FFF2-40B4-BE49-F238E27FC236}">
                <a16:creationId xmlns:a16="http://schemas.microsoft.com/office/drawing/2014/main" id="{500CFB78-1C09-4569-BC54-F552B7068DA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01" name="Google Shape;101;p24">
            <a:extLst>
              <a:ext uri="{FF2B5EF4-FFF2-40B4-BE49-F238E27FC236}">
                <a16:creationId xmlns:a16="http://schemas.microsoft.com/office/drawing/2014/main" id="{4B8D7EDA-F464-46FA-B9D9-A195063C7BDA}"/>
              </a:ext>
            </a:extLst>
          </p:cNvPr>
          <p:cNvSpPr>
            <a:spLocks noGrp="1"/>
          </p:cNvSpPr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4">
            <a:extLst>
              <a:ext uri="{FF2B5EF4-FFF2-40B4-BE49-F238E27FC236}">
                <a16:creationId xmlns:a16="http://schemas.microsoft.com/office/drawing/2014/main" id="{37AD8AC4-732C-48B1-8913-0D2911233461}"/>
              </a:ext>
            </a:extLst>
          </p:cNvPr>
          <p:cNvSpPr>
            <a:spLocks noGrp="1"/>
          </p:cNvSpPr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4">
            <a:extLst>
              <a:ext uri="{FF2B5EF4-FFF2-40B4-BE49-F238E27FC236}">
                <a16:creationId xmlns:a16="http://schemas.microsoft.com/office/drawing/2014/main" id="{4DC0520F-362E-4AC7-ADCB-F903EF03E303}"/>
              </a:ext>
            </a:extLst>
          </p:cNvPr>
          <p:cNvSpPr>
            <a:spLocks noGrp="1"/>
          </p:cNvSpPr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4">
            <a:extLst>
              <a:ext uri="{FF2B5EF4-FFF2-40B4-BE49-F238E27FC236}">
                <a16:creationId xmlns:a16="http://schemas.microsoft.com/office/drawing/2014/main" id="{70055C9B-0CE8-4F3C-96E8-9A9B1F6B68A7}"/>
              </a:ext>
            </a:extLst>
          </p:cNvPr>
          <p:cNvSpPr>
            <a:spLocks noGrp="1"/>
          </p:cNvSpPr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>
            <a:extLst>
              <a:ext uri="{FF2B5EF4-FFF2-40B4-BE49-F238E27FC236}">
                <a16:creationId xmlns:a16="http://schemas.microsoft.com/office/drawing/2014/main" id="{16652086-0201-4C82-8F54-A8838D6DE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>
            <a:extLst>
              <a:ext uri="{FF2B5EF4-FFF2-40B4-BE49-F238E27FC236}">
                <a16:creationId xmlns:a16="http://schemas.microsoft.com/office/drawing/2014/main" id="{D2E6D756-491C-497E-8E50-466C84944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>
            <a:extLst>
              <a:ext uri="{FF2B5EF4-FFF2-40B4-BE49-F238E27FC236}">
                <a16:creationId xmlns:a16="http://schemas.microsoft.com/office/drawing/2014/main" id="{473C12E3-FB83-4C48-857E-0DFCBD104A46}"/>
              </a:ext>
            </a:extLst>
          </p:cNvPr>
          <p:cNvSpPr>
            <a:spLocks noGrp="1"/>
          </p:cNvSpPr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6">
            <a:extLst>
              <a:ext uri="{FF2B5EF4-FFF2-40B4-BE49-F238E27FC236}">
                <a16:creationId xmlns:a16="http://schemas.microsoft.com/office/drawing/2014/main" id="{7C56E65F-6652-4B68-842D-437001F6A46B}"/>
              </a:ext>
            </a:extLst>
          </p:cNvPr>
          <p:cNvSpPr>
            <a:spLocks noGrp="1"/>
          </p:cNvSpPr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6">
            <a:extLst>
              <a:ext uri="{FF2B5EF4-FFF2-40B4-BE49-F238E27FC236}">
                <a16:creationId xmlns:a16="http://schemas.microsoft.com/office/drawing/2014/main" id="{3F9153FE-DE44-41FE-BF82-F2F869DA6861}"/>
              </a:ext>
            </a:extLst>
          </p:cNvPr>
          <p:cNvSpPr>
            <a:spLocks noGrp="1"/>
          </p:cNvSpPr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6">
            <a:extLst>
              <a:ext uri="{FF2B5EF4-FFF2-40B4-BE49-F238E27FC236}">
                <a16:creationId xmlns:a16="http://schemas.microsoft.com/office/drawing/2014/main" id="{FE6D3D08-553D-41CD-BE82-3177C17B1DE5}"/>
              </a:ext>
            </a:extLst>
          </p:cNvPr>
          <p:cNvSpPr>
            <a:spLocks noGrp="1"/>
          </p:cNvSpPr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Поле для текста</a:t>
            </a:r>
          </a:p>
        </p:txBody>
      </p:sp>
      <p:sp>
        <p:nvSpPr>
          <p:cNvPr id="114" name="Google Shape;114;p26">
            <a:extLst>
              <a:ext uri="{FF2B5EF4-FFF2-40B4-BE49-F238E27FC236}">
                <a16:creationId xmlns:a16="http://schemas.microsoft.com/office/drawing/2014/main" id="{9F71811B-35A7-4371-BE75-1D321D322235}"/>
              </a:ext>
            </a:extLst>
          </p:cNvPr>
          <p:cNvSpPr>
            <a:spLocks noGrp="1"/>
          </p:cNvSpPr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Поле для текста</a:t>
            </a:r>
          </a:p>
        </p:txBody>
      </p:sp>
      <p:sp>
        <p:nvSpPr>
          <p:cNvPr id="115" name="Google Shape;115;p26">
            <a:extLst>
              <a:ext uri="{FF2B5EF4-FFF2-40B4-BE49-F238E27FC236}">
                <a16:creationId xmlns:a16="http://schemas.microsoft.com/office/drawing/2014/main" id="{2D1BAD1D-7862-4EEB-A643-7134414676F2}"/>
              </a:ext>
            </a:extLst>
          </p:cNvPr>
          <p:cNvSpPr>
            <a:spLocks noGrp="1"/>
          </p:cNvSpPr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333333"/>
                </a:solidFill>
                <a:latin typeface="Roboto"/>
                <a:ea typeface="Roboto"/>
                <a:cs typeface="Roboto"/>
              </a:rPr>
              <a:t>Поле для текста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>
            <a:extLst>
              <a:ext uri="{FF2B5EF4-FFF2-40B4-BE49-F238E27FC236}">
                <a16:creationId xmlns:a16="http://schemas.microsoft.com/office/drawing/2014/main" id="{F64DEC4E-68B2-4CDB-8E57-B12D16E3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>
            <a:extLst>
              <a:ext uri="{FF2B5EF4-FFF2-40B4-BE49-F238E27FC236}">
                <a16:creationId xmlns:a16="http://schemas.microsoft.com/office/drawing/2014/main" id="{23EFC86D-2215-48F4-A1FE-8B03F833686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>
            <a:extLst>
              <a:ext uri="{FF2B5EF4-FFF2-40B4-BE49-F238E27FC236}">
                <a16:creationId xmlns:a16="http://schemas.microsoft.com/office/drawing/2014/main" id="{43352897-2297-4365-97EA-60BBDE315D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>
            <a:extLst>
              <a:ext uri="{FF2B5EF4-FFF2-40B4-BE49-F238E27FC236}">
                <a16:creationId xmlns:a16="http://schemas.microsoft.com/office/drawing/2014/main" id="{0D2C9C2E-7C0A-4D2C-B262-5D0DEFBE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ED79CED7-D53E-42D6-83A3-7F182DE5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>
            <a:extLst>
              <a:ext uri="{FF2B5EF4-FFF2-40B4-BE49-F238E27FC236}">
                <a16:creationId xmlns:a16="http://schemas.microsoft.com/office/drawing/2014/main" id="{BED49CF8-C3ED-4568-A5DF-C91377CBDD3D}"/>
              </a:ext>
            </a:extLst>
          </p:cNvPr>
          <p:cNvSpPr>
            <a:spLocks noGrp="1"/>
          </p:cNvSpPr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D3949D5-282B-4C8E-9A6F-D5807999E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>
            <a:extLst>
              <a:ext uri="{FF2B5EF4-FFF2-40B4-BE49-F238E27FC236}">
                <a16:creationId xmlns:a16="http://schemas.microsoft.com/office/drawing/2014/main" id="{8711F689-9488-4B5E-9AD8-95528F8B5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>
            <a:extLst>
              <a:ext uri="{FF2B5EF4-FFF2-40B4-BE49-F238E27FC236}">
                <a16:creationId xmlns:a16="http://schemas.microsoft.com/office/drawing/2014/main" id="{FC1841C2-4FC1-4A7C-B433-74D9CCB2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>
            <a:extLst>
              <a:ext uri="{FF2B5EF4-FFF2-40B4-BE49-F238E27FC236}">
                <a16:creationId xmlns:a16="http://schemas.microsoft.com/office/drawing/2014/main" id="{73AADA8C-19B2-4DB5-83EB-486B6D5F784A}"/>
              </a:ext>
            </a:extLst>
          </p:cNvPr>
          <p:cNvSpPr>
            <a:spLocks noGrp="1"/>
          </p:cNvSpPr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>
            <a:extLst>
              <a:ext uri="{FF2B5EF4-FFF2-40B4-BE49-F238E27FC236}">
                <a16:creationId xmlns:a16="http://schemas.microsoft.com/office/drawing/2014/main" id="{74131B73-2F80-4177-A05C-7CD54429E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>
            <a:extLst>
              <a:ext uri="{FF2B5EF4-FFF2-40B4-BE49-F238E27FC236}">
                <a16:creationId xmlns:a16="http://schemas.microsoft.com/office/drawing/2014/main" id="{17D50727-992E-4A33-AF31-A422ED6F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>
            <a:extLst>
              <a:ext uri="{FF2B5EF4-FFF2-40B4-BE49-F238E27FC236}">
                <a16:creationId xmlns:a16="http://schemas.microsoft.com/office/drawing/2014/main" id="{E3A30ACC-A003-4C6D-9E44-A7D15FFF1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>
            <a:extLst>
              <a:ext uri="{FF2B5EF4-FFF2-40B4-BE49-F238E27FC236}">
                <a16:creationId xmlns:a16="http://schemas.microsoft.com/office/drawing/2014/main" id="{E5F5E490-E054-4EEB-B26D-7C03F486D088}"/>
              </a:ext>
            </a:extLst>
          </p:cNvPr>
          <p:cNvSpPr>
            <a:spLocks noGrp="1"/>
          </p:cNvSpPr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>
            <a:extLst>
              <a:ext uri="{FF2B5EF4-FFF2-40B4-BE49-F238E27FC236}">
                <a16:creationId xmlns:a16="http://schemas.microsoft.com/office/drawing/2014/main" id="{ECA21914-9F6D-49F2-A67A-78D7CD16A83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latin typeface="Courier New"/>
                <a:ea typeface="Courier New"/>
                <a:cs typeface="Courier New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C1F148E8-E26E-43C4-83F8-7AECC328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00E03055-4928-4EB6-9AD5-302084C8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 marL="1828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 marL="27432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 marL="32004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 marL="3657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 marL="4114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62F99E3A-C053-44B7-8324-879E5EFA92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7441DBF4-7626-4262-B410-14373CF0B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D3EC348D-D9F4-4E08-A272-1D5936023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>
            <a:lvl1pPr marL="45720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marL="1828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marL="27432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marL="32004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marL="3657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marL="4114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9A593397-0CC7-479A-8CBC-7F600F98AF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>
            <a:extLst>
              <a:ext uri="{FF2B5EF4-FFF2-40B4-BE49-F238E27FC236}">
                <a16:creationId xmlns:a16="http://schemas.microsoft.com/office/drawing/2014/main" id="{E766D2AC-D107-4246-AFAA-EA4BF680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118" name="Google Shape;118;p27">
            <a:extLst>
              <a:ext uri="{FF2B5EF4-FFF2-40B4-BE49-F238E27FC236}">
                <a16:creationId xmlns:a16="http://schemas.microsoft.com/office/drawing/2014/main" id="{42C93656-8562-4908-A190-A964E74FD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 marL="1828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 marL="22860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 marL="27432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 marL="32004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 marL="36576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 marL="4114800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>
            <a:endParaRPr/>
          </a:p>
        </p:txBody>
      </p:sp>
      <p:sp>
        <p:nvSpPr>
          <p:cNvPr id="119" name="Google Shape;119;p27">
            <a:extLst>
              <a:ext uri="{FF2B5EF4-FFF2-40B4-BE49-F238E27FC236}">
                <a16:creationId xmlns:a16="http://schemas.microsoft.com/office/drawing/2014/main" id="{EF5A8EB7-B9DC-49AE-9B97-D3B758AB2E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D5FD0F8-778A-4B1A-A689-969BE63D99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9B7C99-E3CA-4242-AC05-4B5950333993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EF316C-E28A-4E33-8C7B-DDFAF691AA7A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733753-AD87-4A3D-9E93-CAEC2C45A2DD}"/>
              </a:ext>
            </a:extLst>
          </p:cNvPr>
          <p:cNvSpPr>
            <a:spLocks noGrp="1"/>
          </p:cNvSpPr>
          <p:nvPr/>
        </p:nvSpPr>
        <p:spPr>
          <a:xfrm>
            <a:off x="323850" y="542925"/>
            <a:ext cx="7048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225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Отказоустойчивый PostgreSQL-кластер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273E845-7541-4608-9799-5C4851BD7614}"/>
              </a:ext>
            </a:extLst>
          </p:cNvPr>
          <p:cNvSpPr>
            <a:spLocks noGrp="1"/>
          </p:cNvSpPr>
          <p:nvPr/>
        </p:nvSpPr>
        <p:spPr>
          <a:xfrm>
            <a:off x="323850" y="1562100"/>
            <a:ext cx="533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C9D1D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C9D1D9"/>
                </a:solidFill>
                <a:latin typeface="Aptos Display"/>
                <a:ea typeface="Aptos Display"/>
                <a:cs typeface="Aptos Display"/>
              </a:rPr>
              <a:t>для платформы краткосрочной аренды жилья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B700AE6-6E2D-44AB-9E88-6A3075993E14}"/>
              </a:ext>
            </a:extLst>
          </p:cNvPr>
          <p:cNvSpPr>
            <a:spLocks noGrp="1"/>
          </p:cNvSpPr>
          <p:nvPr/>
        </p:nvSpPr>
        <p:spPr>
          <a:xfrm>
            <a:off x="323850" y="22002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EAB6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B64F"/>
                </a:solidFill>
                <a:latin typeface="Aptos"/>
                <a:ea typeface="Aptos"/>
                <a:cs typeface="Aptos"/>
              </a:rPr>
              <a:t>Автор: Сидин Яков Иванович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8A7C39-F3C1-4237-B535-FCED5C5DB9B7}"/>
              </a:ext>
            </a:extLst>
          </p:cNvPr>
          <p:cNvSpPr>
            <a:spLocks noGrp="1"/>
          </p:cNvSpPr>
          <p:nvPr/>
        </p:nvSpPr>
        <p:spPr>
          <a:xfrm>
            <a:off x="323850" y="2419350"/>
            <a:ext cx="8191500" cy="9525"/>
          </a:xfrm>
          <a:prstGeom prst="rect">
            <a:avLst/>
          </a:prstGeom>
          <a:solidFill>
            <a:srgbClr val="394553"/>
          </a:solidFill>
          <a:ln w="0">
            <a:solidFill>
              <a:srgbClr val="394553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1BAFE2C-72AE-497D-AFD6-E59778241802}"/>
              </a:ext>
            </a:extLst>
          </p:cNvPr>
          <p:cNvSpPr>
            <a:spLocks noGrp="1"/>
          </p:cNvSpPr>
          <p:nvPr/>
        </p:nvSpPr>
        <p:spPr>
          <a:xfrm>
            <a:off x="342900" y="2857500"/>
            <a:ext cx="2400300" cy="9906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D0DBA67-6633-4C65-9BF4-27645BC44CD2}"/>
              </a:ext>
            </a:extLst>
          </p:cNvPr>
          <p:cNvSpPr>
            <a:spLocks noGrp="1"/>
          </p:cNvSpPr>
          <p:nvPr/>
        </p:nvSpPr>
        <p:spPr>
          <a:xfrm>
            <a:off x="342900" y="2857500"/>
            <a:ext cx="24003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5AD2369-3429-4246-9BA5-ED4A01B912F8}"/>
              </a:ext>
            </a:extLst>
          </p:cNvPr>
          <p:cNvSpPr>
            <a:spLocks noGrp="1"/>
          </p:cNvSpPr>
          <p:nvPr/>
        </p:nvSpPr>
        <p:spPr>
          <a:xfrm>
            <a:off x="457200" y="297180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Домен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C2E77D9-3463-42DB-9FC6-7FF5332519E1}"/>
              </a:ext>
            </a:extLst>
          </p:cNvPr>
          <p:cNvSpPr>
            <a:spLocks noGrp="1"/>
          </p:cNvSpPr>
          <p:nvPr/>
        </p:nvSpPr>
        <p:spPr>
          <a:xfrm>
            <a:off x="457200" y="3219450"/>
            <a:ext cx="2171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Бронирования, платежи, календарь доступности и отзывы задают проверяемые инварианты.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90E4148-E63E-4EB3-BEC4-6625D61E82DC}"/>
              </a:ext>
            </a:extLst>
          </p:cNvPr>
          <p:cNvSpPr>
            <a:spLocks noGrp="1"/>
          </p:cNvSpPr>
          <p:nvPr/>
        </p:nvSpPr>
        <p:spPr>
          <a:xfrm>
            <a:off x="2990850" y="2857500"/>
            <a:ext cx="2400300" cy="9906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C063FC6-365D-448D-8EB4-D9DF9EA8F742}"/>
              </a:ext>
            </a:extLst>
          </p:cNvPr>
          <p:cNvSpPr>
            <a:spLocks noGrp="1"/>
          </p:cNvSpPr>
          <p:nvPr/>
        </p:nvSpPr>
        <p:spPr>
          <a:xfrm>
            <a:off x="2990850" y="2857500"/>
            <a:ext cx="240030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A27450C-2AC9-4592-985E-19196AD1C18F}"/>
              </a:ext>
            </a:extLst>
          </p:cNvPr>
          <p:cNvSpPr>
            <a:spLocks noGrp="1"/>
          </p:cNvSpPr>
          <p:nvPr/>
        </p:nvSpPr>
        <p:spPr>
          <a:xfrm>
            <a:off x="3105150" y="297180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Высокая доступность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9177F63-59AA-4CF3-B7CD-3FF47B22D449}"/>
              </a:ext>
            </a:extLst>
          </p:cNvPr>
          <p:cNvSpPr>
            <a:spLocks noGrp="1"/>
          </p:cNvSpPr>
          <p:nvPr/>
        </p:nvSpPr>
        <p:spPr>
          <a:xfrm>
            <a:off x="3105150" y="3219450"/>
            <a:ext cx="2171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Patroni, пять узлов PostgreSQL, пять узлов etcd и строгая синхронная запись.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54045F0-2177-495D-BA00-CC5C7BDCD6ED}"/>
              </a:ext>
            </a:extLst>
          </p:cNvPr>
          <p:cNvSpPr>
            <a:spLocks noGrp="1"/>
          </p:cNvSpPr>
          <p:nvPr/>
        </p:nvSpPr>
        <p:spPr>
          <a:xfrm>
            <a:off x="5638800" y="2857500"/>
            <a:ext cx="2400300" cy="9906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5BC4483-80A6-48F3-ADDD-3D24C5EDDC15}"/>
              </a:ext>
            </a:extLst>
          </p:cNvPr>
          <p:cNvSpPr>
            <a:spLocks noGrp="1"/>
          </p:cNvSpPr>
          <p:nvPr/>
        </p:nvSpPr>
        <p:spPr>
          <a:xfrm>
            <a:off x="5638800" y="2857500"/>
            <a:ext cx="240030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FF6B4F9-9794-4122-8293-4B7A34C3A119}"/>
              </a:ext>
            </a:extLst>
          </p:cNvPr>
          <p:cNvSpPr>
            <a:spLocks noGrp="1"/>
          </p:cNvSpPr>
          <p:nvPr/>
        </p:nvSpPr>
        <p:spPr>
          <a:xfrm>
            <a:off x="5753100" y="297180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Восстановление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88A4B5C-145F-43BE-BFEB-A17EC3DB83A7}"/>
              </a:ext>
            </a:extLst>
          </p:cNvPr>
          <p:cNvSpPr>
            <a:spLocks noGrp="1"/>
          </p:cNvSpPr>
          <p:nvPr/>
        </p:nvSpPr>
        <p:spPr>
          <a:xfrm>
            <a:off x="5753100" y="3219450"/>
            <a:ext cx="2171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Полные резервные копии, архив WAL и восстановление на выбранный момент времени.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A417D52-16E2-4140-B9DD-ACECE31E406C}"/>
              </a:ext>
            </a:extLst>
          </p:cNvPr>
          <p:cNvSpPr>
            <a:spLocks noGrp="1"/>
          </p:cNvSpPr>
          <p:nvPr/>
        </p:nvSpPr>
        <p:spPr>
          <a:xfrm>
            <a:off x="342900" y="43053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Цель: связать предметную модель, надежность данных и эксплуатационный контур PostgreSQL.</a:t>
            </a:r>
          </a:p>
        </p:txBody>
      </p:sp>
    </p:spTree>
    <p:extLst>
      <p:ext uri="{BB962C8B-B14F-4D97-AF65-F5344CB8AC3E}">
        <p14:creationId xmlns:p14="http://schemas.microsoft.com/office/powerpoint/2010/main" val="182880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176A871-50C5-4EA9-AC58-C4C54B1AF4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92AF08-E743-4A5C-8D91-82C1669D3143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20B5596-D808-4356-A2AF-03ACC3C33027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223310-2ED1-427D-990E-EC6514D91B9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ПЛАН ЗАЩИТЫ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12641E-9025-4E2B-9B95-231FE2792BAD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От доменной модели к эксплуатационным гарантиям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7424F6-8005-4F9C-BC5E-AF79A12D4A26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EAB64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B64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4CFE298-6813-4886-B95B-C57114A37A1F}"/>
              </a:ext>
            </a:extLst>
          </p:cNvPr>
          <p:cNvSpPr>
            <a:spLocks noGrp="1"/>
          </p:cNvSpPr>
          <p:nvPr/>
        </p:nvSpPr>
        <p:spPr>
          <a:xfrm>
            <a:off x="1000125" y="1533525"/>
            <a:ext cx="571500" cy="9525"/>
          </a:xfrm>
          <a:prstGeom prst="rect">
            <a:avLst/>
          </a:prstGeom>
          <a:solidFill>
            <a:srgbClr val="44515F"/>
          </a:solidFill>
          <a:ln w="0">
            <a:solidFill>
              <a:srgbClr val="44515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B67C596-99D4-42E0-89A9-AAE89F896CF0}"/>
              </a:ext>
            </a:extLst>
          </p:cNvPr>
          <p:cNvSpPr>
            <a:spLocks noGrp="1"/>
          </p:cNvSpPr>
          <p:nvPr/>
        </p:nvSpPr>
        <p:spPr>
          <a:xfrm>
            <a:off x="1752600" y="13525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Цель и границы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6CB8E2-FA17-42A3-B1E5-F87377E9C245}"/>
              </a:ext>
            </a:extLst>
          </p:cNvPr>
          <p:cNvSpPr>
            <a:spLocks noGrp="1"/>
          </p:cNvSpPr>
          <p:nvPr/>
        </p:nvSpPr>
        <p:spPr>
          <a:xfrm>
            <a:off x="1752600" y="16192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Что реализует проект и что остается вне его границ.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2855DC6-36DA-4234-B756-C7872897CD77}"/>
              </a:ext>
            </a:extLst>
          </p:cNvPr>
          <p:cNvSpPr>
            <a:spLocks noGrp="1"/>
          </p:cNvSpPr>
          <p:nvPr/>
        </p:nvSpPr>
        <p:spPr>
          <a:xfrm>
            <a:off x="514350" y="20764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2AB7C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AB7C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974EB07-1114-4F41-BEDD-BFFC9E0D168F}"/>
              </a:ext>
            </a:extLst>
          </p:cNvPr>
          <p:cNvSpPr>
            <a:spLocks noGrp="1"/>
          </p:cNvSpPr>
          <p:nvPr/>
        </p:nvSpPr>
        <p:spPr>
          <a:xfrm>
            <a:off x="1000125" y="2219325"/>
            <a:ext cx="571500" cy="9525"/>
          </a:xfrm>
          <a:prstGeom prst="rect">
            <a:avLst/>
          </a:prstGeom>
          <a:solidFill>
            <a:srgbClr val="44515F"/>
          </a:solidFill>
          <a:ln w="0">
            <a:solidFill>
              <a:srgbClr val="44515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B92F78D-0913-425A-AAEC-113776ACA42A}"/>
              </a:ext>
            </a:extLst>
          </p:cNvPr>
          <p:cNvSpPr>
            <a:spLocks noGrp="1"/>
          </p:cNvSpPr>
          <p:nvPr/>
        </p:nvSpPr>
        <p:spPr>
          <a:xfrm>
            <a:off x="1752600" y="20383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Таблицы и связи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37FC3B7-9E12-48F9-A861-A9A94BB293D5}"/>
              </a:ext>
            </a:extLst>
          </p:cNvPr>
          <p:cNvSpPr>
            <a:spLocks noGrp="1"/>
          </p:cNvSpPr>
          <p:nvPr/>
        </p:nvSpPr>
        <p:spPr>
          <a:xfrm>
            <a:off x="1752600" y="23050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Группы таблиц, ключевые связи и жизненный цикл бронирования.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AE0BC72-A4FB-406D-B8AD-B90B5ED2869C}"/>
              </a:ext>
            </a:extLst>
          </p:cNvPr>
          <p:cNvSpPr>
            <a:spLocks noGrp="1"/>
          </p:cNvSpPr>
          <p:nvPr/>
        </p:nvSpPr>
        <p:spPr>
          <a:xfrm>
            <a:off x="514350" y="27622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62BE7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62BE7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08F3DE5-C11A-4FCB-A699-5DC69E7960B0}"/>
              </a:ext>
            </a:extLst>
          </p:cNvPr>
          <p:cNvSpPr>
            <a:spLocks noGrp="1"/>
          </p:cNvSpPr>
          <p:nvPr/>
        </p:nvSpPr>
        <p:spPr>
          <a:xfrm>
            <a:off x="1000125" y="2905125"/>
            <a:ext cx="571500" cy="9525"/>
          </a:xfrm>
          <a:prstGeom prst="rect">
            <a:avLst/>
          </a:prstGeom>
          <a:solidFill>
            <a:srgbClr val="44515F"/>
          </a:solidFill>
          <a:ln w="0">
            <a:solidFill>
              <a:srgbClr val="44515F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6946C34-1ADD-4E0C-BD4F-E2F6D790431A}"/>
              </a:ext>
            </a:extLst>
          </p:cNvPr>
          <p:cNvSpPr>
            <a:spLocks noGrp="1"/>
          </p:cNvSpPr>
          <p:nvPr/>
        </p:nvSpPr>
        <p:spPr>
          <a:xfrm>
            <a:off x="1752600" y="27241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Схема и индексы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98AECAA-0057-42C0-A2EF-257AF89743E2}"/>
              </a:ext>
            </a:extLst>
          </p:cNvPr>
          <p:cNvSpPr>
            <a:spLocks noGrp="1"/>
          </p:cNvSpPr>
          <p:nvPr/>
        </p:nvSpPr>
        <p:spPr>
          <a:xfrm>
            <a:off x="1752600" y="29908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Миграции, данные, проверочные сценарии и планы выполнения.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E578A1B-7B76-4299-B863-202583B6E706}"/>
              </a:ext>
            </a:extLst>
          </p:cNvPr>
          <p:cNvSpPr>
            <a:spLocks noGrp="1"/>
          </p:cNvSpPr>
          <p:nvPr/>
        </p:nvSpPr>
        <p:spPr>
          <a:xfrm>
            <a:off x="514350" y="34480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D86A7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86A7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2E878A9-8E35-4315-8BA7-CDAB04D96EA0}"/>
              </a:ext>
            </a:extLst>
          </p:cNvPr>
          <p:cNvSpPr>
            <a:spLocks noGrp="1"/>
          </p:cNvSpPr>
          <p:nvPr/>
        </p:nvSpPr>
        <p:spPr>
          <a:xfrm>
            <a:off x="1000125" y="3590925"/>
            <a:ext cx="571500" cy="9525"/>
          </a:xfrm>
          <a:prstGeom prst="rect">
            <a:avLst/>
          </a:prstGeom>
          <a:solidFill>
            <a:srgbClr val="44515F"/>
          </a:solidFill>
          <a:ln w="0">
            <a:solidFill>
              <a:srgbClr val="44515F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A564DCC-5FFF-4727-BD88-FBE25641CADA}"/>
              </a:ext>
            </a:extLst>
          </p:cNvPr>
          <p:cNvSpPr>
            <a:spLocks noGrp="1"/>
          </p:cNvSpPr>
          <p:nvPr/>
        </p:nvSpPr>
        <p:spPr>
          <a:xfrm>
            <a:off x="1752600" y="34099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HA-контур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F9120BE-39BB-4623-B5F1-BD2EAC8412A3}"/>
              </a:ext>
            </a:extLst>
          </p:cNvPr>
          <p:cNvSpPr>
            <a:spLocks noGrp="1"/>
          </p:cNvSpPr>
          <p:nvPr/>
        </p:nvSpPr>
        <p:spPr>
          <a:xfrm>
            <a:off x="1752600" y="36766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Patroni, etcd, клиентский доступ и нулевая потеря подтвержденных данных.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1EC8EA6-10D4-4F5D-B3E8-C624B676134A}"/>
              </a:ext>
            </a:extLst>
          </p:cNvPr>
          <p:cNvSpPr>
            <a:spLocks noGrp="1"/>
          </p:cNvSpPr>
          <p:nvPr/>
        </p:nvSpPr>
        <p:spPr>
          <a:xfrm>
            <a:off x="514350" y="4133850"/>
            <a:ext cx="400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8B7CF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B7CF6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43E04C5-69E0-4D7E-A34A-1D6D838F8C6A}"/>
              </a:ext>
            </a:extLst>
          </p:cNvPr>
          <p:cNvSpPr>
            <a:spLocks noGrp="1"/>
          </p:cNvSpPr>
          <p:nvPr/>
        </p:nvSpPr>
        <p:spPr>
          <a:xfrm>
            <a:off x="1000125" y="4276725"/>
            <a:ext cx="571500" cy="9525"/>
          </a:xfrm>
          <a:prstGeom prst="rect">
            <a:avLst/>
          </a:prstGeom>
          <a:solidFill>
            <a:srgbClr val="44515F"/>
          </a:solidFill>
          <a:ln w="0">
            <a:solidFill>
              <a:srgbClr val="44515F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5A3C9B4-FDDE-4446-9232-7D1E66A839CD}"/>
              </a:ext>
            </a:extLst>
          </p:cNvPr>
          <p:cNvSpPr>
            <a:spLocks noGrp="1"/>
          </p:cNvSpPr>
          <p:nvPr/>
        </p:nvSpPr>
        <p:spPr>
          <a:xfrm>
            <a:off x="1752600" y="40957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Восстановление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EF8104F-3C20-477E-AECA-65765A4CB196}"/>
              </a:ext>
            </a:extLst>
          </p:cNvPr>
          <p:cNvSpPr>
            <a:spLocks noGrp="1"/>
          </p:cNvSpPr>
          <p:nvPr/>
        </p:nvSpPr>
        <p:spPr>
          <a:xfrm>
            <a:off x="1752600" y="43624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Резервные копии, архив WAL, PITR и наблюдаемость.</a:t>
            </a:r>
          </a:p>
        </p:txBody>
      </p:sp>
    </p:spTree>
    <p:extLst>
      <p:ext uri="{BB962C8B-B14F-4D97-AF65-F5344CB8AC3E}">
        <p14:creationId xmlns:p14="http://schemas.microsoft.com/office/powerpoint/2010/main" val="145327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6BF14A3D-DB91-4C6C-89CC-2DAB42F871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4B5D8BB-E727-40C0-8167-B8AA9DDE09D7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3F566CF-3430-4A8A-BCB5-5815C82D11A5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BC3AB7-2E04-4998-B2CD-938D0C8CEB18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B380F0-DA4D-4A0B-8CA4-70EFD5C720C9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База данных рассматривается как инженерная система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82875F9-D6CB-4871-92C0-4FA8E6EC8AC1}"/>
              </a:ext>
            </a:extLst>
          </p:cNvPr>
          <p:cNvSpPr>
            <a:spLocks noGrp="1"/>
          </p:cNvSpPr>
          <p:nvPr/>
        </p:nvSpPr>
        <p:spPr>
          <a:xfrm>
            <a:off x="361950" y="1352550"/>
            <a:ext cx="8420100" cy="2800350"/>
          </a:xfrm>
          <a:prstGeom prst="rect">
            <a:avLst/>
          </a:prstGeom>
          <a:solidFill>
            <a:srgbClr val="202631"/>
          </a:solidFill>
          <a:ln w="7620">
            <a:solidFill>
              <a:srgbClr val="35414E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2F612F2-E357-4C10-A237-12641C9375F8}"/>
              </a:ext>
            </a:extLst>
          </p:cNvPr>
          <p:cNvSpPr>
            <a:spLocks noGrp="1"/>
          </p:cNvSpPr>
          <p:nvPr/>
        </p:nvSpPr>
        <p:spPr>
          <a:xfrm>
            <a:off x="361950" y="1352550"/>
            <a:ext cx="8420100" cy="466725"/>
          </a:xfrm>
          <a:prstGeom prst="rect">
            <a:avLst/>
          </a:prstGeom>
          <a:solidFill>
            <a:srgbClr val="1A222B"/>
          </a:solidFill>
          <a:ln w="0">
            <a:noFill/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F2484F-48C8-4095-B74E-37B50300CD21}"/>
              </a:ext>
            </a:extLst>
          </p:cNvPr>
          <p:cNvSpPr>
            <a:spLocks noGrp="1"/>
          </p:cNvSpPr>
          <p:nvPr/>
        </p:nvSpPr>
        <p:spPr>
          <a:xfrm>
            <a:off x="438150" y="1428750"/>
            <a:ext cx="19812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EAB64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AB64F"/>
                </a:solidFill>
                <a:latin typeface="Aptos"/>
                <a:ea typeface="Aptos"/>
                <a:cs typeface="Aptos"/>
              </a:rPr>
              <a:t>Требование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380AA12-CE7A-455E-BC3A-1B47C2EA8738}"/>
              </a:ext>
            </a:extLst>
          </p:cNvPr>
          <p:cNvSpPr>
            <a:spLocks noGrp="1"/>
          </p:cNvSpPr>
          <p:nvPr/>
        </p:nvSpPr>
        <p:spPr>
          <a:xfrm>
            <a:off x="2533650" y="1428750"/>
            <a:ext cx="26479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EAB64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AB64F"/>
                </a:solidFill>
                <a:latin typeface="Aptos"/>
                <a:ea typeface="Aptos"/>
                <a:cs typeface="Aptos"/>
              </a:rPr>
              <a:t>Решение в проекте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26C496E-CE68-491C-9CD5-C1FF219FEEE1}"/>
              </a:ext>
            </a:extLst>
          </p:cNvPr>
          <p:cNvSpPr>
            <a:spLocks noGrp="1"/>
          </p:cNvSpPr>
          <p:nvPr/>
        </p:nvSpPr>
        <p:spPr>
          <a:xfrm>
            <a:off x="2457450" y="1400175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3AC4D47-D743-460D-94F2-AF3B5FB063E6}"/>
              </a:ext>
            </a:extLst>
          </p:cNvPr>
          <p:cNvSpPr>
            <a:spLocks noGrp="1"/>
          </p:cNvSpPr>
          <p:nvPr/>
        </p:nvSpPr>
        <p:spPr>
          <a:xfrm>
            <a:off x="5295900" y="1428750"/>
            <a:ext cx="34480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EAB64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AB64F"/>
                </a:solidFill>
                <a:latin typeface="Aptos"/>
                <a:ea typeface="Aptos"/>
                <a:cs typeface="Aptos"/>
              </a:rPr>
              <a:t>Смысл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74E4401-56E9-4044-9FED-DEABF76D25EB}"/>
              </a:ext>
            </a:extLst>
          </p:cNvPr>
          <p:cNvSpPr>
            <a:spLocks noGrp="1"/>
          </p:cNvSpPr>
          <p:nvPr/>
        </p:nvSpPr>
        <p:spPr>
          <a:xfrm>
            <a:off x="5219700" y="1400175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C2E57F6-9AB6-4E8E-B10D-D01C34BFD815}"/>
              </a:ext>
            </a:extLst>
          </p:cNvPr>
          <p:cNvSpPr>
            <a:spLocks noGrp="1"/>
          </p:cNvSpPr>
          <p:nvPr/>
        </p:nvSpPr>
        <p:spPr>
          <a:xfrm>
            <a:off x="438150" y="1895475"/>
            <a:ext cx="19812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Сохранность подтвержденных данных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3133570-489E-4F07-9C0D-5C9EEDD21F00}"/>
              </a:ext>
            </a:extLst>
          </p:cNvPr>
          <p:cNvSpPr>
            <a:spLocks noGrp="1"/>
          </p:cNvSpPr>
          <p:nvPr/>
        </p:nvSpPr>
        <p:spPr>
          <a:xfrm>
            <a:off x="2533650" y="1895475"/>
            <a:ext cx="26479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Основной узел + две синхронные реплики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23C5F75-A608-4950-A32B-BF61CB92006F}"/>
              </a:ext>
            </a:extLst>
          </p:cNvPr>
          <p:cNvSpPr>
            <a:spLocks noGrp="1"/>
          </p:cNvSpPr>
          <p:nvPr/>
        </p:nvSpPr>
        <p:spPr>
          <a:xfrm>
            <a:off x="2457450" y="1866900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6126D10-C09E-47A6-B65A-D17A59842740}"/>
              </a:ext>
            </a:extLst>
          </p:cNvPr>
          <p:cNvSpPr>
            <a:spLocks noGrp="1"/>
          </p:cNvSpPr>
          <p:nvPr/>
        </p:nvSpPr>
        <p:spPr>
          <a:xfrm>
            <a:off x="5295900" y="1895475"/>
            <a:ext cx="34480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Запись не считается успешной до фиксации на нескольких узлах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F410DDA-6366-4CBE-95BC-1BCA351760B5}"/>
              </a:ext>
            </a:extLst>
          </p:cNvPr>
          <p:cNvSpPr>
            <a:spLocks noGrp="1"/>
          </p:cNvSpPr>
          <p:nvPr/>
        </p:nvSpPr>
        <p:spPr>
          <a:xfrm>
            <a:off x="5219700" y="1866900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9F0D1E8-B37B-4D3E-A943-906B32ADFCCA}"/>
              </a:ext>
            </a:extLst>
          </p:cNvPr>
          <p:cNvSpPr>
            <a:spLocks noGrp="1"/>
          </p:cNvSpPr>
          <p:nvPr/>
        </p:nvSpPr>
        <p:spPr>
          <a:xfrm>
            <a:off x="361950" y="1819275"/>
            <a:ext cx="84201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327CF2-5DB5-49F7-8395-3CCBB6783B68}"/>
              </a:ext>
            </a:extLst>
          </p:cNvPr>
          <p:cNvSpPr>
            <a:spLocks noGrp="1"/>
          </p:cNvSpPr>
          <p:nvPr/>
        </p:nvSpPr>
        <p:spPr>
          <a:xfrm>
            <a:off x="438150" y="2362200"/>
            <a:ext cx="19812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Согласованный выбор лидера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ABCB18E-AD9B-48D0-BF4E-E7C004008A75}"/>
              </a:ext>
            </a:extLst>
          </p:cNvPr>
          <p:cNvSpPr>
            <a:spLocks noGrp="1"/>
          </p:cNvSpPr>
          <p:nvPr/>
        </p:nvSpPr>
        <p:spPr>
          <a:xfrm>
            <a:off x="2533650" y="2362200"/>
            <a:ext cx="26479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Пять узлов etcd и Patroni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711315B-4CCE-4ABC-834A-6F84F3FE2511}"/>
              </a:ext>
            </a:extLst>
          </p:cNvPr>
          <p:cNvSpPr>
            <a:spLocks noGrp="1"/>
          </p:cNvSpPr>
          <p:nvPr/>
        </p:nvSpPr>
        <p:spPr>
          <a:xfrm>
            <a:off x="2457450" y="2333625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C552781-926C-4466-A66F-156EA5C1D4FF}"/>
              </a:ext>
            </a:extLst>
          </p:cNvPr>
          <p:cNvSpPr>
            <a:spLocks noGrp="1"/>
          </p:cNvSpPr>
          <p:nvPr/>
        </p:nvSpPr>
        <p:spPr>
          <a:xfrm>
            <a:off x="5295900" y="2362200"/>
            <a:ext cx="34480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Новый основной узел выбирается только при наличии кворума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164BA82-92CB-4566-872B-F3EC194C39DB}"/>
              </a:ext>
            </a:extLst>
          </p:cNvPr>
          <p:cNvSpPr>
            <a:spLocks noGrp="1"/>
          </p:cNvSpPr>
          <p:nvPr/>
        </p:nvSpPr>
        <p:spPr>
          <a:xfrm>
            <a:off x="5219700" y="2333625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E0F8CC7-7C36-448F-AB78-121AF7C4AAFE}"/>
              </a:ext>
            </a:extLst>
          </p:cNvPr>
          <p:cNvSpPr>
            <a:spLocks noGrp="1"/>
          </p:cNvSpPr>
          <p:nvPr/>
        </p:nvSpPr>
        <p:spPr>
          <a:xfrm>
            <a:off x="361950" y="2286000"/>
            <a:ext cx="84201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32CE81C-D451-4B02-A6C9-70589F9DADEC}"/>
              </a:ext>
            </a:extLst>
          </p:cNvPr>
          <p:cNvSpPr>
            <a:spLocks noGrp="1"/>
          </p:cNvSpPr>
          <p:nvPr/>
        </p:nvSpPr>
        <p:spPr>
          <a:xfrm>
            <a:off x="438150" y="2828925"/>
            <a:ext cx="19812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Защита от логической ошибки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92FF3E3-5C32-4522-BBE5-47D4A3281B78}"/>
              </a:ext>
            </a:extLst>
          </p:cNvPr>
          <p:cNvSpPr>
            <a:spLocks noGrp="1"/>
          </p:cNvSpPr>
          <p:nvPr/>
        </p:nvSpPr>
        <p:spPr>
          <a:xfrm>
            <a:off x="2533650" y="2828925"/>
            <a:ext cx="26479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Полная копия + архив WAL + PITR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9CBA69D-3799-4FDC-B6AA-C77159141389}"/>
              </a:ext>
            </a:extLst>
          </p:cNvPr>
          <p:cNvSpPr>
            <a:spLocks noGrp="1"/>
          </p:cNvSpPr>
          <p:nvPr/>
        </p:nvSpPr>
        <p:spPr>
          <a:xfrm>
            <a:off x="2457450" y="2800350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5078B26-82A7-4FCB-8CAF-A8FA70E08AD9}"/>
              </a:ext>
            </a:extLst>
          </p:cNvPr>
          <p:cNvSpPr>
            <a:spLocks noGrp="1"/>
          </p:cNvSpPr>
          <p:nvPr/>
        </p:nvSpPr>
        <p:spPr>
          <a:xfrm>
            <a:off x="5295900" y="2828925"/>
            <a:ext cx="34480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Можно восстановить состояние до ошибочного изменения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F3D61FE-1384-447E-82C7-6AE099679B35}"/>
              </a:ext>
            </a:extLst>
          </p:cNvPr>
          <p:cNvSpPr>
            <a:spLocks noGrp="1"/>
          </p:cNvSpPr>
          <p:nvPr/>
        </p:nvSpPr>
        <p:spPr>
          <a:xfrm>
            <a:off x="5219700" y="2800350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2117B34-668C-4AFF-9124-CECD01EE2FCE}"/>
              </a:ext>
            </a:extLst>
          </p:cNvPr>
          <p:cNvSpPr>
            <a:spLocks noGrp="1"/>
          </p:cNvSpPr>
          <p:nvPr/>
        </p:nvSpPr>
        <p:spPr>
          <a:xfrm>
            <a:off x="361950" y="2752725"/>
            <a:ext cx="84201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BA7C2E-3751-441C-8D96-D96BCD7DFD98}"/>
              </a:ext>
            </a:extLst>
          </p:cNvPr>
          <p:cNvSpPr>
            <a:spLocks noGrp="1"/>
          </p:cNvSpPr>
          <p:nvPr/>
        </p:nvSpPr>
        <p:spPr>
          <a:xfrm>
            <a:off x="438150" y="3295650"/>
            <a:ext cx="19812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Проверяемая предметная область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AFBE1E0-63E4-4E63-81D1-F3FB56EAD57A}"/>
              </a:ext>
            </a:extLst>
          </p:cNvPr>
          <p:cNvSpPr>
            <a:spLocks noGrp="1"/>
          </p:cNvSpPr>
          <p:nvPr/>
        </p:nvSpPr>
        <p:spPr>
          <a:xfrm>
            <a:off x="2533650" y="3295650"/>
            <a:ext cx="26479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Схема аренды жилья и SQL-сценарии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3BCE311-BE22-4E25-A015-67F51C23BCDA}"/>
              </a:ext>
            </a:extLst>
          </p:cNvPr>
          <p:cNvSpPr>
            <a:spLocks noGrp="1"/>
          </p:cNvSpPr>
          <p:nvPr/>
        </p:nvSpPr>
        <p:spPr>
          <a:xfrm>
            <a:off x="2457450" y="3267075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E9585EA0-2F88-47B3-B9E2-37FA13ACB054}"/>
              </a:ext>
            </a:extLst>
          </p:cNvPr>
          <p:cNvSpPr>
            <a:spLocks noGrp="1"/>
          </p:cNvSpPr>
          <p:nvPr/>
        </p:nvSpPr>
        <p:spPr>
          <a:xfrm>
            <a:off x="5295900" y="3295650"/>
            <a:ext cx="34480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Бизнес-инварианты можно проверять на уровне базы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A291B83-0CD3-4137-B1E1-3BD230155780}"/>
              </a:ext>
            </a:extLst>
          </p:cNvPr>
          <p:cNvSpPr>
            <a:spLocks noGrp="1"/>
          </p:cNvSpPr>
          <p:nvPr/>
        </p:nvSpPr>
        <p:spPr>
          <a:xfrm>
            <a:off x="5219700" y="3267075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3DDBAE1-DF33-4D7D-B381-3B24B2D05898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84201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C56A49A-43C3-4442-98EA-5B3884A53CF4}"/>
              </a:ext>
            </a:extLst>
          </p:cNvPr>
          <p:cNvSpPr>
            <a:spLocks noGrp="1"/>
          </p:cNvSpPr>
          <p:nvPr/>
        </p:nvSpPr>
        <p:spPr>
          <a:xfrm>
            <a:off x="438150" y="3762375"/>
            <a:ext cx="198120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Наблюдаемость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B53F8810-BDCE-44F0-83CC-43107832FE25}"/>
              </a:ext>
            </a:extLst>
          </p:cNvPr>
          <p:cNvSpPr>
            <a:spLocks noGrp="1"/>
          </p:cNvSpPr>
          <p:nvPr/>
        </p:nvSpPr>
        <p:spPr>
          <a:xfrm>
            <a:off x="2533650" y="3762375"/>
            <a:ext cx="26479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Percona Monitoring and Management: компонентная таблица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7416082-44AC-4463-AB39-F2E0E8ED60EB}"/>
              </a:ext>
            </a:extLst>
          </p:cNvPr>
          <p:cNvSpPr>
            <a:spLocks noGrp="1"/>
          </p:cNvSpPr>
          <p:nvPr/>
        </p:nvSpPr>
        <p:spPr>
          <a:xfrm>
            <a:off x="2457450" y="3733800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996E96E-42A6-44DD-BE33-AE758D138D22}"/>
              </a:ext>
            </a:extLst>
          </p:cNvPr>
          <p:cNvSpPr>
            <a:spLocks noGrp="1"/>
          </p:cNvSpPr>
          <p:nvPr/>
        </p:nvSpPr>
        <p:spPr>
          <a:xfrm>
            <a:off x="5295900" y="3762375"/>
            <a:ext cx="3448050" cy="37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Видно состояние не только PostgreSQL, но и зависимых контуров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20F3249F-209D-41CF-8103-226BE357D59B}"/>
              </a:ext>
            </a:extLst>
          </p:cNvPr>
          <p:cNvSpPr>
            <a:spLocks noGrp="1"/>
          </p:cNvSpPr>
          <p:nvPr/>
        </p:nvSpPr>
        <p:spPr>
          <a:xfrm>
            <a:off x="5219700" y="3733800"/>
            <a:ext cx="9525" cy="37147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C0079587-4624-4164-8643-4D0E6B5548DA}"/>
              </a:ext>
            </a:extLst>
          </p:cNvPr>
          <p:cNvSpPr>
            <a:spLocks noGrp="1"/>
          </p:cNvSpPr>
          <p:nvPr/>
        </p:nvSpPr>
        <p:spPr>
          <a:xfrm>
            <a:off x="361950" y="3686175"/>
            <a:ext cx="84201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11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0301AD8-ABD4-4739-B59A-9CAFE97F21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B98DA5B-3246-4C35-9BE3-17D1C11792AE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8A7177-3A98-4C86-BC03-7F2A22930533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741D9ED-3093-4256-A9D7-10F746F9FF3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3627FCD-D765-48BF-97DE-F48A814C630E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Домен задает данные, которые нельзя терять или портить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C71A2F7-8BDE-4298-B657-5E7089FACF5E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EAB64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B64F"/>
                </a:solidFill>
                <a:latin typeface="Aptos Display"/>
                <a:ea typeface="Aptos Display"/>
                <a:cs typeface="Aptos Display"/>
              </a:rPr>
              <a:t>20 таблиц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E6720A-2ADB-4FD0-930F-E14A17CB9A1F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в прикладной схеме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718D12A-5308-46F3-A488-648EFCCD34B4}"/>
              </a:ext>
            </a:extLst>
          </p:cNvPr>
          <p:cNvSpPr>
            <a:spLocks noGrp="1"/>
          </p:cNvSpPr>
          <p:nvPr/>
        </p:nvSpPr>
        <p:spPr>
          <a:xfrm>
            <a:off x="2476500" y="1257300"/>
            <a:ext cx="2609850" cy="7429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F380984-F7A3-467C-9A08-99EDD71F6B44}"/>
              </a:ext>
            </a:extLst>
          </p:cNvPr>
          <p:cNvSpPr>
            <a:spLocks noGrp="1"/>
          </p:cNvSpPr>
          <p:nvPr/>
        </p:nvSpPr>
        <p:spPr>
          <a:xfrm>
            <a:off x="2476500" y="1257300"/>
            <a:ext cx="260985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DEBA378-974B-443C-9EF2-1CD91C5BDA17}"/>
              </a:ext>
            </a:extLst>
          </p:cNvPr>
          <p:cNvSpPr>
            <a:spLocks noGrp="1"/>
          </p:cNvSpPr>
          <p:nvPr/>
        </p:nvSpPr>
        <p:spPr>
          <a:xfrm>
            <a:off x="2590800" y="13716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Пользователи и доступ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DEB51F9-5D4F-4D5F-BB9B-0189CDB37D3E}"/>
              </a:ext>
            </a:extLst>
          </p:cNvPr>
          <p:cNvSpPr>
            <a:spLocks noGrp="1"/>
          </p:cNvSpPr>
          <p:nvPr/>
        </p:nvSpPr>
        <p:spPr>
          <a:xfrm>
            <a:off x="2590800" y="16192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lang="ru-RU" sz="825" b="0" dirty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пользователи</a:t>
            </a:r>
            <a:r>
              <a:rPr sz="825" b="0" dirty="0">
                <a:solidFill>
                  <a:srgbClr val="C9D1D9"/>
                </a:solidFill>
                <a:latin typeface="Aptos"/>
                <a:ea typeface="Aptos"/>
                <a:cs typeface="Aptos"/>
              </a:rPr>
              <a:t>, </a:t>
            </a:r>
            <a:r>
              <a:rPr sz="825" b="0" dirty="0" err="1">
                <a:solidFill>
                  <a:srgbClr val="C9D1D9"/>
                </a:solidFill>
                <a:latin typeface="Aptos"/>
                <a:ea typeface="Aptos"/>
                <a:cs typeface="Aptos"/>
              </a:rPr>
              <a:t>роли</a:t>
            </a:r>
            <a:r>
              <a:rPr sz="825" b="0" dirty="0">
                <a:solidFill>
                  <a:srgbClr val="C9D1D9"/>
                </a:solidFill>
                <a:latin typeface="Aptos"/>
                <a:ea typeface="Aptos"/>
                <a:cs typeface="Aptos"/>
              </a:rPr>
              <a:t>, </a:t>
            </a:r>
            <a:r>
              <a:rPr sz="825" b="0" dirty="0" err="1">
                <a:solidFill>
                  <a:srgbClr val="C9D1D9"/>
                </a:solidFill>
                <a:latin typeface="Aptos"/>
                <a:ea typeface="Aptos"/>
                <a:cs typeface="Aptos"/>
              </a:rPr>
              <a:t>права</a:t>
            </a:r>
            <a:endParaRPr sz="825" b="0" dirty="0">
              <a:solidFill>
                <a:srgbClr val="C9D1D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9E768D6-B601-4094-98B6-8D3182E071B4}"/>
              </a:ext>
            </a:extLst>
          </p:cNvPr>
          <p:cNvSpPr>
            <a:spLocks noGrp="1"/>
          </p:cNvSpPr>
          <p:nvPr/>
        </p:nvSpPr>
        <p:spPr>
          <a:xfrm>
            <a:off x="5429250" y="1257300"/>
            <a:ext cx="2609850" cy="7429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71A22C2-6E18-4951-A26C-48B4EA8C3306}"/>
              </a:ext>
            </a:extLst>
          </p:cNvPr>
          <p:cNvSpPr>
            <a:spLocks noGrp="1"/>
          </p:cNvSpPr>
          <p:nvPr/>
        </p:nvSpPr>
        <p:spPr>
          <a:xfrm>
            <a:off x="5429250" y="1257300"/>
            <a:ext cx="260985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28A4954-CF12-42FC-A0B2-9CEDBA44EECD}"/>
              </a:ext>
            </a:extLst>
          </p:cNvPr>
          <p:cNvSpPr>
            <a:spLocks noGrp="1"/>
          </p:cNvSpPr>
          <p:nvPr/>
        </p:nvSpPr>
        <p:spPr>
          <a:xfrm>
            <a:off x="5543550" y="13716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Справочники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CA1A514-6009-4650-BBAD-A93CF2D19005}"/>
              </a:ext>
            </a:extLst>
          </p:cNvPr>
          <p:cNvSpPr>
            <a:spLocks noGrp="1"/>
          </p:cNvSpPr>
          <p:nvPr/>
        </p:nvSpPr>
        <p:spPr>
          <a:xfrm>
            <a:off x="5543550" y="16192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страны, города, адреса, валюты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30D1643-482B-4DD6-9113-6C11FEA3BE62}"/>
              </a:ext>
            </a:extLst>
          </p:cNvPr>
          <p:cNvSpPr>
            <a:spLocks noGrp="1"/>
          </p:cNvSpPr>
          <p:nvPr/>
        </p:nvSpPr>
        <p:spPr>
          <a:xfrm>
            <a:off x="2476500" y="2247900"/>
            <a:ext cx="2609850" cy="7429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9955888-5723-4EED-9544-7C346D083DE1}"/>
              </a:ext>
            </a:extLst>
          </p:cNvPr>
          <p:cNvSpPr>
            <a:spLocks noGrp="1"/>
          </p:cNvSpPr>
          <p:nvPr/>
        </p:nvSpPr>
        <p:spPr>
          <a:xfrm>
            <a:off x="2476500" y="2247900"/>
            <a:ext cx="260985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F9F2DF0-7DDA-4EA4-B9C8-5CE5B8D3E577}"/>
              </a:ext>
            </a:extLst>
          </p:cNvPr>
          <p:cNvSpPr>
            <a:spLocks noGrp="1"/>
          </p:cNvSpPr>
          <p:nvPr/>
        </p:nvSpPr>
        <p:spPr>
          <a:xfrm>
            <a:off x="2590800" y="23622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Объявления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03D660A-8539-41CF-9642-1B470E8A5C7F}"/>
              </a:ext>
            </a:extLst>
          </p:cNvPr>
          <p:cNvSpPr>
            <a:spLocks noGrp="1"/>
          </p:cNvSpPr>
          <p:nvPr/>
        </p:nvSpPr>
        <p:spPr>
          <a:xfrm>
            <a:off x="2590800" y="26098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жилье, фото, галерея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893E364-815F-4AE0-8C97-CABA88D56021}"/>
              </a:ext>
            </a:extLst>
          </p:cNvPr>
          <p:cNvSpPr>
            <a:spLocks noGrp="1"/>
          </p:cNvSpPr>
          <p:nvPr/>
        </p:nvSpPr>
        <p:spPr>
          <a:xfrm>
            <a:off x="5429250" y="2247900"/>
            <a:ext cx="2609850" cy="7429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30D9596-1E9B-4456-B5D4-D000C5F007BC}"/>
              </a:ext>
            </a:extLst>
          </p:cNvPr>
          <p:cNvSpPr>
            <a:spLocks noGrp="1"/>
          </p:cNvSpPr>
          <p:nvPr/>
        </p:nvSpPr>
        <p:spPr>
          <a:xfrm>
            <a:off x="5429250" y="2247900"/>
            <a:ext cx="2609850" cy="28575"/>
          </a:xfrm>
          <a:prstGeom prst="rect">
            <a:avLst/>
          </a:prstGeom>
          <a:solidFill>
            <a:srgbClr val="D86A78"/>
          </a:solidFill>
          <a:ln w="0">
            <a:solidFill>
              <a:srgbClr val="D86A78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C5FBA74-C92D-4C88-9841-1E2A4B477AD9}"/>
              </a:ext>
            </a:extLst>
          </p:cNvPr>
          <p:cNvSpPr>
            <a:spLocks noGrp="1"/>
          </p:cNvSpPr>
          <p:nvPr/>
        </p:nvSpPr>
        <p:spPr>
          <a:xfrm>
            <a:off x="5543550" y="23622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Цены и календарь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FC37668-4DE7-44A2-898C-752C7521D6BB}"/>
              </a:ext>
            </a:extLst>
          </p:cNvPr>
          <p:cNvSpPr>
            <a:spLocks noGrp="1"/>
          </p:cNvSpPr>
          <p:nvPr/>
        </p:nvSpPr>
        <p:spPr>
          <a:xfrm>
            <a:off x="5543550" y="26098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базовая цена, дни, история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1C6A2EC-558F-434A-A569-7EBAE189EB29}"/>
              </a:ext>
            </a:extLst>
          </p:cNvPr>
          <p:cNvSpPr>
            <a:spLocks noGrp="1"/>
          </p:cNvSpPr>
          <p:nvPr/>
        </p:nvSpPr>
        <p:spPr>
          <a:xfrm>
            <a:off x="2476500" y="3238500"/>
            <a:ext cx="2609850" cy="7429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142DD61F-0DD0-49AC-AC14-9ADF09620708}"/>
              </a:ext>
            </a:extLst>
          </p:cNvPr>
          <p:cNvSpPr>
            <a:spLocks noGrp="1"/>
          </p:cNvSpPr>
          <p:nvPr/>
        </p:nvSpPr>
        <p:spPr>
          <a:xfrm>
            <a:off x="2476500" y="3238500"/>
            <a:ext cx="2609850" cy="28575"/>
          </a:xfrm>
          <a:prstGeom prst="rect">
            <a:avLst/>
          </a:prstGeom>
          <a:solidFill>
            <a:srgbClr val="8B7CF6"/>
          </a:solidFill>
          <a:ln w="0">
            <a:solidFill>
              <a:srgbClr val="8B7CF6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3001A6F-747C-46B8-9237-A18DD3761B75}"/>
              </a:ext>
            </a:extLst>
          </p:cNvPr>
          <p:cNvSpPr>
            <a:spLocks noGrp="1"/>
          </p:cNvSpPr>
          <p:nvPr/>
        </p:nvSpPr>
        <p:spPr>
          <a:xfrm>
            <a:off x="2590800" y="33528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Бронирования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2AB2916-038B-4502-B5C7-ACDA07F2754A}"/>
              </a:ext>
            </a:extLst>
          </p:cNvPr>
          <p:cNvSpPr>
            <a:spLocks noGrp="1"/>
          </p:cNvSpPr>
          <p:nvPr/>
        </p:nvSpPr>
        <p:spPr>
          <a:xfrm>
            <a:off x="2590800" y="36004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бронь и выбранные даты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EB62D16-123F-4809-BEEE-14758EA92223}"/>
              </a:ext>
            </a:extLst>
          </p:cNvPr>
          <p:cNvSpPr>
            <a:spLocks noGrp="1"/>
          </p:cNvSpPr>
          <p:nvPr/>
        </p:nvSpPr>
        <p:spPr>
          <a:xfrm>
            <a:off x="5429250" y="3238500"/>
            <a:ext cx="2609850" cy="7429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8D1691D-0378-47D0-ABF5-676A8D670FA4}"/>
              </a:ext>
            </a:extLst>
          </p:cNvPr>
          <p:cNvSpPr>
            <a:spLocks noGrp="1"/>
          </p:cNvSpPr>
          <p:nvPr/>
        </p:nvSpPr>
        <p:spPr>
          <a:xfrm>
            <a:off x="5429250" y="3238500"/>
            <a:ext cx="260985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EEF87DF-E28C-4F36-B8FD-9841CC3C4D48}"/>
              </a:ext>
            </a:extLst>
          </p:cNvPr>
          <p:cNvSpPr>
            <a:spLocks noGrp="1"/>
          </p:cNvSpPr>
          <p:nvPr/>
        </p:nvSpPr>
        <p:spPr>
          <a:xfrm>
            <a:off x="5543550" y="33528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Платежи и отзывы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EFAA318-3B17-4A40-B79D-E3483C703A10}"/>
              </a:ext>
            </a:extLst>
          </p:cNvPr>
          <p:cNvSpPr>
            <a:spLocks noGrp="1"/>
          </p:cNvSpPr>
          <p:nvPr/>
        </p:nvSpPr>
        <p:spPr>
          <a:xfrm>
            <a:off x="5543550" y="360045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расчеты и оценка проживания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BC838FA-7AF7-4840-A7CE-328B76C203E2}"/>
              </a:ext>
            </a:extLst>
          </p:cNvPr>
          <p:cNvSpPr>
            <a:spLocks noGrp="1"/>
          </p:cNvSpPr>
          <p:nvPr/>
        </p:nvSpPr>
        <p:spPr>
          <a:xfrm>
            <a:off x="514350" y="4267200"/>
            <a:ext cx="7524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Ключевые правила: день нельзя продать дважды; платеж должен соответствовать бронированию; отзыв возможен только после завершенного проживания; изменения цены должны быть объяснимы.</a:t>
            </a:r>
          </a:p>
        </p:txBody>
      </p:sp>
    </p:spTree>
    <p:extLst>
      <p:ext uri="{BB962C8B-B14F-4D97-AF65-F5344CB8AC3E}">
        <p14:creationId xmlns:p14="http://schemas.microsoft.com/office/powerpoint/2010/main" val="108409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633F2A5-A14B-4049-A0A0-ADCEF2A0A1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CA4E76-20EB-47B9-83A8-E4725BDAE338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1E4A925-9E45-4182-9912-388D182E7B22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1094A03-0B34-40AD-A53F-5B3CB7CD6B05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ПОЛЬЗОВАТЕЛИ И ПРАВА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AA42546-E7B0-4886-8346-D4998804F162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Роли создаются миграциями и могут совмещаться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DFD50E-5F3B-42EA-8B9B-803BE7CDB6AC}"/>
              </a:ext>
            </a:extLst>
          </p:cNvPr>
          <p:cNvSpPr>
            <a:spLocks noGrp="1"/>
          </p:cNvSpPr>
          <p:nvPr/>
        </p:nvSpPr>
        <p:spPr>
          <a:xfrm>
            <a:off x="323850" y="10858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Доменные роли guest, owner и admin создаются вместе с правами; user_roles позволяет одной учетной записи иметь несколько ролей одновременно.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86FCCD5-F921-4D98-B97A-9A8A7BA380B2}"/>
              </a:ext>
            </a:extLst>
          </p:cNvPr>
          <p:cNvSpPr>
            <a:spLocks noGrp="1"/>
          </p:cNvSpPr>
          <p:nvPr/>
        </p:nvSpPr>
        <p:spPr>
          <a:xfrm>
            <a:off x="323850" y="1611457"/>
            <a:ext cx="5905500" cy="2647950"/>
          </a:xfrm>
          <a:prstGeom prst="rect">
            <a:avLst/>
          </a:prstGeom>
          <a:solidFill>
            <a:srgbClr val="070A0D"/>
          </a:solidFill>
          <a:ln w="7620">
            <a:solidFill>
              <a:srgbClr val="2F3945"/>
            </a:solidFill>
            <a:prstDash val="solid"/>
          </a:ln>
        </p:spPr>
      </p:sp>
      <p:pic>
        <p:nvPicPr>
          <p:cNvPr id="2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1507" y="1725757"/>
            <a:ext cx="5430187" cy="24003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F3DB9E6-DEEB-4052-B277-22124DE368FC}"/>
              </a:ext>
            </a:extLst>
          </p:cNvPr>
          <p:cNvSpPr>
            <a:spLocks noGrp="1"/>
          </p:cNvSpPr>
          <p:nvPr/>
        </p:nvSpPr>
        <p:spPr>
          <a:xfrm>
            <a:off x="6553200" y="1615787"/>
            <a:ext cx="238125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20BEF64-29F7-4F04-9118-D378257DE0D1}"/>
              </a:ext>
            </a:extLst>
          </p:cNvPr>
          <p:cNvSpPr>
            <a:spLocks noGrp="1"/>
          </p:cNvSpPr>
          <p:nvPr/>
        </p:nvSpPr>
        <p:spPr>
          <a:xfrm>
            <a:off x="6553200" y="1615787"/>
            <a:ext cx="238125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B65FE3-F55A-4F19-8E9A-D9847B889AEB}"/>
              </a:ext>
            </a:extLst>
          </p:cNvPr>
          <p:cNvSpPr>
            <a:spLocks noGrp="1"/>
          </p:cNvSpPr>
          <p:nvPr/>
        </p:nvSpPr>
        <p:spPr>
          <a:xfrm>
            <a:off x="6667500" y="1730087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7542A04-9218-43B2-AB83-0093C95ADA20}"/>
              </a:ext>
            </a:extLst>
          </p:cNvPr>
          <p:cNvSpPr>
            <a:spLocks noGrp="1"/>
          </p:cNvSpPr>
          <p:nvPr/>
        </p:nvSpPr>
        <p:spPr>
          <a:xfrm>
            <a:off x="6667500" y="1977737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учетная запись и статус пользователя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782BB8E-EE89-4E78-8727-94E832F2942F}"/>
              </a:ext>
            </a:extLst>
          </p:cNvPr>
          <p:cNvSpPr>
            <a:spLocks noGrp="1"/>
          </p:cNvSpPr>
          <p:nvPr/>
        </p:nvSpPr>
        <p:spPr>
          <a:xfrm>
            <a:off x="6553200" y="2492087"/>
            <a:ext cx="238125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1D84090-9885-4F83-95C6-281787EAA505}"/>
              </a:ext>
            </a:extLst>
          </p:cNvPr>
          <p:cNvSpPr>
            <a:spLocks noGrp="1"/>
          </p:cNvSpPr>
          <p:nvPr/>
        </p:nvSpPr>
        <p:spPr>
          <a:xfrm>
            <a:off x="6553200" y="2492087"/>
            <a:ext cx="238125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0B5BEA6-DFCF-41BF-87DA-C0FED2E58812}"/>
              </a:ext>
            </a:extLst>
          </p:cNvPr>
          <p:cNvSpPr>
            <a:spLocks noGrp="1"/>
          </p:cNvSpPr>
          <p:nvPr/>
        </p:nvSpPr>
        <p:spPr>
          <a:xfrm>
            <a:off x="6667500" y="2606387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roles / permissions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CEC4EE0-BEB1-4E26-B03F-E51F3E818650}"/>
              </a:ext>
            </a:extLst>
          </p:cNvPr>
          <p:cNvSpPr>
            <a:spLocks noGrp="1"/>
          </p:cNvSpPr>
          <p:nvPr/>
        </p:nvSpPr>
        <p:spPr>
          <a:xfrm>
            <a:off x="6667500" y="2854037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guest / owner / admin и атомарные права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B63C5BC-AE0F-4DEC-B543-305E232682EA}"/>
              </a:ext>
            </a:extLst>
          </p:cNvPr>
          <p:cNvSpPr>
            <a:spLocks noGrp="1"/>
          </p:cNvSpPr>
          <p:nvPr/>
        </p:nvSpPr>
        <p:spPr>
          <a:xfrm>
            <a:off x="6553200" y="3368387"/>
            <a:ext cx="238125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2533599-1B58-4844-955F-2D91B23A67EE}"/>
              </a:ext>
            </a:extLst>
          </p:cNvPr>
          <p:cNvSpPr>
            <a:spLocks noGrp="1"/>
          </p:cNvSpPr>
          <p:nvPr/>
        </p:nvSpPr>
        <p:spPr>
          <a:xfrm>
            <a:off x="6553200" y="3368387"/>
            <a:ext cx="238125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6DC6CF9-3CA4-4591-B689-50D99CC0794B}"/>
              </a:ext>
            </a:extLst>
          </p:cNvPr>
          <p:cNvSpPr>
            <a:spLocks noGrp="1"/>
          </p:cNvSpPr>
          <p:nvPr/>
        </p:nvSpPr>
        <p:spPr>
          <a:xfrm>
            <a:off x="6667500" y="3482687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user_roles / role_permissions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5FA467C-D578-450E-934A-24B1FEF6D4D9}"/>
              </a:ext>
            </a:extLst>
          </p:cNvPr>
          <p:cNvSpPr>
            <a:spLocks noGrp="1"/>
          </p:cNvSpPr>
          <p:nvPr/>
        </p:nvSpPr>
        <p:spPr>
          <a:xfrm>
            <a:off x="6667500" y="3730337"/>
            <a:ext cx="2152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назначение нескольких ролей и наборы прав</a:t>
            </a:r>
          </a:p>
        </p:txBody>
      </p:sp>
    </p:spTree>
    <p:extLst>
      <p:ext uri="{BB962C8B-B14F-4D97-AF65-F5344CB8AC3E}">
        <p14:creationId xmlns:p14="http://schemas.microsoft.com/office/powerpoint/2010/main" val="53775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3ED5AF9-29F5-493E-8B38-CFE54AF67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9BA216-E9BE-4736-9B9E-CE5B32F232FA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A23B41D-19BB-4A61-8C5F-0D4F505A40A9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6F11131-A555-4B15-A5D3-5D0383D8DB7C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КАТАЛОГ ЖИЛЬЯ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F18CD3-1114-4B91-9BD8-60A6FEE8975B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Объявление связывает владельца, адрес и тип объекта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A66C4B9-A643-415F-BA61-D8C0C591AB21}"/>
              </a:ext>
            </a:extLst>
          </p:cNvPr>
          <p:cNvSpPr>
            <a:spLocks noGrp="1"/>
          </p:cNvSpPr>
          <p:nvPr/>
        </p:nvSpPr>
        <p:spPr>
          <a:xfrm>
            <a:off x="323850" y="10858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Каталог опирается на нормализованные справочники: адрес, город, страна и тип жилья не хранятся свободным текстом.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1CC208B-E0AE-4922-91D0-92D35587D07E}"/>
              </a:ext>
            </a:extLst>
          </p:cNvPr>
          <p:cNvSpPr>
            <a:spLocks noGrp="1"/>
          </p:cNvSpPr>
          <p:nvPr/>
        </p:nvSpPr>
        <p:spPr>
          <a:xfrm>
            <a:off x="323850" y="1485900"/>
            <a:ext cx="5334000" cy="3486150"/>
          </a:xfrm>
          <a:prstGeom prst="rect">
            <a:avLst/>
          </a:prstGeom>
          <a:solidFill>
            <a:srgbClr val="070A0D"/>
          </a:solidFill>
          <a:ln w="7620">
            <a:solidFill>
              <a:srgbClr val="2F3945"/>
            </a:solidFill>
            <a:prstDash val="solid"/>
          </a:ln>
        </p:spPr>
      </p:sp>
      <p:pic>
        <p:nvPicPr>
          <p:cNvPr id="2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206" y="1638300"/>
            <a:ext cx="3874238" cy="314325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91CC0C4-5246-4190-BED3-176270EE508B}"/>
              </a:ext>
            </a:extLst>
          </p:cNvPr>
          <p:cNvSpPr>
            <a:spLocks noGrp="1"/>
          </p:cNvSpPr>
          <p:nvPr/>
        </p:nvSpPr>
        <p:spPr>
          <a:xfrm>
            <a:off x="6057900" y="1485900"/>
            <a:ext cx="26289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CB4F75-7262-4EF6-A4E8-DB6885C64284}"/>
              </a:ext>
            </a:extLst>
          </p:cNvPr>
          <p:cNvSpPr>
            <a:spLocks noGrp="1"/>
          </p:cNvSpPr>
          <p:nvPr/>
        </p:nvSpPr>
        <p:spPr>
          <a:xfrm>
            <a:off x="6057900" y="1485900"/>
            <a:ext cx="262890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66A5869-3AA6-4D99-93E4-4B0A1DB69EF7}"/>
              </a:ext>
            </a:extLst>
          </p:cNvPr>
          <p:cNvSpPr>
            <a:spLocks noGrp="1"/>
          </p:cNvSpPr>
          <p:nvPr/>
        </p:nvSpPr>
        <p:spPr>
          <a:xfrm>
            <a:off x="6172200" y="1600200"/>
            <a:ext cx="2400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listings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FC5432-EE72-4EC0-949B-6B91CBAEFC11}"/>
              </a:ext>
            </a:extLst>
          </p:cNvPr>
          <p:cNvSpPr>
            <a:spLocks noGrp="1"/>
          </p:cNvSpPr>
          <p:nvPr/>
        </p:nvSpPr>
        <p:spPr>
          <a:xfrm>
            <a:off x="6172200" y="1847850"/>
            <a:ext cx="2400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центральная таблица каталога: владелец, адрес, тип, статус и параметры жилья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9516798-4E12-4C73-AC98-6AB3A17E3B22}"/>
              </a:ext>
            </a:extLst>
          </p:cNvPr>
          <p:cNvSpPr>
            <a:spLocks noGrp="1"/>
          </p:cNvSpPr>
          <p:nvPr/>
        </p:nvSpPr>
        <p:spPr>
          <a:xfrm>
            <a:off x="6057900" y="2381250"/>
            <a:ext cx="26289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7C0A019-9F94-48D0-B488-0C43E84E4128}"/>
              </a:ext>
            </a:extLst>
          </p:cNvPr>
          <p:cNvSpPr>
            <a:spLocks noGrp="1"/>
          </p:cNvSpPr>
          <p:nvPr/>
        </p:nvSpPr>
        <p:spPr>
          <a:xfrm>
            <a:off x="6057900" y="2381250"/>
            <a:ext cx="262890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0D17025-0F47-4E62-BBF1-0D22CF98CFB8}"/>
              </a:ext>
            </a:extLst>
          </p:cNvPr>
          <p:cNvSpPr>
            <a:spLocks noGrp="1"/>
          </p:cNvSpPr>
          <p:nvPr/>
        </p:nvSpPr>
        <p:spPr>
          <a:xfrm>
            <a:off x="6172200" y="2495550"/>
            <a:ext cx="2400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addresses -&gt; cities -&gt; countries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6D338B2-B49D-4BE1-A799-C2FDFA3DA980}"/>
              </a:ext>
            </a:extLst>
          </p:cNvPr>
          <p:cNvSpPr>
            <a:spLocks noGrp="1"/>
          </p:cNvSpPr>
          <p:nvPr/>
        </p:nvSpPr>
        <p:spPr>
          <a:xfrm>
            <a:off x="6172200" y="2743200"/>
            <a:ext cx="2400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география нормализована и переиспользуется объявлениями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2C6FE00-8C5A-40B0-A6F1-871780494923}"/>
              </a:ext>
            </a:extLst>
          </p:cNvPr>
          <p:cNvSpPr>
            <a:spLocks noGrp="1"/>
          </p:cNvSpPr>
          <p:nvPr/>
        </p:nvSpPr>
        <p:spPr>
          <a:xfrm>
            <a:off x="6057900" y="3276600"/>
            <a:ext cx="26289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FD60124-EDA3-4A98-948F-E5F4B204C1C3}"/>
              </a:ext>
            </a:extLst>
          </p:cNvPr>
          <p:cNvSpPr>
            <a:spLocks noGrp="1"/>
          </p:cNvSpPr>
          <p:nvPr/>
        </p:nvSpPr>
        <p:spPr>
          <a:xfrm>
            <a:off x="6057900" y="3276600"/>
            <a:ext cx="26289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3155F0-5142-4F11-8E6D-38954FE51DAB}"/>
              </a:ext>
            </a:extLst>
          </p:cNvPr>
          <p:cNvSpPr>
            <a:spLocks noGrp="1"/>
          </p:cNvSpPr>
          <p:nvPr/>
        </p:nvSpPr>
        <p:spPr>
          <a:xfrm>
            <a:off x="6172200" y="3390900"/>
            <a:ext cx="2400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object_types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AD7E41A-E370-4577-AA97-8364631EDEAE}"/>
              </a:ext>
            </a:extLst>
          </p:cNvPr>
          <p:cNvSpPr>
            <a:spLocks noGrp="1"/>
          </p:cNvSpPr>
          <p:nvPr/>
        </p:nvSpPr>
        <p:spPr>
          <a:xfrm>
            <a:off x="6172200" y="3638550"/>
            <a:ext cx="2400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справочник типов жилья отделен от самих объявлений</a:t>
            </a:r>
          </a:p>
        </p:txBody>
      </p:sp>
    </p:spTree>
    <p:extLst>
      <p:ext uri="{BB962C8B-B14F-4D97-AF65-F5344CB8AC3E}">
        <p14:creationId xmlns:p14="http://schemas.microsoft.com/office/powerpoint/2010/main" val="32486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C3F4220-C10B-4B6F-8344-8C11F46DAB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8A00842-76EA-436A-B514-40AAFF14C802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98A254B-90BC-43D1-B9D6-74BBA02EB2E4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733761-22BD-4874-BE22-52767340B77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ФОТОГРАФИИ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6543044-63FB-499F-84A6-F3D2952E8982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Фото хранится отдельно от позиции в галерее объявления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3D6BDC-BC49-40D7-9EBC-341535919786}"/>
              </a:ext>
            </a:extLst>
          </p:cNvPr>
          <p:cNvSpPr>
            <a:spLocks noGrp="1"/>
          </p:cNvSpPr>
          <p:nvPr/>
        </p:nvSpPr>
        <p:spPr>
          <a:xfrm>
            <a:off x="323850" y="10858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Разделение `photos` и `listing_photos` позволяет хранить медиаобъект отдельно и контролировать слот фотографии в объявлении.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5D652-4E74-4DCC-B045-CF812E656779}"/>
              </a:ext>
            </a:extLst>
          </p:cNvPr>
          <p:cNvSpPr>
            <a:spLocks noGrp="1"/>
          </p:cNvSpPr>
          <p:nvPr/>
        </p:nvSpPr>
        <p:spPr>
          <a:xfrm>
            <a:off x="323850" y="1619250"/>
            <a:ext cx="3733800" cy="2857500"/>
          </a:xfrm>
          <a:prstGeom prst="rect">
            <a:avLst/>
          </a:prstGeom>
          <a:solidFill>
            <a:srgbClr val="070A0D"/>
          </a:solidFill>
          <a:ln w="7620">
            <a:solidFill>
              <a:srgbClr val="2F3945"/>
            </a:solidFill>
            <a:prstDash val="solid"/>
          </a:ln>
        </p:spPr>
      </p:sp>
      <p:pic>
        <p:nvPicPr>
          <p:cNvPr id="2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956955"/>
            <a:ext cx="2857500" cy="2182091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C8DF12-58ED-4191-BBDB-4945750CD606}"/>
              </a:ext>
            </a:extLst>
          </p:cNvPr>
          <p:cNvSpPr>
            <a:spLocks noGrp="1"/>
          </p:cNvSpPr>
          <p:nvPr/>
        </p:nvSpPr>
        <p:spPr>
          <a:xfrm>
            <a:off x="5219700" y="1619250"/>
            <a:ext cx="28194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A7A857-65F6-4015-82C5-268A94088B5D}"/>
              </a:ext>
            </a:extLst>
          </p:cNvPr>
          <p:cNvSpPr>
            <a:spLocks noGrp="1"/>
          </p:cNvSpPr>
          <p:nvPr/>
        </p:nvSpPr>
        <p:spPr>
          <a:xfrm>
            <a:off x="5219700" y="1619250"/>
            <a:ext cx="281940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1D84D75-9B05-418E-9CCF-9716BB522CF2}"/>
              </a:ext>
            </a:extLst>
          </p:cNvPr>
          <p:cNvSpPr>
            <a:spLocks noGrp="1"/>
          </p:cNvSpPr>
          <p:nvPr/>
        </p:nvSpPr>
        <p:spPr>
          <a:xfrm>
            <a:off x="5334000" y="1733550"/>
            <a:ext cx="2590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photos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02A4265-6899-40EA-83CC-15738BD79ED5}"/>
              </a:ext>
            </a:extLst>
          </p:cNvPr>
          <p:cNvSpPr>
            <a:spLocks noGrp="1"/>
          </p:cNvSpPr>
          <p:nvPr/>
        </p:nvSpPr>
        <p:spPr>
          <a:xfrm>
            <a:off x="5334000" y="19812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объект фотографии: ссылка, расширение и время создания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8DB2DCC-CACB-46DB-BECE-573307D0D9BB}"/>
              </a:ext>
            </a:extLst>
          </p:cNvPr>
          <p:cNvSpPr>
            <a:spLocks noGrp="1"/>
          </p:cNvSpPr>
          <p:nvPr/>
        </p:nvSpPr>
        <p:spPr>
          <a:xfrm>
            <a:off x="5219700" y="2571750"/>
            <a:ext cx="28194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907613-C1AA-433A-A056-DD6749335362}"/>
              </a:ext>
            </a:extLst>
          </p:cNvPr>
          <p:cNvSpPr>
            <a:spLocks noGrp="1"/>
          </p:cNvSpPr>
          <p:nvPr/>
        </p:nvSpPr>
        <p:spPr>
          <a:xfrm>
            <a:off x="5219700" y="2571750"/>
            <a:ext cx="28194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BD36297-3E55-4AF7-869C-4BD220BF647D}"/>
              </a:ext>
            </a:extLst>
          </p:cNvPr>
          <p:cNvSpPr>
            <a:spLocks noGrp="1"/>
          </p:cNvSpPr>
          <p:nvPr/>
        </p:nvSpPr>
        <p:spPr>
          <a:xfrm>
            <a:off x="5334000" y="2686050"/>
            <a:ext cx="2590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listing_photos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BD3DFCD-FC97-46AC-861A-491794DE3EAF}"/>
              </a:ext>
            </a:extLst>
          </p:cNvPr>
          <p:cNvSpPr>
            <a:spLocks noGrp="1"/>
          </p:cNvSpPr>
          <p:nvPr/>
        </p:nvSpPr>
        <p:spPr>
          <a:xfrm>
            <a:off x="5334000" y="29337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связь фотографии с объявлением и номером слота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781CF8E-6B67-440F-A743-8DD0E9CE2B0D}"/>
              </a:ext>
            </a:extLst>
          </p:cNvPr>
          <p:cNvSpPr>
            <a:spLocks noGrp="1"/>
          </p:cNvSpPr>
          <p:nvPr/>
        </p:nvSpPr>
        <p:spPr>
          <a:xfrm>
            <a:off x="5219700" y="3524250"/>
            <a:ext cx="28194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84AF5B6-9262-49EC-A2D0-C166DF15C5E1}"/>
              </a:ext>
            </a:extLst>
          </p:cNvPr>
          <p:cNvSpPr>
            <a:spLocks noGrp="1"/>
          </p:cNvSpPr>
          <p:nvPr/>
        </p:nvSpPr>
        <p:spPr>
          <a:xfrm>
            <a:off x="5219700" y="3524250"/>
            <a:ext cx="281940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68E4086-D986-42F7-B696-1862A7F2A809}"/>
              </a:ext>
            </a:extLst>
          </p:cNvPr>
          <p:cNvSpPr>
            <a:spLocks noGrp="1"/>
          </p:cNvSpPr>
          <p:nvPr/>
        </p:nvSpPr>
        <p:spPr>
          <a:xfrm>
            <a:off x="5334000" y="3638550"/>
            <a:ext cx="2590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ограничение галереи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66A31B3-97CD-439B-9AE2-0A945543420D}"/>
              </a:ext>
            </a:extLst>
          </p:cNvPr>
          <p:cNvSpPr>
            <a:spLocks noGrp="1"/>
          </p:cNvSpPr>
          <p:nvPr/>
        </p:nvSpPr>
        <p:spPr>
          <a:xfrm>
            <a:off x="5334000" y="38862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слоты делают порядок фотографий предсказуемым и ограничивают рост связей</a:t>
            </a:r>
          </a:p>
        </p:txBody>
      </p:sp>
    </p:spTree>
    <p:extLst>
      <p:ext uri="{BB962C8B-B14F-4D97-AF65-F5344CB8AC3E}">
        <p14:creationId xmlns:p14="http://schemas.microsoft.com/office/powerpoint/2010/main" val="1713179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88DC538-ECC7-4A3D-BEFA-A96516FB96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C96EF3-10A3-4A30-937E-2CA9635FB244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9360EC-1E69-4A87-AD00-8A3B73A112C4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8D02CA-769A-4CDC-B215-946CF8C5D099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ЦЕНЫ И КАЛЕНДАРЬ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8453138-D46E-4538-95FB-022F69E111B8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Каждый день доступности хранится отдельной строкой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F7455F9-985E-4B1F-82E0-F0345C1BB237}"/>
              </a:ext>
            </a:extLst>
          </p:cNvPr>
          <p:cNvSpPr>
            <a:spLocks noGrp="1"/>
          </p:cNvSpPr>
          <p:nvPr/>
        </p:nvSpPr>
        <p:spPr>
          <a:xfrm>
            <a:off x="323850" y="11620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Базовая цена задает обычную стоимость, календарный день может иметь свою цену, а изменения попадают в историю.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B989061-53C4-44F6-AE72-D9C2917BA419}"/>
              </a:ext>
            </a:extLst>
          </p:cNvPr>
          <p:cNvSpPr>
            <a:spLocks noGrp="1"/>
          </p:cNvSpPr>
          <p:nvPr/>
        </p:nvSpPr>
        <p:spPr>
          <a:xfrm>
            <a:off x="323850" y="1552575"/>
            <a:ext cx="5619750" cy="3505200"/>
          </a:xfrm>
          <a:prstGeom prst="rect">
            <a:avLst/>
          </a:prstGeom>
          <a:solidFill>
            <a:srgbClr val="070A0D"/>
          </a:solidFill>
          <a:ln w="7620">
            <a:solidFill>
              <a:srgbClr val="2F3945"/>
            </a:solidFill>
            <a:prstDash val="solid"/>
          </a:ln>
        </p:spPr>
      </p:sp>
      <p:pic>
        <p:nvPicPr>
          <p:cNvPr id="2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666875"/>
            <a:ext cx="3086100" cy="325755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E0CB3A-5771-4FAF-A5C0-A873AF5C7AA4}"/>
              </a:ext>
            </a:extLst>
          </p:cNvPr>
          <p:cNvSpPr>
            <a:spLocks noGrp="1"/>
          </p:cNvSpPr>
          <p:nvPr/>
        </p:nvSpPr>
        <p:spPr>
          <a:xfrm>
            <a:off x="6248400" y="1548245"/>
            <a:ext cx="257175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E8FBB8-6C1A-4F69-8147-98272A70F88E}"/>
              </a:ext>
            </a:extLst>
          </p:cNvPr>
          <p:cNvSpPr>
            <a:spLocks noGrp="1"/>
          </p:cNvSpPr>
          <p:nvPr/>
        </p:nvSpPr>
        <p:spPr>
          <a:xfrm>
            <a:off x="6248400" y="1548245"/>
            <a:ext cx="257175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827106F-4FE1-4C30-9EEB-98A7114DBA47}"/>
              </a:ext>
            </a:extLst>
          </p:cNvPr>
          <p:cNvSpPr>
            <a:spLocks noGrp="1"/>
          </p:cNvSpPr>
          <p:nvPr/>
        </p:nvSpPr>
        <p:spPr>
          <a:xfrm>
            <a:off x="6362700" y="1662545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listing_availability_days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7745739-4D0A-48AC-B4E0-6BD9BB5B8C93}"/>
              </a:ext>
            </a:extLst>
          </p:cNvPr>
          <p:cNvSpPr>
            <a:spLocks noGrp="1"/>
          </p:cNvSpPr>
          <p:nvPr/>
        </p:nvSpPr>
        <p:spPr>
          <a:xfrm>
            <a:off x="6362700" y="1910195"/>
            <a:ext cx="2343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дата, статус доступности и дневная цена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112E162-3A7C-42B7-8854-D3A528A2F96C}"/>
              </a:ext>
            </a:extLst>
          </p:cNvPr>
          <p:cNvSpPr>
            <a:spLocks noGrp="1"/>
          </p:cNvSpPr>
          <p:nvPr/>
        </p:nvSpPr>
        <p:spPr>
          <a:xfrm>
            <a:off x="6248400" y="2443595"/>
            <a:ext cx="257175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BFBA7BE-F744-429A-AF16-C4253E2F1598}"/>
              </a:ext>
            </a:extLst>
          </p:cNvPr>
          <p:cNvSpPr>
            <a:spLocks noGrp="1"/>
          </p:cNvSpPr>
          <p:nvPr/>
        </p:nvSpPr>
        <p:spPr>
          <a:xfrm>
            <a:off x="6248400" y="2443595"/>
            <a:ext cx="257175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81490E2-80C9-4A37-86CE-AB296824AC9B}"/>
              </a:ext>
            </a:extLst>
          </p:cNvPr>
          <p:cNvSpPr>
            <a:spLocks noGrp="1"/>
          </p:cNvSpPr>
          <p:nvPr/>
        </p:nvSpPr>
        <p:spPr>
          <a:xfrm>
            <a:off x="6362700" y="2557895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base_prices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5564EB8-A9B9-446D-A579-EDFF718406D1}"/>
              </a:ext>
            </a:extLst>
          </p:cNvPr>
          <p:cNvSpPr>
            <a:spLocks noGrp="1"/>
          </p:cNvSpPr>
          <p:nvPr/>
        </p:nvSpPr>
        <p:spPr>
          <a:xfrm>
            <a:off x="6362700" y="2805545"/>
            <a:ext cx="2343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базовая цена объявления в выбранной валюте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47928EC-85E8-4902-BD47-2320FEAE4517}"/>
              </a:ext>
            </a:extLst>
          </p:cNvPr>
          <p:cNvSpPr>
            <a:spLocks noGrp="1"/>
          </p:cNvSpPr>
          <p:nvPr/>
        </p:nvSpPr>
        <p:spPr>
          <a:xfrm>
            <a:off x="6248400" y="3338945"/>
            <a:ext cx="257175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2900390-CC84-422D-9161-873899F1EB87}"/>
              </a:ext>
            </a:extLst>
          </p:cNvPr>
          <p:cNvSpPr>
            <a:spLocks noGrp="1"/>
          </p:cNvSpPr>
          <p:nvPr/>
        </p:nvSpPr>
        <p:spPr>
          <a:xfrm>
            <a:off x="6248400" y="3338945"/>
            <a:ext cx="2571750" cy="28575"/>
          </a:xfrm>
          <a:prstGeom prst="rect">
            <a:avLst/>
          </a:prstGeom>
          <a:solidFill>
            <a:srgbClr val="D86A78"/>
          </a:solidFill>
          <a:ln w="0">
            <a:solidFill>
              <a:srgbClr val="D86A78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E88D1CD-B849-4CC5-A78D-28A448BC2EDF}"/>
              </a:ext>
            </a:extLst>
          </p:cNvPr>
          <p:cNvSpPr>
            <a:spLocks noGrp="1"/>
          </p:cNvSpPr>
          <p:nvPr/>
        </p:nvSpPr>
        <p:spPr>
          <a:xfrm>
            <a:off x="6362700" y="3453245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price_history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E297DF0-4DE3-4C9E-8424-C3D73B5A8E84}"/>
              </a:ext>
            </a:extLst>
          </p:cNvPr>
          <p:cNvSpPr>
            <a:spLocks noGrp="1"/>
          </p:cNvSpPr>
          <p:nvPr/>
        </p:nvSpPr>
        <p:spPr>
          <a:xfrm>
            <a:off x="6362700" y="3700895"/>
            <a:ext cx="2343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аудит изменений базовой и дневной цены</a:t>
            </a:r>
          </a:p>
        </p:txBody>
      </p:sp>
    </p:spTree>
    <p:extLst>
      <p:ext uri="{BB962C8B-B14F-4D97-AF65-F5344CB8AC3E}">
        <p14:creationId xmlns:p14="http://schemas.microsoft.com/office/powerpoint/2010/main" val="153772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11B9991-5C20-4A3A-BB98-5E7C8709DB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334EB2-17B6-4C98-95E7-361AF841B467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BAF4103-3FED-48A8-AE64-D0ED37905198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15DEEF-88FD-488D-A237-270B2189AD0A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БРОНИРОВАНИЯ И РАСЧЕТЫ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86F233-504B-4D02-B4AF-B71879416EAA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Бронь связана с днями, платежом и отзывом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05D460-645C-4F7C-9246-6282B3F5859F}"/>
              </a:ext>
            </a:extLst>
          </p:cNvPr>
          <p:cNvSpPr>
            <a:spLocks noGrp="1"/>
          </p:cNvSpPr>
          <p:nvPr/>
        </p:nvSpPr>
        <p:spPr>
          <a:xfrm>
            <a:off x="323850" y="1162050"/>
            <a:ext cx="4095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Заголовок бронирования отделен от конкретных дней, а платеж и отзыв зависят от стадии жизненного цикла.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AE8E0B-7C02-4CD9-B196-33D10A746C5D}"/>
              </a:ext>
            </a:extLst>
          </p:cNvPr>
          <p:cNvSpPr>
            <a:spLocks noGrp="1"/>
          </p:cNvSpPr>
          <p:nvPr/>
        </p:nvSpPr>
        <p:spPr>
          <a:xfrm>
            <a:off x="304800" y="1581150"/>
            <a:ext cx="5981700" cy="3543300"/>
          </a:xfrm>
          <a:prstGeom prst="rect">
            <a:avLst/>
          </a:prstGeom>
          <a:solidFill>
            <a:srgbClr val="070A0D"/>
          </a:solidFill>
          <a:ln w="7620">
            <a:solidFill>
              <a:srgbClr val="2F3945"/>
            </a:solidFill>
            <a:prstDash val="solid"/>
          </a:ln>
        </p:spPr>
      </p:sp>
      <p:pic>
        <p:nvPicPr>
          <p:cNvPr id="28" name="Рисунок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762" y="1695450"/>
            <a:ext cx="5131777" cy="32385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36C5E08-219F-47D4-B7C0-2D046E4BC79C}"/>
              </a:ext>
            </a:extLst>
          </p:cNvPr>
          <p:cNvSpPr>
            <a:spLocks noGrp="1"/>
          </p:cNvSpPr>
          <p:nvPr/>
        </p:nvSpPr>
        <p:spPr>
          <a:xfrm>
            <a:off x="6591300" y="1581150"/>
            <a:ext cx="24003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F633AED-BDAB-442A-9ECD-801ED9013C33}"/>
              </a:ext>
            </a:extLst>
          </p:cNvPr>
          <p:cNvSpPr>
            <a:spLocks noGrp="1"/>
          </p:cNvSpPr>
          <p:nvPr/>
        </p:nvSpPr>
        <p:spPr>
          <a:xfrm>
            <a:off x="6591300" y="1581150"/>
            <a:ext cx="2400300" cy="28575"/>
          </a:xfrm>
          <a:prstGeom prst="rect">
            <a:avLst/>
          </a:prstGeom>
          <a:solidFill>
            <a:srgbClr val="8B7CF6"/>
          </a:solidFill>
          <a:ln w="0">
            <a:solidFill>
              <a:srgbClr val="8B7CF6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B35B4B-2302-4EF4-BF7C-7242643AF14F}"/>
              </a:ext>
            </a:extLst>
          </p:cNvPr>
          <p:cNvSpPr>
            <a:spLocks noGrp="1"/>
          </p:cNvSpPr>
          <p:nvPr/>
        </p:nvSpPr>
        <p:spPr>
          <a:xfrm>
            <a:off x="6705600" y="169545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bookings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A13A43D-763D-409B-9B1B-30FA23C4DE7F}"/>
              </a:ext>
            </a:extLst>
          </p:cNvPr>
          <p:cNvSpPr>
            <a:spLocks noGrp="1"/>
          </p:cNvSpPr>
          <p:nvPr/>
        </p:nvSpPr>
        <p:spPr>
          <a:xfrm>
            <a:off x="6705600" y="194310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гость, объявление, сумма, статус и окно оплаты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F2B467-ACD2-442C-B135-B05DBB5449F1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24003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7C3AA73-CC26-4193-9A9A-C558E5093B9D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240030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83783AA-3079-4903-B9C5-82F0E7251134}"/>
              </a:ext>
            </a:extLst>
          </p:cNvPr>
          <p:cNvSpPr>
            <a:spLocks noGrp="1"/>
          </p:cNvSpPr>
          <p:nvPr/>
        </p:nvSpPr>
        <p:spPr>
          <a:xfrm>
            <a:off x="6705600" y="259080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booking_days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C4F6C6C-F4AA-4C62-9D28-9F1A5B9EBCEC}"/>
              </a:ext>
            </a:extLst>
          </p:cNvPr>
          <p:cNvSpPr>
            <a:spLocks noGrp="1"/>
          </p:cNvSpPr>
          <p:nvPr/>
        </p:nvSpPr>
        <p:spPr>
          <a:xfrm>
            <a:off x="6705600" y="283845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конкретные даты, входящие в проживание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0BF5AAD-78A5-49EC-B03C-8D12140C772A}"/>
              </a:ext>
            </a:extLst>
          </p:cNvPr>
          <p:cNvSpPr>
            <a:spLocks noGrp="1"/>
          </p:cNvSpPr>
          <p:nvPr/>
        </p:nvSpPr>
        <p:spPr>
          <a:xfrm>
            <a:off x="6591300" y="3371850"/>
            <a:ext cx="2400300" cy="6858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BD0FE18-34B7-489B-A844-BD932144850D}"/>
              </a:ext>
            </a:extLst>
          </p:cNvPr>
          <p:cNvSpPr>
            <a:spLocks noGrp="1"/>
          </p:cNvSpPr>
          <p:nvPr/>
        </p:nvSpPr>
        <p:spPr>
          <a:xfrm>
            <a:off x="6591300" y="3371850"/>
            <a:ext cx="24003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1661FAE-5193-47C2-9551-AFA0159F2D5C}"/>
              </a:ext>
            </a:extLst>
          </p:cNvPr>
          <p:cNvSpPr>
            <a:spLocks noGrp="1"/>
          </p:cNvSpPr>
          <p:nvPr/>
        </p:nvSpPr>
        <p:spPr>
          <a:xfrm>
            <a:off x="6705600" y="3486150"/>
            <a:ext cx="2171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payments / reviews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81F41C7-79FA-474E-912C-D8AAE3FAF40F}"/>
              </a:ext>
            </a:extLst>
          </p:cNvPr>
          <p:cNvSpPr>
            <a:spLocks noGrp="1"/>
          </p:cNvSpPr>
          <p:nvPr/>
        </p:nvSpPr>
        <p:spPr>
          <a:xfrm>
            <a:off x="6705600" y="373380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платежная сессия и отзыв после завершения</a:t>
            </a:r>
          </a:p>
        </p:txBody>
      </p:sp>
    </p:spTree>
    <p:extLst>
      <p:ext uri="{BB962C8B-B14F-4D97-AF65-F5344CB8AC3E}">
        <p14:creationId xmlns:p14="http://schemas.microsoft.com/office/powerpoint/2010/main" val="724741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E881DC4-F14B-4734-9369-DEB75279B7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9077707-4E05-45C2-A9A7-033E42E413F4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15F047-A25C-4BFD-861A-0777F57378D6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EB7638-FB98-4533-A8A5-3A6CC4F4DF17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ЖИЗНЕННЫЙ ЦИКЛ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2F86C8-7F85-46AC-AA4C-80C3BAF42926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Завершенное бронирование не переходит в отмену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AD75E7F-A321-4F8C-8B88-1FFDB0D98F3D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1314450" cy="495300"/>
          </a:xfrm>
          <a:prstGeom prst="rect">
            <a:avLst/>
          </a:prstGeom>
          <a:solidFill>
            <a:srgbClr val="26303C"/>
          </a:solidFill>
          <a:ln w="7620">
            <a:solidFill>
              <a:srgbClr val="EAB64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63C2A40-4EEE-43C1-B73B-B979136572A0}"/>
              </a:ext>
            </a:extLst>
          </p:cNvPr>
          <p:cNvSpPr>
            <a:spLocks noGrp="1"/>
          </p:cNvSpPr>
          <p:nvPr/>
        </p:nvSpPr>
        <p:spPr>
          <a:xfrm>
            <a:off x="552450" y="1609725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created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8D8895-5831-4EE6-88D4-7BCF5D85134E}"/>
              </a:ext>
            </a:extLst>
          </p:cNvPr>
          <p:cNvSpPr>
            <a:spLocks noGrp="1"/>
          </p:cNvSpPr>
          <p:nvPr/>
        </p:nvSpPr>
        <p:spPr>
          <a:xfrm>
            <a:off x="1905000" y="16192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77BA4E0-BED8-474B-9967-1CB39FDEC179}"/>
              </a:ext>
            </a:extLst>
          </p:cNvPr>
          <p:cNvSpPr>
            <a:spLocks noGrp="1"/>
          </p:cNvSpPr>
          <p:nvPr/>
        </p:nvSpPr>
        <p:spPr>
          <a:xfrm>
            <a:off x="2114550" y="1504950"/>
            <a:ext cx="1314450" cy="495300"/>
          </a:xfrm>
          <a:prstGeom prst="rect">
            <a:avLst/>
          </a:prstGeom>
          <a:solidFill>
            <a:srgbClr val="26303C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26053C7-39C4-4B8B-8B51-852C21DFE89A}"/>
              </a:ext>
            </a:extLst>
          </p:cNvPr>
          <p:cNvSpPr>
            <a:spLocks noGrp="1"/>
          </p:cNvSpPr>
          <p:nvPr/>
        </p:nvSpPr>
        <p:spPr>
          <a:xfrm>
            <a:off x="2190750" y="1609725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payment_pending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921F8E8-966A-462C-81A0-641EDFF2EF45}"/>
              </a:ext>
            </a:extLst>
          </p:cNvPr>
          <p:cNvSpPr>
            <a:spLocks noGrp="1"/>
          </p:cNvSpPr>
          <p:nvPr/>
        </p:nvSpPr>
        <p:spPr>
          <a:xfrm>
            <a:off x="3543300" y="16192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FFF2B9E-DF8B-4965-9FF4-B1BE59239AC1}"/>
              </a:ext>
            </a:extLst>
          </p:cNvPr>
          <p:cNvSpPr>
            <a:spLocks noGrp="1"/>
          </p:cNvSpPr>
          <p:nvPr/>
        </p:nvSpPr>
        <p:spPr>
          <a:xfrm>
            <a:off x="3752850" y="1504950"/>
            <a:ext cx="1314450" cy="495300"/>
          </a:xfrm>
          <a:prstGeom prst="rect">
            <a:avLst/>
          </a:prstGeom>
          <a:solidFill>
            <a:srgbClr val="26303C"/>
          </a:solidFill>
          <a:ln w="7620">
            <a:solidFill>
              <a:srgbClr val="62BE7B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432F18D-8717-4E66-ABD2-53BD336A7414}"/>
              </a:ext>
            </a:extLst>
          </p:cNvPr>
          <p:cNvSpPr>
            <a:spLocks noGrp="1"/>
          </p:cNvSpPr>
          <p:nvPr/>
        </p:nvSpPr>
        <p:spPr>
          <a:xfrm>
            <a:off x="3829050" y="1609725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E22A589-D886-467D-B097-ACFDC594C2EC}"/>
              </a:ext>
            </a:extLst>
          </p:cNvPr>
          <p:cNvSpPr>
            <a:spLocks noGrp="1"/>
          </p:cNvSpPr>
          <p:nvPr/>
        </p:nvSpPr>
        <p:spPr>
          <a:xfrm>
            <a:off x="5181600" y="1619250"/>
            <a:ext cx="28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DEABE97-5E25-49F0-A061-1124F02F4510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1314450" cy="495300"/>
          </a:xfrm>
          <a:prstGeom prst="rect">
            <a:avLst/>
          </a:prstGeom>
          <a:solidFill>
            <a:srgbClr val="26303C"/>
          </a:solidFill>
          <a:ln w="7620">
            <a:solidFill>
              <a:srgbClr val="8B7CF6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20F4BE-27F5-424C-BC65-1E79273386F0}"/>
              </a:ext>
            </a:extLst>
          </p:cNvPr>
          <p:cNvSpPr>
            <a:spLocks noGrp="1"/>
          </p:cNvSpPr>
          <p:nvPr/>
        </p:nvSpPr>
        <p:spPr>
          <a:xfrm>
            <a:off x="5467350" y="1609725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2F17366-C52F-4188-8523-631F4E556992}"/>
              </a:ext>
            </a:extLst>
          </p:cNvPr>
          <p:cNvSpPr>
            <a:spLocks noGrp="1"/>
          </p:cNvSpPr>
          <p:nvPr/>
        </p:nvSpPr>
        <p:spPr>
          <a:xfrm>
            <a:off x="2038350" y="2724150"/>
            <a:ext cx="1314450" cy="476250"/>
          </a:xfrm>
          <a:prstGeom prst="rect">
            <a:avLst/>
          </a:prstGeom>
          <a:solidFill>
            <a:srgbClr val="26303C"/>
          </a:solidFill>
          <a:ln w="7620">
            <a:solidFill>
              <a:srgbClr val="D86A78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B12839F-EFDB-414D-8D24-06C6FEC40579}"/>
              </a:ext>
            </a:extLst>
          </p:cNvPr>
          <p:cNvSpPr>
            <a:spLocks noGrp="1"/>
          </p:cNvSpPr>
          <p:nvPr/>
        </p:nvSpPr>
        <p:spPr>
          <a:xfrm>
            <a:off x="2114550" y="2828925"/>
            <a:ext cx="1162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expired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6C5D34C-3DBD-42B7-9B15-8CB3D8417310}"/>
              </a:ext>
            </a:extLst>
          </p:cNvPr>
          <p:cNvSpPr>
            <a:spLocks noGrp="1"/>
          </p:cNvSpPr>
          <p:nvPr/>
        </p:nvSpPr>
        <p:spPr>
          <a:xfrm>
            <a:off x="3829050" y="2724150"/>
            <a:ext cx="1314450" cy="476250"/>
          </a:xfrm>
          <a:prstGeom prst="rect">
            <a:avLst/>
          </a:prstGeom>
          <a:solidFill>
            <a:srgbClr val="26303C"/>
          </a:solidFill>
          <a:ln w="7620">
            <a:solidFill>
              <a:srgbClr val="D86A78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222E8E6-3FC1-4680-8456-0DB0CC7017CF}"/>
              </a:ext>
            </a:extLst>
          </p:cNvPr>
          <p:cNvSpPr>
            <a:spLocks noGrp="1"/>
          </p:cNvSpPr>
          <p:nvPr/>
        </p:nvSpPr>
        <p:spPr>
          <a:xfrm>
            <a:off x="3905250" y="2828925"/>
            <a:ext cx="1162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cancelled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0E8BB62-06EB-462A-9438-F4EB86AE2D17}"/>
              </a:ext>
            </a:extLst>
          </p:cNvPr>
          <p:cNvSpPr>
            <a:spLocks noGrp="1"/>
          </p:cNvSpPr>
          <p:nvPr/>
        </p:nvSpPr>
        <p:spPr>
          <a:xfrm>
            <a:off x="1752600" y="33337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до оплаты или до подтвержденного проживания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8CF22AE-66E5-4BBC-B4C0-987946FDCEA3}"/>
              </a:ext>
            </a:extLst>
          </p:cNvPr>
          <p:cNvSpPr>
            <a:spLocks noGrp="1"/>
          </p:cNvSpPr>
          <p:nvPr/>
        </p:nvSpPr>
        <p:spPr>
          <a:xfrm>
            <a:off x="6915150" y="1428750"/>
            <a:ext cx="20383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buNone/>
              <a:defRPr sz="840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активные статусы защищают выбранные дни от повторной продажи</a:t>
            </a:r>
          </a:p>
          <a:p>
            <a:pPr algn="l">
              <a:buNone/>
              <a:defRPr sz="840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истечение применяется к незавершенной оплате или удержанию</a:t>
            </a:r>
          </a:p>
          <a:p>
            <a:pPr algn="l">
              <a:buNone/>
              <a:defRPr sz="840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отмена оформляется до финального состояния проживания</a:t>
            </a:r>
          </a:p>
          <a:p>
            <a:pPr algn="l">
              <a:buNone/>
              <a:defRPr sz="840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completed фиксирует состоявшееся проживание и открывает возможность отзыва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742A352-0229-43A7-BC63-6E878B70A3FB}"/>
              </a:ext>
            </a:extLst>
          </p:cNvPr>
          <p:cNvSpPr>
            <a:spLocks noGrp="1"/>
          </p:cNvSpPr>
          <p:nvPr/>
        </p:nvSpPr>
        <p:spPr>
          <a:xfrm>
            <a:off x="704850" y="3924300"/>
            <a:ext cx="2381250" cy="6096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F4F452C-7C01-48C1-94F6-5B0F654BA580}"/>
              </a:ext>
            </a:extLst>
          </p:cNvPr>
          <p:cNvSpPr>
            <a:spLocks noGrp="1"/>
          </p:cNvSpPr>
          <p:nvPr/>
        </p:nvSpPr>
        <p:spPr>
          <a:xfrm>
            <a:off x="704850" y="3924300"/>
            <a:ext cx="238125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7EBED01-E2EB-444B-B0DC-1E0FC5EFA57E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booking_days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C9A22A4-5FAD-429E-89BA-31E3561F3C78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конкретные даты проживания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FE824E1-2F51-4888-99BE-3D3FC97E5E1B}"/>
              </a:ext>
            </a:extLst>
          </p:cNvPr>
          <p:cNvSpPr>
            <a:spLocks noGrp="1"/>
          </p:cNvSpPr>
          <p:nvPr/>
        </p:nvSpPr>
        <p:spPr>
          <a:xfrm>
            <a:off x="3562350" y="3924300"/>
            <a:ext cx="2381250" cy="6096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9F86F02-B365-4525-8B58-19DEDB0620BD}"/>
              </a:ext>
            </a:extLst>
          </p:cNvPr>
          <p:cNvSpPr>
            <a:spLocks noGrp="1"/>
          </p:cNvSpPr>
          <p:nvPr/>
        </p:nvSpPr>
        <p:spPr>
          <a:xfrm>
            <a:off x="3562350" y="3924300"/>
            <a:ext cx="238125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C533812-DA12-424D-A242-AB6F22972CAD}"/>
              </a:ext>
            </a:extLst>
          </p:cNvPr>
          <p:cNvSpPr>
            <a:spLocks noGrp="1"/>
          </p:cNvSpPr>
          <p:nvPr/>
        </p:nvSpPr>
        <p:spPr>
          <a:xfrm>
            <a:off x="3676650" y="4038600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3A566B2-F272-4110-A64D-84A89CC7902C}"/>
              </a:ext>
            </a:extLst>
          </p:cNvPr>
          <p:cNvSpPr>
            <a:spLocks noGrp="1"/>
          </p:cNvSpPr>
          <p:nvPr/>
        </p:nvSpPr>
        <p:spPr>
          <a:xfrm>
            <a:off x="3676650" y="428625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оплата и возвраты до закрытия расчета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83AD540-F455-4D6E-955F-FB9D1C3F5559}"/>
              </a:ext>
            </a:extLst>
          </p:cNvPr>
          <p:cNvSpPr>
            <a:spLocks noGrp="1"/>
          </p:cNvSpPr>
          <p:nvPr/>
        </p:nvSpPr>
        <p:spPr>
          <a:xfrm>
            <a:off x="6419850" y="3924300"/>
            <a:ext cx="2381250" cy="6096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90039FA-6923-4B60-92C8-1073907DB51A}"/>
              </a:ext>
            </a:extLst>
          </p:cNvPr>
          <p:cNvSpPr>
            <a:spLocks noGrp="1"/>
          </p:cNvSpPr>
          <p:nvPr/>
        </p:nvSpPr>
        <p:spPr>
          <a:xfrm>
            <a:off x="6419850" y="3924300"/>
            <a:ext cx="2381250" cy="28575"/>
          </a:xfrm>
          <a:prstGeom prst="rect">
            <a:avLst/>
          </a:prstGeom>
          <a:solidFill>
            <a:srgbClr val="8B7CF6"/>
          </a:solidFill>
          <a:ln w="0">
            <a:solidFill>
              <a:srgbClr val="8B7CF6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2FB11C1-246F-443E-93B9-55633066B1F5}"/>
              </a:ext>
            </a:extLst>
          </p:cNvPr>
          <p:cNvSpPr>
            <a:spLocks noGrp="1"/>
          </p:cNvSpPr>
          <p:nvPr/>
        </p:nvSpPr>
        <p:spPr>
          <a:xfrm>
            <a:off x="6534150" y="4038600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AC1EEFD-64F1-4DA2-B651-FD72C91591F8}"/>
              </a:ext>
            </a:extLst>
          </p:cNvPr>
          <p:cNvSpPr>
            <a:spLocks noGrp="1"/>
          </p:cNvSpPr>
          <p:nvPr/>
        </p:nvSpPr>
        <p:spPr>
          <a:xfrm>
            <a:off x="6534150" y="4286250"/>
            <a:ext cx="2152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отзыв только после завершения проживания</a:t>
            </a:r>
          </a:p>
        </p:txBody>
      </p:sp>
    </p:spTree>
    <p:extLst>
      <p:ext uri="{BB962C8B-B14F-4D97-AF65-F5344CB8AC3E}">
        <p14:creationId xmlns:p14="http://schemas.microsoft.com/office/powerpoint/2010/main" val="1075984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CEDBC64F-D970-4B46-AA48-2B1C1A308D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44F9DDA-3090-4396-AA0A-E8B48B89A9EC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5ADDAC7-DD6B-43CA-A656-0CC2475BBFE9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A88F48-013E-4866-BD4E-82B1F5C2682D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МИГРАЦИИ И ИНДЕКСЫ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69EE9D-413F-4B16-BA01-F54A1D2FB57F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Миграции создают роли базы данных, доменные роли, индексы и права на объекты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86E48E-1EF7-47E1-A08A-F9DEECCEC7FF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1009650" cy="457200"/>
          </a:xfrm>
          <a:prstGeom prst="rect">
            <a:avLst/>
          </a:prstGeom>
          <a:solidFill>
            <a:srgbClr val="26303C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F303F45-AC80-47D9-B2E7-DB6CBC8A2B7E}"/>
              </a:ext>
            </a:extLst>
          </p:cNvPr>
          <p:cNvSpPr>
            <a:spLocks noGrp="1"/>
          </p:cNvSpPr>
          <p:nvPr/>
        </p:nvSpPr>
        <p:spPr>
          <a:xfrm>
            <a:off x="476250" y="132397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V001</a:t>
            </a:r>
          </a:p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роли БД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D6F7601-AA68-4E5F-83FB-03DB2374B257}"/>
              </a:ext>
            </a:extLst>
          </p:cNvPr>
          <p:cNvSpPr>
            <a:spLocks noGrp="1"/>
          </p:cNvSpPr>
          <p:nvPr/>
        </p:nvSpPr>
        <p:spPr>
          <a:xfrm>
            <a:off x="1457325" y="1323975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755AEB-F77D-4445-8E37-6A218106F87F}"/>
              </a:ext>
            </a:extLst>
          </p:cNvPr>
          <p:cNvSpPr>
            <a:spLocks noGrp="1"/>
          </p:cNvSpPr>
          <p:nvPr/>
        </p:nvSpPr>
        <p:spPr>
          <a:xfrm>
            <a:off x="1781175" y="1219200"/>
            <a:ext cx="1009650" cy="457200"/>
          </a:xfrm>
          <a:prstGeom prst="rect">
            <a:avLst/>
          </a:prstGeom>
          <a:solidFill>
            <a:srgbClr val="26303C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7B71D4B-9EAB-4C9C-AFA9-1F54FAFA7997}"/>
              </a:ext>
            </a:extLst>
          </p:cNvPr>
          <p:cNvSpPr>
            <a:spLocks noGrp="1"/>
          </p:cNvSpPr>
          <p:nvPr/>
        </p:nvSpPr>
        <p:spPr>
          <a:xfrm>
            <a:off x="1857375" y="132397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V002</a:t>
            </a:r>
          </a:p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E8F567A-BDCF-4876-8B46-63A055D3E426}"/>
              </a:ext>
            </a:extLst>
          </p:cNvPr>
          <p:cNvSpPr>
            <a:spLocks noGrp="1"/>
          </p:cNvSpPr>
          <p:nvPr/>
        </p:nvSpPr>
        <p:spPr>
          <a:xfrm>
            <a:off x="2838450" y="1323975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A9765DF-5A0C-4BA0-9426-4033878954C4}"/>
              </a:ext>
            </a:extLst>
          </p:cNvPr>
          <p:cNvSpPr>
            <a:spLocks noGrp="1"/>
          </p:cNvSpPr>
          <p:nvPr/>
        </p:nvSpPr>
        <p:spPr>
          <a:xfrm>
            <a:off x="3162300" y="1219200"/>
            <a:ext cx="1009650" cy="457200"/>
          </a:xfrm>
          <a:prstGeom prst="rect">
            <a:avLst/>
          </a:prstGeom>
          <a:solidFill>
            <a:srgbClr val="26303C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8D42D33-BE4F-4652-8A61-B014B7FE6B63}"/>
              </a:ext>
            </a:extLst>
          </p:cNvPr>
          <p:cNvSpPr>
            <a:spLocks noGrp="1"/>
          </p:cNvSpPr>
          <p:nvPr/>
        </p:nvSpPr>
        <p:spPr>
          <a:xfrm>
            <a:off x="3238500" y="132397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V003</a:t>
            </a:r>
          </a:p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74DB57C-1C93-4527-88E5-BC2784FB0ECF}"/>
              </a:ext>
            </a:extLst>
          </p:cNvPr>
          <p:cNvSpPr>
            <a:spLocks noGrp="1"/>
          </p:cNvSpPr>
          <p:nvPr/>
        </p:nvSpPr>
        <p:spPr>
          <a:xfrm>
            <a:off x="4219575" y="1323975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31F2698-4A9F-4506-B575-BD5A8A4E8E7F}"/>
              </a:ext>
            </a:extLst>
          </p:cNvPr>
          <p:cNvSpPr>
            <a:spLocks noGrp="1"/>
          </p:cNvSpPr>
          <p:nvPr/>
        </p:nvSpPr>
        <p:spPr>
          <a:xfrm>
            <a:off x="4543425" y="1219200"/>
            <a:ext cx="1009650" cy="457200"/>
          </a:xfrm>
          <a:prstGeom prst="rect">
            <a:avLst/>
          </a:prstGeom>
          <a:solidFill>
            <a:srgbClr val="26303C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1300984-EADE-4DCE-8B1F-224D1D916CB2}"/>
              </a:ext>
            </a:extLst>
          </p:cNvPr>
          <p:cNvSpPr>
            <a:spLocks noGrp="1"/>
          </p:cNvSpPr>
          <p:nvPr/>
        </p:nvSpPr>
        <p:spPr>
          <a:xfrm>
            <a:off x="4619625" y="132397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V004</a:t>
            </a:r>
          </a:p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цены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0F27F54-BB04-4DF8-B64F-7EDD018ABF1E}"/>
              </a:ext>
            </a:extLst>
          </p:cNvPr>
          <p:cNvSpPr>
            <a:spLocks noGrp="1"/>
          </p:cNvSpPr>
          <p:nvPr/>
        </p:nvSpPr>
        <p:spPr>
          <a:xfrm>
            <a:off x="5600700" y="1323975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7AAED7F-CDB2-4D05-B471-CB1D3C3CAA78}"/>
              </a:ext>
            </a:extLst>
          </p:cNvPr>
          <p:cNvSpPr>
            <a:spLocks noGrp="1"/>
          </p:cNvSpPr>
          <p:nvPr/>
        </p:nvSpPr>
        <p:spPr>
          <a:xfrm>
            <a:off x="5924550" y="1219200"/>
            <a:ext cx="1009650" cy="457200"/>
          </a:xfrm>
          <a:prstGeom prst="rect">
            <a:avLst/>
          </a:prstGeom>
          <a:solidFill>
            <a:srgbClr val="26303C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C920CC1-4559-49D7-90D8-3F9E9948E9F9}"/>
              </a:ext>
            </a:extLst>
          </p:cNvPr>
          <p:cNvSpPr>
            <a:spLocks noGrp="1"/>
          </p:cNvSpPr>
          <p:nvPr/>
        </p:nvSpPr>
        <p:spPr>
          <a:xfrm>
            <a:off x="6000750" y="132397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V005</a:t>
            </a:r>
          </a:p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бронь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B31BF67-9683-4B0C-BBD1-D8F7C7E72317}"/>
              </a:ext>
            </a:extLst>
          </p:cNvPr>
          <p:cNvSpPr>
            <a:spLocks noGrp="1"/>
          </p:cNvSpPr>
          <p:nvPr/>
        </p:nvSpPr>
        <p:spPr>
          <a:xfrm>
            <a:off x="6981825" y="1323975"/>
            <a:ext cx="228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02EF37F-57CF-4691-901A-E9FBD26C02EB}"/>
              </a:ext>
            </a:extLst>
          </p:cNvPr>
          <p:cNvSpPr>
            <a:spLocks noGrp="1"/>
          </p:cNvSpPr>
          <p:nvPr/>
        </p:nvSpPr>
        <p:spPr>
          <a:xfrm>
            <a:off x="7305675" y="1219200"/>
            <a:ext cx="1009650" cy="457200"/>
          </a:xfrm>
          <a:prstGeom prst="rect">
            <a:avLst/>
          </a:prstGeom>
          <a:solidFill>
            <a:srgbClr val="26303C"/>
          </a:solidFill>
          <a:ln w="7620">
            <a:solidFill>
              <a:srgbClr val="EAB64F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78BBA7A-74CA-4718-B546-A4A2B454B02F}"/>
              </a:ext>
            </a:extLst>
          </p:cNvPr>
          <p:cNvSpPr>
            <a:spLocks noGrp="1"/>
          </p:cNvSpPr>
          <p:nvPr/>
        </p:nvSpPr>
        <p:spPr>
          <a:xfrm>
            <a:off x="7381875" y="132397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V006</a:t>
            </a:r>
          </a:p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индексы</a:t>
            </a:r>
          </a:p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права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FF6BDBA-D67A-468D-A595-EA5E09E47A8D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219700" cy="1857375"/>
          </a:xfrm>
          <a:prstGeom prst="rect">
            <a:avLst/>
          </a:prstGeom>
          <a:solidFill>
            <a:srgbClr val="202631"/>
          </a:solidFill>
          <a:ln w="7620">
            <a:solidFill>
              <a:srgbClr val="35414E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4E0A3DA-BBD7-4D64-8FE4-4022776C888A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5219700" cy="371475"/>
          </a:xfrm>
          <a:prstGeom prst="rect">
            <a:avLst/>
          </a:prstGeom>
          <a:solidFill>
            <a:srgbClr val="1A222B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00031B6-E68C-43EE-92D1-F48049D5CBC9}"/>
              </a:ext>
            </a:extLst>
          </p:cNvPr>
          <p:cNvSpPr>
            <a:spLocks noGrp="1"/>
          </p:cNvSpPr>
          <p:nvPr/>
        </p:nvSpPr>
        <p:spPr>
          <a:xfrm>
            <a:off x="476250" y="2266950"/>
            <a:ext cx="2219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62BE7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BE7B"/>
                </a:solidFill>
                <a:latin typeface="Aptos"/>
                <a:ea typeface="Aptos"/>
                <a:cs typeface="Aptos"/>
              </a:rPr>
              <a:t>Индекс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2E75989-E864-4BE7-B3D2-F947AF0854E9}"/>
              </a:ext>
            </a:extLst>
          </p:cNvPr>
          <p:cNvSpPr>
            <a:spLocks noGrp="1"/>
          </p:cNvSpPr>
          <p:nvPr/>
        </p:nvSpPr>
        <p:spPr>
          <a:xfrm>
            <a:off x="2809875" y="2266950"/>
            <a:ext cx="27717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62BE7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BE7B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797860C-5C07-47FE-956E-50A26A6710DF}"/>
              </a:ext>
            </a:extLst>
          </p:cNvPr>
          <p:cNvSpPr>
            <a:spLocks noGrp="1"/>
          </p:cNvSpPr>
          <p:nvPr/>
        </p:nvSpPr>
        <p:spPr>
          <a:xfrm>
            <a:off x="2733675" y="2238375"/>
            <a:ext cx="9525" cy="2762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D07FE38-3529-4416-8DDF-3B3B584A0FB2}"/>
              </a:ext>
            </a:extLst>
          </p:cNvPr>
          <p:cNvSpPr>
            <a:spLocks noGrp="1"/>
          </p:cNvSpPr>
          <p:nvPr/>
        </p:nvSpPr>
        <p:spPr>
          <a:xfrm>
            <a:off x="476250" y="2638425"/>
            <a:ext cx="2219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idx_listings_description_fts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F1F06D5-056B-4B0B-A308-4AD4171A480E}"/>
              </a:ext>
            </a:extLst>
          </p:cNvPr>
          <p:cNvSpPr>
            <a:spLocks noGrp="1"/>
          </p:cNvSpPr>
          <p:nvPr/>
        </p:nvSpPr>
        <p:spPr>
          <a:xfrm>
            <a:off x="2809875" y="2638425"/>
            <a:ext cx="27717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полнотекстовый поиск по описанию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C9E4D45-8566-4B7C-A98C-D8A8BD6B24BC}"/>
              </a:ext>
            </a:extLst>
          </p:cNvPr>
          <p:cNvSpPr>
            <a:spLocks noGrp="1"/>
          </p:cNvSpPr>
          <p:nvPr/>
        </p:nvSpPr>
        <p:spPr>
          <a:xfrm>
            <a:off x="2733675" y="2609850"/>
            <a:ext cx="9525" cy="2762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70D8F99-2C4C-458D-8AEC-E985EB7D7250}"/>
              </a:ext>
            </a:extLst>
          </p:cNvPr>
          <p:cNvSpPr>
            <a:spLocks noGrp="1"/>
          </p:cNvSpPr>
          <p:nvPr/>
        </p:nvSpPr>
        <p:spPr>
          <a:xfrm>
            <a:off x="400050" y="2562225"/>
            <a:ext cx="52197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49FDAF6-63D9-43F4-B26C-6671D60D9051}"/>
              </a:ext>
            </a:extLst>
          </p:cNvPr>
          <p:cNvSpPr>
            <a:spLocks noGrp="1"/>
          </p:cNvSpPr>
          <p:nvPr/>
        </p:nvSpPr>
        <p:spPr>
          <a:xfrm>
            <a:off x="476250" y="3009900"/>
            <a:ext cx="2219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idx_listings_active_capacity_rooms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8ABFABB-EB90-4C2A-8E17-4BFCE43147FD}"/>
              </a:ext>
            </a:extLst>
          </p:cNvPr>
          <p:cNvSpPr>
            <a:spLocks noGrp="1"/>
          </p:cNvSpPr>
          <p:nvPr/>
        </p:nvSpPr>
        <p:spPr>
          <a:xfrm>
            <a:off x="2809875" y="3009900"/>
            <a:ext cx="27717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активное жилье по вместимости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3A37F94-E0F0-44E9-8895-DC6E66AA74CC}"/>
              </a:ext>
            </a:extLst>
          </p:cNvPr>
          <p:cNvSpPr>
            <a:spLocks noGrp="1"/>
          </p:cNvSpPr>
          <p:nvPr/>
        </p:nvSpPr>
        <p:spPr>
          <a:xfrm>
            <a:off x="2733675" y="2981325"/>
            <a:ext cx="9525" cy="2762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E28D6B0-88F9-4603-9E6C-97DDC19573EF}"/>
              </a:ext>
            </a:extLst>
          </p:cNvPr>
          <p:cNvSpPr>
            <a:spLocks noGrp="1"/>
          </p:cNvSpPr>
          <p:nvPr/>
        </p:nvSpPr>
        <p:spPr>
          <a:xfrm>
            <a:off x="400050" y="2933700"/>
            <a:ext cx="52197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8A2A02E-6F14-4700-B004-79493220C030}"/>
              </a:ext>
            </a:extLst>
          </p:cNvPr>
          <p:cNvSpPr>
            <a:spLocks noGrp="1"/>
          </p:cNvSpPr>
          <p:nvPr/>
        </p:nvSpPr>
        <p:spPr>
          <a:xfrm>
            <a:off x="476250" y="3381375"/>
            <a:ext cx="2219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idx_bookings_created_by_user_creation_date_desc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4F1082D-A19B-49DB-9003-AACE1453160C}"/>
              </a:ext>
            </a:extLst>
          </p:cNvPr>
          <p:cNvSpPr>
            <a:spLocks noGrp="1"/>
          </p:cNvSpPr>
          <p:nvPr/>
        </p:nvSpPr>
        <p:spPr>
          <a:xfrm>
            <a:off x="2809875" y="3381375"/>
            <a:ext cx="27717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история бронирований гостя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1ED30B35-0982-4956-9C5E-D8C260D94670}"/>
              </a:ext>
            </a:extLst>
          </p:cNvPr>
          <p:cNvSpPr>
            <a:spLocks noGrp="1"/>
          </p:cNvSpPr>
          <p:nvPr/>
        </p:nvSpPr>
        <p:spPr>
          <a:xfrm>
            <a:off x="2733675" y="3352800"/>
            <a:ext cx="9525" cy="2762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DF06FA7-C8E2-4AFF-828C-5DF370EF02C1}"/>
              </a:ext>
            </a:extLst>
          </p:cNvPr>
          <p:cNvSpPr>
            <a:spLocks noGrp="1"/>
          </p:cNvSpPr>
          <p:nvPr/>
        </p:nvSpPr>
        <p:spPr>
          <a:xfrm>
            <a:off x="400050" y="3305175"/>
            <a:ext cx="52197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5523FA94-6D3D-4412-B22F-171DF3711D79}"/>
              </a:ext>
            </a:extLst>
          </p:cNvPr>
          <p:cNvSpPr>
            <a:spLocks noGrp="1"/>
          </p:cNvSpPr>
          <p:nvPr/>
        </p:nvSpPr>
        <p:spPr>
          <a:xfrm>
            <a:off x="476250" y="3752850"/>
            <a:ext cx="22193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idx_reviews_unmoderated_creation_date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CBE45A4E-3899-4A7A-823D-DCC3540BEF99}"/>
              </a:ext>
            </a:extLst>
          </p:cNvPr>
          <p:cNvSpPr>
            <a:spLocks noGrp="1"/>
          </p:cNvSpPr>
          <p:nvPr/>
        </p:nvSpPr>
        <p:spPr>
          <a:xfrm>
            <a:off x="2809875" y="3752850"/>
            <a:ext cx="277177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0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очередь модерации отзывов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3A5ED2A-EE5D-4BAD-9873-4ECF64D7F1E2}"/>
              </a:ext>
            </a:extLst>
          </p:cNvPr>
          <p:cNvSpPr>
            <a:spLocks noGrp="1"/>
          </p:cNvSpPr>
          <p:nvPr/>
        </p:nvSpPr>
        <p:spPr>
          <a:xfrm>
            <a:off x="2733675" y="3724275"/>
            <a:ext cx="9525" cy="2762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36680E72-DCFB-4B9C-B4A3-F811F9DD558C}"/>
              </a:ext>
            </a:extLst>
          </p:cNvPr>
          <p:cNvSpPr>
            <a:spLocks noGrp="1"/>
          </p:cNvSpPr>
          <p:nvPr/>
        </p:nvSpPr>
        <p:spPr>
          <a:xfrm>
            <a:off x="400050" y="3676650"/>
            <a:ext cx="5219700" cy="9525"/>
          </a:xfrm>
          <a:prstGeom prst="rect">
            <a:avLst/>
          </a:prstGeom>
          <a:solidFill>
            <a:srgbClr val="303A46"/>
          </a:solidFill>
          <a:ln w="0">
            <a:solidFill>
              <a:srgbClr val="303A46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255BDEC7-27FE-4621-A659-C098202F3C74}"/>
              </a:ext>
            </a:extLst>
          </p:cNvPr>
          <p:cNvSpPr>
            <a:spLocks noGrp="1"/>
          </p:cNvSpPr>
          <p:nvPr/>
        </p:nvSpPr>
        <p:spPr>
          <a:xfrm>
            <a:off x="5981700" y="2209800"/>
            <a:ext cx="2609850" cy="6667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CFFD5AA7-3A22-4AA8-88A6-37FE14D2101F}"/>
              </a:ext>
            </a:extLst>
          </p:cNvPr>
          <p:cNvSpPr>
            <a:spLocks noGrp="1"/>
          </p:cNvSpPr>
          <p:nvPr/>
        </p:nvSpPr>
        <p:spPr>
          <a:xfrm>
            <a:off x="5981700" y="2209800"/>
            <a:ext cx="260985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93ACF27-B6BE-4D32-9FF0-275A470E804B}"/>
              </a:ext>
            </a:extLst>
          </p:cNvPr>
          <p:cNvSpPr>
            <a:spLocks noGrp="1"/>
          </p:cNvSpPr>
          <p:nvPr/>
        </p:nvSpPr>
        <p:spPr>
          <a:xfrm>
            <a:off x="6096000" y="23241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Операционные сценарии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92D7517-9FD4-4182-9CC0-D67C83452E09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вставка фото, изменение дневной цены, удаление непривязанных фото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45BC99A-5CE1-4F73-8B48-79C2258100C2}"/>
              </a:ext>
            </a:extLst>
          </p:cNvPr>
          <p:cNvSpPr>
            <a:spLocks noGrp="1"/>
          </p:cNvSpPr>
          <p:nvPr/>
        </p:nvSpPr>
        <p:spPr>
          <a:xfrm>
            <a:off x="5981700" y="3048000"/>
            <a:ext cx="2609850" cy="6667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896610D0-3759-4819-B374-76D256BD5F65}"/>
              </a:ext>
            </a:extLst>
          </p:cNvPr>
          <p:cNvSpPr>
            <a:spLocks noGrp="1"/>
          </p:cNvSpPr>
          <p:nvPr/>
        </p:nvSpPr>
        <p:spPr>
          <a:xfrm>
            <a:off x="5981700" y="3048000"/>
            <a:ext cx="260985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76837FD4-633E-4702-9F34-3B335C1E1133}"/>
              </a:ext>
            </a:extLst>
          </p:cNvPr>
          <p:cNvSpPr>
            <a:spLocks noGrp="1"/>
          </p:cNvSpPr>
          <p:nvPr/>
        </p:nvSpPr>
        <p:spPr>
          <a:xfrm>
            <a:off x="6096000" y="31623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Аналитические сценарии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C248292A-7F5E-4E74-B99F-7C68B55D6FF3}"/>
              </a:ext>
            </a:extLst>
          </p:cNvPr>
          <p:cNvSpPr>
            <a:spLocks noGrp="1"/>
          </p:cNvSpPr>
          <p:nvPr/>
        </p:nvSpPr>
        <p:spPr>
          <a:xfrm>
            <a:off x="6096000" y="34099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отчет по бронированиям, CSV-витрина, поиск по описанию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193FEA7C-52C5-467C-81E1-75F7355E6AC3}"/>
              </a:ext>
            </a:extLst>
          </p:cNvPr>
          <p:cNvSpPr>
            <a:spLocks noGrp="1"/>
          </p:cNvSpPr>
          <p:nvPr/>
        </p:nvSpPr>
        <p:spPr>
          <a:xfrm>
            <a:off x="5981700" y="3886200"/>
            <a:ext cx="2609850" cy="6667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29F0A01A-855A-447C-94EC-C7CC853B532D}"/>
              </a:ext>
            </a:extLst>
          </p:cNvPr>
          <p:cNvSpPr>
            <a:spLocks noGrp="1"/>
          </p:cNvSpPr>
          <p:nvPr/>
        </p:nvSpPr>
        <p:spPr>
          <a:xfrm>
            <a:off x="5981700" y="3886200"/>
            <a:ext cx="260985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ECB8100D-8440-4B81-AEB6-2B91DA512D2D}"/>
              </a:ext>
            </a:extLst>
          </p:cNvPr>
          <p:cNvSpPr>
            <a:spLocks noGrp="1"/>
          </p:cNvSpPr>
          <p:nvPr/>
        </p:nvSpPr>
        <p:spPr>
          <a:xfrm>
            <a:off x="6096000" y="4000500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Планы выполнения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DBE7B516-3D0D-4258-AF26-9189AE6E6A96}"/>
              </a:ext>
            </a:extLst>
          </p:cNvPr>
          <p:cNvSpPr>
            <a:spLocks noGrp="1"/>
          </p:cNvSpPr>
          <p:nvPr/>
        </p:nvSpPr>
        <p:spPr>
          <a:xfrm>
            <a:off x="6096000" y="4248150"/>
            <a:ext cx="2381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EXPLAIN фиксирует фактическое использование индексов</a:t>
            </a:r>
          </a:p>
        </p:txBody>
      </p:sp>
    </p:spTree>
    <p:extLst>
      <p:ext uri="{BB962C8B-B14F-4D97-AF65-F5344CB8AC3E}">
        <p14:creationId xmlns:p14="http://schemas.microsoft.com/office/powerpoint/2010/main" val="1050333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7ED3B6-C13C-40E8-92D6-25B7D97D65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7BECF92-6507-448E-9BD8-FE17B963D525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A42A63-4859-4A08-AC7B-536255C98C0A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7DDD1B1-72B3-472B-85B2-6E31ED36372A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HA-КОНТУР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042051-7B5A-4B84-BC12-08351CC01887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Клиент работает с маршрутом, а не с конкретным PostgreSQL-узлом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F2016C-7D36-474C-9B69-F7850EDBDF0B}"/>
              </a:ext>
            </a:extLst>
          </p:cNvPr>
          <p:cNvSpPr>
            <a:spLocks noGrp="1"/>
          </p:cNvSpPr>
          <p:nvPr/>
        </p:nvSpPr>
        <p:spPr>
          <a:xfrm>
            <a:off x="342900" y="1200150"/>
            <a:ext cx="5676900" cy="3505200"/>
          </a:xfrm>
          <a:prstGeom prst="rect">
            <a:avLst/>
          </a:prstGeom>
          <a:solidFill>
            <a:srgbClr val="121820"/>
          </a:solidFill>
          <a:ln w="7620">
            <a:solidFill>
              <a:srgbClr val="303A46"/>
            </a:solidFill>
            <a:prstDash val="solid"/>
          </a:ln>
        </p:spPr>
      </p:sp>
      <p:pic>
        <p:nvPicPr>
          <p:cNvPr id="16" name="Рисунок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1411272"/>
            <a:ext cx="5410200" cy="304485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97BE377-D1B1-4400-80F4-7465E967E97E}"/>
              </a:ext>
            </a:extLst>
          </p:cNvPr>
          <p:cNvSpPr>
            <a:spLocks noGrp="1"/>
          </p:cNvSpPr>
          <p:nvPr/>
        </p:nvSpPr>
        <p:spPr>
          <a:xfrm>
            <a:off x="6362700" y="1428750"/>
            <a:ext cx="2476500" cy="152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PostgreSQL: пять узлов под управлением Patroni</a:t>
            </a:r>
          </a:p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etcd: согласованное состояние и право лидерства</a:t>
            </a:r>
          </a:p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PgBouncer + HAProxy: независимые клиентские цепочки</a:t>
            </a:r>
          </a:p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pgBackRest и Percona Monitoring and Management: восстановление и наблюдаемость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E67916-62FD-4619-B09F-B43459DDED64}"/>
              </a:ext>
            </a:extLst>
          </p:cNvPr>
          <p:cNvSpPr>
            <a:spLocks noGrp="1"/>
          </p:cNvSpPr>
          <p:nvPr/>
        </p:nvSpPr>
        <p:spPr>
          <a:xfrm>
            <a:off x="6381750" y="3600450"/>
            <a:ext cx="2343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Порядок важен: сначала устойчивый маршрут записи, затем миграции и прикладные изменения.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1085463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7354AF1-5782-4FE4-AF7C-086C35B44B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B81F1DB-BAE6-4F33-AA0A-9A1A8C03F528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E1AE303-061D-405D-9917-4F6250D08367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19ABBB-7401-4C2A-AFB2-2567BC610863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SPLIT BRAIN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6D3CE2A-3213-4682-BAB4-82068644BFA3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Новое лидерство возможно только через большинство etcd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C8E87F0-014A-4F59-9AB7-AFEC7205807B}"/>
              </a:ext>
            </a:extLst>
          </p:cNvPr>
          <p:cNvSpPr>
            <a:spLocks noGrp="1"/>
          </p:cNvSpPr>
          <p:nvPr/>
        </p:nvSpPr>
        <p:spPr>
          <a:xfrm>
            <a:off x="1676400" y="1733550"/>
            <a:ext cx="533400" cy="533400"/>
          </a:xfrm>
          <a:prstGeom prst="rect">
            <a:avLst/>
          </a:prstGeom>
          <a:solidFill>
            <a:srgbClr val="213B46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AA0986-1952-4291-AFCA-45263853A3E0}"/>
              </a:ext>
            </a:extLst>
          </p:cNvPr>
          <p:cNvSpPr>
            <a:spLocks noGrp="1"/>
          </p:cNvSpPr>
          <p:nvPr/>
        </p:nvSpPr>
        <p:spPr>
          <a:xfrm>
            <a:off x="1704975" y="1933575"/>
            <a:ext cx="476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etcd-1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5ECCC2-B2A4-4960-BA52-EA20479CE8F6}"/>
              </a:ext>
            </a:extLst>
          </p:cNvPr>
          <p:cNvSpPr>
            <a:spLocks noGrp="1"/>
          </p:cNvSpPr>
          <p:nvPr/>
        </p:nvSpPr>
        <p:spPr>
          <a:xfrm>
            <a:off x="2876550" y="1123950"/>
            <a:ext cx="533400" cy="533400"/>
          </a:xfrm>
          <a:prstGeom prst="rect">
            <a:avLst/>
          </a:prstGeom>
          <a:solidFill>
            <a:srgbClr val="213B46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541FAB-E777-4574-B22F-99F47B4D112F}"/>
              </a:ext>
            </a:extLst>
          </p:cNvPr>
          <p:cNvSpPr>
            <a:spLocks noGrp="1"/>
          </p:cNvSpPr>
          <p:nvPr/>
        </p:nvSpPr>
        <p:spPr>
          <a:xfrm>
            <a:off x="2905125" y="1323975"/>
            <a:ext cx="476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etcd-2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1A6E47-2FB6-415C-AF35-3A9DFC70D6F0}"/>
              </a:ext>
            </a:extLst>
          </p:cNvPr>
          <p:cNvSpPr>
            <a:spLocks noGrp="1"/>
          </p:cNvSpPr>
          <p:nvPr/>
        </p:nvSpPr>
        <p:spPr>
          <a:xfrm>
            <a:off x="4076700" y="1733550"/>
            <a:ext cx="533400" cy="533400"/>
          </a:xfrm>
          <a:prstGeom prst="rect">
            <a:avLst/>
          </a:prstGeom>
          <a:solidFill>
            <a:srgbClr val="213B46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180820B-1D20-4251-BC36-4F1C6608D143}"/>
              </a:ext>
            </a:extLst>
          </p:cNvPr>
          <p:cNvSpPr>
            <a:spLocks noGrp="1"/>
          </p:cNvSpPr>
          <p:nvPr/>
        </p:nvSpPr>
        <p:spPr>
          <a:xfrm>
            <a:off x="4105275" y="1933575"/>
            <a:ext cx="476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etcd-3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CA6908E-733B-4E7F-BAC6-C889E5F35415}"/>
              </a:ext>
            </a:extLst>
          </p:cNvPr>
          <p:cNvSpPr>
            <a:spLocks noGrp="1"/>
          </p:cNvSpPr>
          <p:nvPr/>
        </p:nvSpPr>
        <p:spPr>
          <a:xfrm>
            <a:off x="2876550" y="2647950"/>
            <a:ext cx="533400" cy="533400"/>
          </a:xfrm>
          <a:prstGeom prst="rect">
            <a:avLst/>
          </a:prstGeom>
          <a:solidFill>
            <a:srgbClr val="312A38"/>
          </a:solidFill>
          <a:ln w="7620">
            <a:solidFill>
              <a:srgbClr val="D86A78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AE77C9-E33D-4B13-9E0F-2C327BA123E0}"/>
              </a:ext>
            </a:extLst>
          </p:cNvPr>
          <p:cNvSpPr>
            <a:spLocks noGrp="1"/>
          </p:cNvSpPr>
          <p:nvPr/>
        </p:nvSpPr>
        <p:spPr>
          <a:xfrm>
            <a:off x="2905125" y="2847975"/>
            <a:ext cx="476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etcd-4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E3FD471-15F6-49CB-BD7C-B5C0D479462D}"/>
              </a:ext>
            </a:extLst>
          </p:cNvPr>
          <p:cNvSpPr>
            <a:spLocks noGrp="1"/>
          </p:cNvSpPr>
          <p:nvPr/>
        </p:nvSpPr>
        <p:spPr>
          <a:xfrm>
            <a:off x="5295900" y="2152650"/>
            <a:ext cx="533400" cy="533400"/>
          </a:xfrm>
          <a:prstGeom prst="rect">
            <a:avLst/>
          </a:prstGeom>
          <a:solidFill>
            <a:srgbClr val="312A38"/>
          </a:solidFill>
          <a:ln w="7620">
            <a:solidFill>
              <a:srgbClr val="D86A78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45D524F-CA60-447F-BA1C-DABE7B364313}"/>
              </a:ext>
            </a:extLst>
          </p:cNvPr>
          <p:cNvSpPr>
            <a:spLocks noGrp="1"/>
          </p:cNvSpPr>
          <p:nvPr/>
        </p:nvSpPr>
        <p:spPr>
          <a:xfrm>
            <a:off x="5324475" y="2352675"/>
            <a:ext cx="476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etcd-5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09B6C38-3EE6-4726-8DBB-3B66B494EB83}"/>
              </a:ext>
            </a:extLst>
          </p:cNvPr>
          <p:cNvSpPr>
            <a:spLocks noGrp="1"/>
          </p:cNvSpPr>
          <p:nvPr/>
        </p:nvSpPr>
        <p:spPr>
          <a:xfrm>
            <a:off x="2038350" y="2000250"/>
            <a:ext cx="2876550" cy="9525"/>
          </a:xfrm>
          <a:prstGeom prst="rect">
            <a:avLst/>
          </a:prstGeom>
          <a:solidFill>
            <a:srgbClr val="3C4654"/>
          </a:solidFill>
          <a:ln w="0">
            <a:solidFill>
              <a:srgbClr val="3C4654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74471F9-40FA-4668-955F-EDB43375AFC5}"/>
              </a:ext>
            </a:extLst>
          </p:cNvPr>
          <p:cNvSpPr>
            <a:spLocks noGrp="1"/>
          </p:cNvSpPr>
          <p:nvPr/>
        </p:nvSpPr>
        <p:spPr>
          <a:xfrm>
            <a:off x="3143250" y="1485900"/>
            <a:ext cx="9525" cy="2114550"/>
          </a:xfrm>
          <a:prstGeom prst="rect">
            <a:avLst/>
          </a:prstGeom>
          <a:solidFill>
            <a:srgbClr val="3C4654"/>
          </a:solidFill>
          <a:ln w="0">
            <a:solidFill>
              <a:srgbClr val="3C4654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9C7E2BE-8BA8-444B-9664-D71CAC5A3811}"/>
              </a:ext>
            </a:extLst>
          </p:cNvPr>
          <p:cNvSpPr>
            <a:spLocks noGrp="1"/>
          </p:cNvSpPr>
          <p:nvPr/>
        </p:nvSpPr>
        <p:spPr>
          <a:xfrm>
            <a:off x="1524000" y="36766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1">
                <a:solidFill>
                  <a:srgbClr val="EAB64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AB64F"/>
                </a:solidFill>
                <a:latin typeface="Aptos Display"/>
                <a:ea typeface="Aptos Display"/>
                <a:cs typeface="Aptos Display"/>
              </a:rPr>
              <a:t>кворум = 3 из 5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BB2FC3A-A870-4B7B-865C-FFB86A777C0D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2495550" cy="7239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1A04901-C630-4A95-8BCC-0E32AE9EF8C4}"/>
              </a:ext>
            </a:extLst>
          </p:cNvPr>
          <p:cNvSpPr>
            <a:spLocks noGrp="1"/>
          </p:cNvSpPr>
          <p:nvPr/>
        </p:nvSpPr>
        <p:spPr>
          <a:xfrm>
            <a:off x="6210300" y="1352550"/>
            <a:ext cx="2495550" cy="28575"/>
          </a:xfrm>
          <a:prstGeom prst="rect">
            <a:avLst/>
          </a:prstGeom>
          <a:solidFill>
            <a:srgbClr val="D86A78"/>
          </a:solidFill>
          <a:ln w="0">
            <a:solidFill>
              <a:srgbClr val="D86A7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338A942-89F1-4637-84D3-B3BCC4308ACA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Почему не 2 из 5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990F92F-3291-4E61-A252-244BF902DDCC}"/>
              </a:ext>
            </a:extLst>
          </p:cNvPr>
          <p:cNvSpPr>
            <a:spLocks noGrp="1"/>
          </p:cNvSpPr>
          <p:nvPr/>
        </p:nvSpPr>
        <p:spPr>
          <a:xfrm>
            <a:off x="6324600" y="171450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Два узла не образуют большинство и не могут безопасно назначить основной узел.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760EAE9-3C7B-44A9-BD95-8465BE10EECF}"/>
              </a:ext>
            </a:extLst>
          </p:cNvPr>
          <p:cNvSpPr>
            <a:spLocks noGrp="1"/>
          </p:cNvSpPr>
          <p:nvPr/>
        </p:nvSpPr>
        <p:spPr>
          <a:xfrm>
            <a:off x="6210300" y="2324100"/>
            <a:ext cx="2495550" cy="7239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EA6B85B-EFC4-419C-9654-B4BBC6C95FF7}"/>
              </a:ext>
            </a:extLst>
          </p:cNvPr>
          <p:cNvSpPr>
            <a:spLocks noGrp="1"/>
          </p:cNvSpPr>
          <p:nvPr/>
        </p:nvSpPr>
        <p:spPr>
          <a:xfrm>
            <a:off x="6210300" y="2324100"/>
            <a:ext cx="249555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A19CA38-AD4B-489B-B92D-14BFFEED1E50}"/>
              </a:ext>
            </a:extLst>
          </p:cNvPr>
          <p:cNvSpPr>
            <a:spLocks noGrp="1"/>
          </p:cNvSpPr>
          <p:nvPr/>
        </p:nvSpPr>
        <p:spPr>
          <a:xfrm>
            <a:off x="6324600" y="243840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Почему нет двух лидеров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EF11D3A-1C92-4069-B65E-0510E7F8DFDD}"/>
              </a:ext>
            </a:extLst>
          </p:cNvPr>
          <p:cNvSpPr>
            <a:spLocks noGrp="1"/>
          </p:cNvSpPr>
          <p:nvPr/>
        </p:nvSpPr>
        <p:spPr>
          <a:xfrm>
            <a:off x="6324600" y="268605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Два большинства по три узла в системе из пяти пересекаются хотя бы одним участником.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FBF115D-E119-40EC-8733-15BCE4C7E153}"/>
              </a:ext>
            </a:extLst>
          </p:cNvPr>
          <p:cNvSpPr>
            <a:spLocks noGrp="1"/>
          </p:cNvSpPr>
          <p:nvPr/>
        </p:nvSpPr>
        <p:spPr>
          <a:xfrm>
            <a:off x="6210300" y="3295650"/>
            <a:ext cx="2495550" cy="7239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B7C3E4B-5E24-46B2-B1BE-5BF07A697107}"/>
              </a:ext>
            </a:extLst>
          </p:cNvPr>
          <p:cNvSpPr>
            <a:spLocks noGrp="1"/>
          </p:cNvSpPr>
          <p:nvPr/>
        </p:nvSpPr>
        <p:spPr>
          <a:xfrm>
            <a:off x="6210300" y="3295650"/>
            <a:ext cx="249555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9B71FDC-737A-4E95-AA81-C94F81FCAB08}"/>
              </a:ext>
            </a:extLst>
          </p:cNvPr>
          <p:cNvSpPr>
            <a:spLocks noGrp="1"/>
          </p:cNvSpPr>
          <p:nvPr/>
        </p:nvSpPr>
        <p:spPr>
          <a:xfrm>
            <a:off x="6324600" y="3409950"/>
            <a:ext cx="226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Что делает Patroni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B3CBC73-9FA8-46EC-B60A-F8365220E387}"/>
              </a:ext>
            </a:extLst>
          </p:cNvPr>
          <p:cNvSpPr>
            <a:spLocks noGrp="1"/>
          </p:cNvSpPr>
          <p:nvPr/>
        </p:nvSpPr>
        <p:spPr>
          <a:xfrm>
            <a:off x="6324600" y="365760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Сверяет право лидерства через etcd и не опирается только на локальное состояние узла.</a:t>
            </a:r>
          </a:p>
        </p:txBody>
      </p:sp>
    </p:spTree>
    <p:extLst>
      <p:ext uri="{BB962C8B-B14F-4D97-AF65-F5344CB8AC3E}">
        <p14:creationId xmlns:p14="http://schemas.microsoft.com/office/powerpoint/2010/main" val="20163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C978F5C-D515-4F16-8C0E-9A7715CE3A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74D1A7-91E2-4F02-9C78-C9DC769BE0EE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FAC4C22-15A3-4B9C-888E-52DC2303E1E7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8C2B91-89A7-4BEF-9A7F-991FAA5D30AC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ЗАПИСЬ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FCDA040-4326-46D3-B612-DCE654C52191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Нулевая потеря подтвержденных данных требует остановки записи при деградации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81DD7AC-9562-42D7-9236-0F3E1CB1C81B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1104900" cy="514350"/>
          </a:xfrm>
          <a:prstGeom prst="rect">
            <a:avLst/>
          </a:prstGeom>
          <a:solidFill>
            <a:srgbClr val="26303C"/>
          </a:solidFill>
          <a:ln w="7620">
            <a:solidFill>
              <a:srgbClr val="EAB64F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4F63E16-9B22-4A6A-B0B5-F12E3BD64D21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95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клиент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4F2DBF-2A8A-4E41-901A-23A2E5939A2C}"/>
              </a:ext>
            </a:extLst>
          </p:cNvPr>
          <p:cNvSpPr>
            <a:spLocks noGrp="1"/>
          </p:cNvSpPr>
          <p:nvPr/>
        </p:nvSpPr>
        <p:spPr>
          <a:xfrm>
            <a:off x="1866900" y="1866900"/>
            <a:ext cx="247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7C5595-3E82-473C-AAD2-58A5593FA230}"/>
              </a:ext>
            </a:extLst>
          </p:cNvPr>
          <p:cNvSpPr>
            <a:spLocks noGrp="1"/>
          </p:cNvSpPr>
          <p:nvPr/>
        </p:nvSpPr>
        <p:spPr>
          <a:xfrm>
            <a:off x="2209800" y="1752600"/>
            <a:ext cx="1219200" cy="514350"/>
          </a:xfrm>
          <a:prstGeom prst="rect">
            <a:avLst/>
          </a:prstGeom>
          <a:solidFill>
            <a:srgbClr val="26303C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F85AA0B-560C-4D6B-B553-73D7C6F821DF}"/>
              </a:ext>
            </a:extLst>
          </p:cNvPr>
          <p:cNvSpPr>
            <a:spLocks noGrp="1"/>
          </p:cNvSpPr>
          <p:nvPr/>
        </p:nvSpPr>
        <p:spPr>
          <a:xfrm>
            <a:off x="2286000" y="1857375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PgBouncer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562DE7-DA15-467A-834A-CB23508D19E3}"/>
              </a:ext>
            </a:extLst>
          </p:cNvPr>
          <p:cNvSpPr>
            <a:spLocks noGrp="1"/>
          </p:cNvSpPr>
          <p:nvPr/>
        </p:nvSpPr>
        <p:spPr>
          <a:xfrm>
            <a:off x="3600450" y="1866900"/>
            <a:ext cx="247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BBF3BC4-35D7-4F36-9C07-BEC1C1514E92}"/>
              </a:ext>
            </a:extLst>
          </p:cNvPr>
          <p:cNvSpPr>
            <a:spLocks noGrp="1"/>
          </p:cNvSpPr>
          <p:nvPr/>
        </p:nvSpPr>
        <p:spPr>
          <a:xfrm>
            <a:off x="3943350" y="1752600"/>
            <a:ext cx="1104900" cy="514350"/>
          </a:xfrm>
          <a:prstGeom prst="rect">
            <a:avLst/>
          </a:prstGeom>
          <a:solidFill>
            <a:srgbClr val="26303C"/>
          </a:solidFill>
          <a:ln w="7620">
            <a:solidFill>
              <a:srgbClr val="2AB7CA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A0004C1-CB35-448B-A171-BBD7B9655703}"/>
              </a:ext>
            </a:extLst>
          </p:cNvPr>
          <p:cNvSpPr>
            <a:spLocks noGrp="1"/>
          </p:cNvSpPr>
          <p:nvPr/>
        </p:nvSpPr>
        <p:spPr>
          <a:xfrm>
            <a:off x="4019550" y="1857375"/>
            <a:ext cx="95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HAProxy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6B4D1BA-AC65-43ED-A508-45F22B35DD5E}"/>
              </a:ext>
            </a:extLst>
          </p:cNvPr>
          <p:cNvSpPr>
            <a:spLocks noGrp="1"/>
          </p:cNvSpPr>
          <p:nvPr/>
        </p:nvSpPr>
        <p:spPr>
          <a:xfrm>
            <a:off x="5219700" y="1866900"/>
            <a:ext cx="247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1488C50-8948-49DF-AE52-687DE49E5745}"/>
              </a:ext>
            </a:extLst>
          </p:cNvPr>
          <p:cNvSpPr>
            <a:spLocks noGrp="1"/>
          </p:cNvSpPr>
          <p:nvPr/>
        </p:nvSpPr>
        <p:spPr>
          <a:xfrm>
            <a:off x="5562600" y="1752600"/>
            <a:ext cx="1238250" cy="514350"/>
          </a:xfrm>
          <a:prstGeom prst="rect">
            <a:avLst/>
          </a:prstGeom>
          <a:solidFill>
            <a:srgbClr val="26303C"/>
          </a:solidFill>
          <a:ln w="7620">
            <a:solidFill>
              <a:srgbClr val="62BE7B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0BA4423-E568-4005-8F01-7142AE81E757}"/>
              </a:ext>
            </a:extLst>
          </p:cNvPr>
          <p:cNvSpPr>
            <a:spLocks noGrp="1"/>
          </p:cNvSpPr>
          <p:nvPr/>
        </p:nvSpPr>
        <p:spPr>
          <a:xfrm>
            <a:off x="5638800" y="1857375"/>
            <a:ext cx="1085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primary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FA5B104-0606-4009-966E-558F02FE7BF7}"/>
              </a:ext>
            </a:extLst>
          </p:cNvPr>
          <p:cNvSpPr>
            <a:spLocks noGrp="1"/>
          </p:cNvSpPr>
          <p:nvPr/>
        </p:nvSpPr>
        <p:spPr>
          <a:xfrm>
            <a:off x="6896100" y="160020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⇢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B1959B1-B423-429E-87B4-D30A4B519182}"/>
              </a:ext>
            </a:extLst>
          </p:cNvPr>
          <p:cNvSpPr>
            <a:spLocks noGrp="1"/>
          </p:cNvSpPr>
          <p:nvPr/>
        </p:nvSpPr>
        <p:spPr>
          <a:xfrm>
            <a:off x="7239000" y="1390650"/>
            <a:ext cx="1104900" cy="400050"/>
          </a:xfrm>
          <a:prstGeom prst="rect">
            <a:avLst/>
          </a:prstGeom>
          <a:solidFill>
            <a:srgbClr val="26303C"/>
          </a:solidFill>
          <a:ln w="7620">
            <a:solidFill>
              <a:srgbClr val="62BE7B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F0DB39C-7A48-4FCA-9D95-55369733B815}"/>
              </a:ext>
            </a:extLst>
          </p:cNvPr>
          <p:cNvSpPr>
            <a:spLocks noGrp="1"/>
          </p:cNvSpPr>
          <p:nvPr/>
        </p:nvSpPr>
        <p:spPr>
          <a:xfrm>
            <a:off x="7315200" y="149542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sync-1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9DD39D7-DACF-4E76-9FC0-6967C725017D}"/>
              </a:ext>
            </a:extLst>
          </p:cNvPr>
          <p:cNvSpPr>
            <a:spLocks noGrp="1"/>
          </p:cNvSpPr>
          <p:nvPr/>
        </p:nvSpPr>
        <p:spPr>
          <a:xfrm>
            <a:off x="6896100" y="219075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⇢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0AC371D-BC15-4B78-BD9D-BC99D063C478}"/>
              </a:ext>
            </a:extLst>
          </p:cNvPr>
          <p:cNvSpPr>
            <a:spLocks noGrp="1"/>
          </p:cNvSpPr>
          <p:nvPr/>
        </p:nvSpPr>
        <p:spPr>
          <a:xfrm>
            <a:off x="7239000" y="2133600"/>
            <a:ext cx="1104900" cy="400050"/>
          </a:xfrm>
          <a:prstGeom prst="rect">
            <a:avLst/>
          </a:prstGeom>
          <a:solidFill>
            <a:srgbClr val="26303C"/>
          </a:solidFill>
          <a:ln w="7620">
            <a:solidFill>
              <a:srgbClr val="62BE7B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98F2652-500D-483B-A782-2A2CBC0CD578}"/>
              </a:ext>
            </a:extLst>
          </p:cNvPr>
          <p:cNvSpPr>
            <a:spLocks noGrp="1"/>
          </p:cNvSpPr>
          <p:nvPr/>
        </p:nvSpPr>
        <p:spPr>
          <a:xfrm>
            <a:off x="7315200" y="2238375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sync-2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5CDB167-3463-4E57-99BA-6E3600E6D02B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2571750" cy="7620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9D96AE0-22CF-4DAC-96AC-476A6AA97421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257175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52637C8-DF26-4BBB-A58D-A5F608692204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Успешная запись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A4DADD1-D190-4D4F-83EB-4E2E0F0E2A5F}"/>
              </a:ext>
            </a:extLst>
          </p:cNvPr>
          <p:cNvSpPr>
            <a:spLocks noGrp="1"/>
          </p:cNvSpPr>
          <p:nvPr/>
        </p:nvSpPr>
        <p:spPr>
          <a:xfrm>
            <a:off x="781050" y="35433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ответ клиенту только после фиксации на основном узле и двух синхронных репликах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782CACA-2905-4CCA-A345-4EE9B7EC2B80}"/>
              </a:ext>
            </a:extLst>
          </p:cNvPr>
          <p:cNvSpPr>
            <a:spLocks noGrp="1"/>
          </p:cNvSpPr>
          <p:nvPr/>
        </p:nvSpPr>
        <p:spPr>
          <a:xfrm>
            <a:off x="3562350" y="3181350"/>
            <a:ext cx="2571750" cy="7620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72B58C2-D0F4-48C6-A93C-D70606091F34}"/>
              </a:ext>
            </a:extLst>
          </p:cNvPr>
          <p:cNvSpPr>
            <a:spLocks noGrp="1"/>
          </p:cNvSpPr>
          <p:nvPr/>
        </p:nvSpPr>
        <p:spPr>
          <a:xfrm>
            <a:off x="3562350" y="3181350"/>
            <a:ext cx="2571750" cy="28575"/>
          </a:xfrm>
          <a:prstGeom prst="rect">
            <a:avLst/>
          </a:prstGeom>
          <a:solidFill>
            <a:srgbClr val="D86A78"/>
          </a:solidFill>
          <a:ln w="0">
            <a:solidFill>
              <a:srgbClr val="D86A78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F705F98-8E0B-4A14-B085-445FC59F7F26}"/>
              </a:ext>
            </a:extLst>
          </p:cNvPr>
          <p:cNvSpPr>
            <a:spLocks noGrp="1"/>
          </p:cNvSpPr>
          <p:nvPr/>
        </p:nvSpPr>
        <p:spPr>
          <a:xfrm>
            <a:off x="3676650" y="3295650"/>
            <a:ext cx="2343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Недостаточно реплик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FDFCBCB-FBD6-407A-B8F0-D42866725BF0}"/>
              </a:ext>
            </a:extLst>
          </p:cNvPr>
          <p:cNvSpPr>
            <a:spLocks noGrp="1"/>
          </p:cNvSpPr>
          <p:nvPr/>
        </p:nvSpPr>
        <p:spPr>
          <a:xfrm>
            <a:off x="3676650" y="35433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новые изменения останавливаются, чтобы не ослабить гарантию сохранности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77AAF69-D547-4F95-A752-9EBFB727BF18}"/>
              </a:ext>
            </a:extLst>
          </p:cNvPr>
          <p:cNvSpPr>
            <a:spLocks noGrp="1"/>
          </p:cNvSpPr>
          <p:nvPr/>
        </p:nvSpPr>
        <p:spPr>
          <a:xfrm>
            <a:off x="6457950" y="3181350"/>
            <a:ext cx="2324100" cy="76200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219DAF8-954C-4AB7-B194-23F8D495AAB6}"/>
              </a:ext>
            </a:extLst>
          </p:cNvPr>
          <p:cNvSpPr>
            <a:spLocks noGrp="1"/>
          </p:cNvSpPr>
          <p:nvPr/>
        </p:nvSpPr>
        <p:spPr>
          <a:xfrm>
            <a:off x="6457950" y="3181350"/>
            <a:ext cx="23241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5FDF7D2-FF21-440A-89A6-980607A972A9}"/>
              </a:ext>
            </a:extLst>
          </p:cNvPr>
          <p:cNvSpPr>
            <a:spLocks noGrp="1"/>
          </p:cNvSpPr>
          <p:nvPr/>
        </p:nvSpPr>
        <p:spPr>
          <a:xfrm>
            <a:off x="6572250" y="32956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Строгое чтение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E927001-F8B2-48B9-9106-8B5CD28D3B8C}"/>
              </a:ext>
            </a:extLst>
          </p:cNvPr>
          <p:cNvSpPr>
            <a:spLocks noGrp="1"/>
          </p:cNvSpPr>
          <p:nvPr/>
        </p:nvSpPr>
        <p:spPr>
          <a:xfrm>
            <a:off x="6572250" y="35433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после записи клиент может читать через маршрут основного узла</a:t>
            </a:r>
          </a:p>
        </p:txBody>
      </p:sp>
    </p:spTree>
    <p:extLst>
      <p:ext uri="{BB962C8B-B14F-4D97-AF65-F5344CB8AC3E}">
        <p14:creationId xmlns:p14="http://schemas.microsoft.com/office/powerpoint/2010/main" val="458939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FB3C366-10C9-4A18-9AC3-094EA8D936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A10F2F4-84B6-42C1-A4F9-828E4ACA3215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4F7BAD-1E17-4762-B5E4-EA0818A760EB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F1AAE4-8E89-4B93-AB7E-D9D93DD46AD1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ВОССТАНОВЛЕНИЕ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72CE01-A1D6-4A0B-8D46-06A58042FC3B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Репликация не исправляет логическую ошибку, поэтому нужен архив WAL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0F0606-C0CB-4C53-86BA-38D9205919F5}"/>
              </a:ext>
            </a:extLst>
          </p:cNvPr>
          <p:cNvSpPr>
            <a:spLocks noGrp="1"/>
          </p:cNvSpPr>
          <p:nvPr/>
        </p:nvSpPr>
        <p:spPr>
          <a:xfrm>
            <a:off x="361950" y="1200150"/>
            <a:ext cx="5619750" cy="3333750"/>
          </a:xfrm>
          <a:prstGeom prst="rect">
            <a:avLst/>
          </a:prstGeom>
          <a:solidFill>
            <a:srgbClr val="121820"/>
          </a:solidFill>
          <a:ln w="7620">
            <a:solidFill>
              <a:srgbClr val="303A46"/>
            </a:solidFill>
            <a:prstDash val="solid"/>
          </a:ln>
        </p:spPr>
      </p:sp>
      <p:pic>
        <p:nvPicPr>
          <p:cNvPr id="27" name="Рисунок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4888" y="1390650"/>
            <a:ext cx="4314825" cy="287655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1F60EF-3621-41D4-B7E9-FE3542055170}"/>
              </a:ext>
            </a:extLst>
          </p:cNvPr>
          <p:cNvSpPr>
            <a:spLocks noGrp="1"/>
          </p:cNvSpPr>
          <p:nvPr/>
        </p:nvSpPr>
        <p:spPr>
          <a:xfrm>
            <a:off x="6343650" y="1257300"/>
            <a:ext cx="2476500" cy="7048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2B0F4C1-B241-4A82-9184-439DC5243838}"/>
              </a:ext>
            </a:extLst>
          </p:cNvPr>
          <p:cNvSpPr>
            <a:spLocks noGrp="1"/>
          </p:cNvSpPr>
          <p:nvPr/>
        </p:nvSpPr>
        <p:spPr>
          <a:xfrm>
            <a:off x="6343650" y="1257300"/>
            <a:ext cx="24765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50C69B3-A33A-433A-84AB-790F1C93E10C}"/>
              </a:ext>
            </a:extLst>
          </p:cNvPr>
          <p:cNvSpPr>
            <a:spLocks noGrp="1"/>
          </p:cNvSpPr>
          <p:nvPr/>
        </p:nvSpPr>
        <p:spPr>
          <a:xfrm>
            <a:off x="6457950" y="1371600"/>
            <a:ext cx="2247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Полная резервная копия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F58021C-E943-413C-A956-F69A6E5C678B}"/>
              </a:ext>
            </a:extLst>
          </p:cNvPr>
          <p:cNvSpPr>
            <a:spLocks noGrp="1"/>
          </p:cNvSpPr>
          <p:nvPr/>
        </p:nvSpPr>
        <p:spPr>
          <a:xfrm>
            <a:off x="6457950" y="16192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базовая точка восстановления создается отдельным контуром рабочих контейнеров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08F071-3FFF-4352-9E70-85507DDEABB3}"/>
              </a:ext>
            </a:extLst>
          </p:cNvPr>
          <p:cNvSpPr>
            <a:spLocks noGrp="1"/>
          </p:cNvSpPr>
          <p:nvPr/>
        </p:nvSpPr>
        <p:spPr>
          <a:xfrm>
            <a:off x="6343650" y="2190750"/>
            <a:ext cx="2476500" cy="7048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87BE790-28B6-45B0-A77F-6FC5A49E8F9D}"/>
              </a:ext>
            </a:extLst>
          </p:cNvPr>
          <p:cNvSpPr>
            <a:spLocks noGrp="1"/>
          </p:cNvSpPr>
          <p:nvPr/>
        </p:nvSpPr>
        <p:spPr>
          <a:xfrm>
            <a:off x="6343650" y="2190750"/>
            <a:ext cx="247650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B90AF86-0E79-4952-AE30-7AE6A2CE9639}"/>
              </a:ext>
            </a:extLst>
          </p:cNvPr>
          <p:cNvSpPr>
            <a:spLocks noGrp="1"/>
          </p:cNvSpPr>
          <p:nvPr/>
        </p:nvSpPr>
        <p:spPr>
          <a:xfrm>
            <a:off x="6457950" y="2305050"/>
            <a:ext cx="2247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Архив WAL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6631914-DD16-44BD-9E3C-6C77D80D3B2C}"/>
              </a:ext>
            </a:extLst>
          </p:cNvPr>
          <p:cNvSpPr>
            <a:spLocks noGrp="1"/>
          </p:cNvSpPr>
          <p:nvPr/>
        </p:nvSpPr>
        <p:spPr>
          <a:xfrm>
            <a:off x="6457950" y="25527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журнал предзаписи непрерывно сохраняет изменения после полной копии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7947EB3-E658-4C79-AE19-82293C98444D}"/>
              </a:ext>
            </a:extLst>
          </p:cNvPr>
          <p:cNvSpPr>
            <a:spLocks noGrp="1"/>
          </p:cNvSpPr>
          <p:nvPr/>
        </p:nvSpPr>
        <p:spPr>
          <a:xfrm>
            <a:off x="6343650" y="3124200"/>
            <a:ext cx="2476500" cy="7048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80A9B22-3220-4C1C-AC95-87E28D5F4C2B}"/>
              </a:ext>
            </a:extLst>
          </p:cNvPr>
          <p:cNvSpPr>
            <a:spLocks noGrp="1"/>
          </p:cNvSpPr>
          <p:nvPr/>
        </p:nvSpPr>
        <p:spPr>
          <a:xfrm>
            <a:off x="6343650" y="3124200"/>
            <a:ext cx="247650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A26614A-6025-4C5F-8D51-00D6AA9225CE}"/>
              </a:ext>
            </a:extLst>
          </p:cNvPr>
          <p:cNvSpPr>
            <a:spLocks noGrp="1"/>
          </p:cNvSpPr>
          <p:nvPr/>
        </p:nvSpPr>
        <p:spPr>
          <a:xfrm>
            <a:off x="6457950" y="3238500"/>
            <a:ext cx="2247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PITR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1B9672D-5A7A-427B-ACCB-C8D355FD5312}"/>
              </a:ext>
            </a:extLst>
          </p:cNvPr>
          <p:cNvSpPr>
            <a:spLocks noGrp="1"/>
          </p:cNvSpPr>
          <p:nvPr/>
        </p:nvSpPr>
        <p:spPr>
          <a:xfrm>
            <a:off x="6457950" y="34861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восстановление на момент до ошибочного изменения данных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8A2ACF6-6AF5-48A0-9D41-21166C0A11BE}"/>
              </a:ext>
            </a:extLst>
          </p:cNvPr>
          <p:cNvSpPr>
            <a:spLocks noGrp="1"/>
          </p:cNvSpPr>
          <p:nvPr/>
        </p:nvSpPr>
        <p:spPr>
          <a:xfrm>
            <a:off x="6343650" y="4095750"/>
            <a:ext cx="247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Узел отказал - помогает HA. Ошибочный DELETE/UPDATE - помогает резервная копия и WAL.</a:t>
            </a:r>
          </a:p>
        </p:txBody>
      </p:sp>
    </p:spTree>
    <p:extLst>
      <p:ext uri="{BB962C8B-B14F-4D97-AF65-F5344CB8AC3E}">
        <p14:creationId xmlns:p14="http://schemas.microsoft.com/office/powerpoint/2010/main" val="1870658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A29A5C9-EBC1-4551-8E8B-113DD285A0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7F095C-AD3A-4E14-926B-D08651F6E6A2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B8BAE66-BAB3-4C33-8482-D0C297153484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05A880-6027-4ADD-B81A-F6B43E00E664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Percona Monitoring and Management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50BC6A-7C5F-4DC8-A6CD-07EB2C2F6521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Главный дашборд показывает весь контур, а не только PostgreSQL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801D071-2154-4612-A555-793F46B6E6B0}"/>
              </a:ext>
            </a:extLst>
          </p:cNvPr>
          <p:cNvSpPr>
            <a:spLocks noGrp="1"/>
          </p:cNvSpPr>
          <p:nvPr/>
        </p:nvSpPr>
        <p:spPr>
          <a:xfrm>
            <a:off x="342900" y="1162050"/>
            <a:ext cx="5829300" cy="3638550"/>
          </a:xfrm>
          <a:prstGeom prst="rect">
            <a:avLst/>
          </a:prstGeom>
          <a:solidFill>
            <a:srgbClr val="0A0D12"/>
          </a:solidFill>
          <a:ln w="7620">
            <a:solidFill>
              <a:srgbClr val="303A46"/>
            </a:solidFill>
            <a:prstDash val="solid"/>
          </a:ln>
        </p:spPr>
      </p:sp>
      <p:pic>
        <p:nvPicPr>
          <p:cNvPr id="16" name="Рисунок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850" y="1834455"/>
            <a:ext cx="5600700" cy="275659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854D12E-0897-4F68-86DA-B94CDC9C7477}"/>
              </a:ext>
            </a:extLst>
          </p:cNvPr>
          <p:cNvSpPr>
            <a:spLocks noGrp="1"/>
          </p:cNvSpPr>
          <p:nvPr/>
        </p:nvSpPr>
        <p:spPr>
          <a:xfrm>
            <a:off x="6477000" y="1409700"/>
            <a:ext cx="2266950" cy="1276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19050" rIns="38100" bIns="19050" anchor="t"/>
          <a:lstStyle/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PostgreSQL-узлы и роли Patroni</a:t>
            </a:r>
          </a:p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etcd, PgBouncer и HAProxy</a:t>
            </a:r>
          </a:p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MinIO, pgBackRest и backup-worker</a:t>
            </a:r>
          </a:p>
          <a:p>
            <a:pPr algn="l">
              <a:buNone/>
              <a:defRPr sz="97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• компонентная таблица состояния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A480F3-553B-453D-9678-B97E5E1C6223}"/>
              </a:ext>
            </a:extLst>
          </p:cNvPr>
          <p:cNvSpPr>
            <a:spLocks noGrp="1"/>
          </p:cNvSpPr>
          <p:nvPr/>
        </p:nvSpPr>
        <p:spPr>
          <a:xfrm>
            <a:off x="6496050" y="3200400"/>
            <a:ext cx="2247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Надежность зависит от всей цепочки: если деградирует прокси, контур резервного копирования или хранилище, это должно быть видно на одном экране.</a:t>
            </a:r>
          </a:p>
        </p:txBody>
      </p:sp>
    </p:spTree>
    <p:extLst>
      <p:ext uri="{BB962C8B-B14F-4D97-AF65-F5344CB8AC3E}">
        <p14:creationId xmlns:p14="http://schemas.microsoft.com/office/powerpoint/2010/main" val="23946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E5CE07A-1D0D-4815-8920-46438CCA21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5DA1EB0-D2AC-4B5C-8915-B6D4190BB79B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7B648CC-C9D2-4B74-976A-5119BF33FB38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1D4020B-7CD1-4932-87DF-BA5659CBDC8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SQL-СЦЕНАРИИ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360F72D-D8A7-42BF-9352-4B07044EB9D5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Схема проверяется операциями и аналитическими выборками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E5795F8-9956-419E-A356-B2D6285AE0F1}"/>
              </a:ext>
            </a:extLst>
          </p:cNvPr>
          <p:cNvSpPr>
            <a:spLocks noGrp="1"/>
          </p:cNvSpPr>
          <p:nvPr/>
        </p:nvSpPr>
        <p:spPr>
          <a:xfrm>
            <a:off x="438150" y="1123950"/>
            <a:ext cx="781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Каталог `scenarios/` отделен от документации: это проверочные материалы с SQL и результатами выполнения.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A25F90-7C31-4886-827F-ADE2050CD7D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3429000" cy="5905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ACE8012-D1CA-442F-BCCF-EA5CFCF12DD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34290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4A274B-EDAE-4BAB-852C-57EBC4AF3BF6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INSERT ... RETURNING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52E37FA-61EC-4FFC-AF8B-B8267C77BDB5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3200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создание фотографии и возврат созданной строки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C6D86CE-5779-47D6-87D8-4D4FA5C5B1DF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3429000" cy="5905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BCB9A07-775B-4324-933B-DEEF37C98C48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34290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8B44992-D425-4799-A91F-1FCB0786CA6B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UPDATE ... FROM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C692E00-BA47-4CC8-B269-FFD50AC4A539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3200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изменение дневной цены через календарь, объявление и город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1BF8873-3CD9-48FD-A86B-45C47AE4845C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3429000" cy="5905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5FBABF2-6621-49CB-8018-4053EE10CF7A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34290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9087995-2A59-4BA9-B666-814CB5EF99F0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DELETE ... USING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DBFFD43-18F9-43A5-8BE6-ED5FE055E244}"/>
              </a:ext>
            </a:extLst>
          </p:cNvPr>
          <p:cNvSpPr>
            <a:spLocks noGrp="1"/>
          </p:cNvSpPr>
          <p:nvPr/>
        </p:nvSpPr>
        <p:spPr>
          <a:xfrm>
            <a:off x="666750" y="3448050"/>
            <a:ext cx="3200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удаление непривязанных служебных фотографий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C85A036-567E-472D-A727-0FAD5A4C4EB6}"/>
              </a:ext>
            </a:extLst>
          </p:cNvPr>
          <p:cNvSpPr>
            <a:spLocks noGrp="1"/>
          </p:cNvSpPr>
          <p:nvPr/>
        </p:nvSpPr>
        <p:spPr>
          <a:xfrm>
            <a:off x="4838700" y="1562100"/>
            <a:ext cx="3429000" cy="5905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02D7EA3-BAA7-489E-B6BE-72C884EE9AFE}"/>
              </a:ext>
            </a:extLst>
          </p:cNvPr>
          <p:cNvSpPr>
            <a:spLocks noGrp="1"/>
          </p:cNvSpPr>
          <p:nvPr/>
        </p:nvSpPr>
        <p:spPr>
          <a:xfrm>
            <a:off x="4838700" y="1562100"/>
            <a:ext cx="342900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609090-3A61-4256-B477-E9B9B91392DC}"/>
              </a:ext>
            </a:extLst>
          </p:cNvPr>
          <p:cNvSpPr>
            <a:spLocks noGrp="1"/>
          </p:cNvSpPr>
          <p:nvPr/>
        </p:nvSpPr>
        <p:spPr>
          <a:xfrm>
            <a:off x="4953000" y="167640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JOIN-отчет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D268ACF-11A7-429A-983F-D9F3E24066FF}"/>
              </a:ext>
            </a:extLst>
          </p:cNvPr>
          <p:cNvSpPr>
            <a:spLocks noGrp="1"/>
          </p:cNvSpPr>
          <p:nvPr/>
        </p:nvSpPr>
        <p:spPr>
          <a:xfrm>
            <a:off x="4953000" y="1924050"/>
            <a:ext cx="3200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бронь, гость, платеж и отзыв в одном чтении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2339CBE-B691-4CEC-8DEB-FBCB2B605A45}"/>
              </a:ext>
            </a:extLst>
          </p:cNvPr>
          <p:cNvSpPr>
            <a:spLocks noGrp="1"/>
          </p:cNvSpPr>
          <p:nvPr/>
        </p:nvSpPr>
        <p:spPr>
          <a:xfrm>
            <a:off x="4838700" y="2324100"/>
            <a:ext cx="3429000" cy="5905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85BF97E-C1CD-4385-8940-85BF696F64B1}"/>
              </a:ext>
            </a:extLst>
          </p:cNvPr>
          <p:cNvSpPr>
            <a:spLocks noGrp="1"/>
          </p:cNvSpPr>
          <p:nvPr/>
        </p:nvSpPr>
        <p:spPr>
          <a:xfrm>
            <a:off x="4838700" y="2324100"/>
            <a:ext cx="342900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D76CCAA-F8F1-4F36-A199-436156149F9E}"/>
              </a:ext>
            </a:extLst>
          </p:cNvPr>
          <p:cNvSpPr>
            <a:spLocks noGrp="1"/>
          </p:cNvSpPr>
          <p:nvPr/>
        </p:nvSpPr>
        <p:spPr>
          <a:xfrm>
            <a:off x="4953000" y="243840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CSV-витрина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767CDC6-DDA3-46F8-BC79-2DEC47299231}"/>
              </a:ext>
            </a:extLst>
          </p:cNvPr>
          <p:cNvSpPr>
            <a:spLocks noGrp="1"/>
          </p:cNvSpPr>
          <p:nvPr/>
        </p:nvSpPr>
        <p:spPr>
          <a:xfrm>
            <a:off x="4953000" y="2686050"/>
            <a:ext cx="3200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активные объявления с владельцем, локацией, ценой и валютой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E599F42-DBA2-4FA5-BFC4-AEFFD3672B7F}"/>
              </a:ext>
            </a:extLst>
          </p:cNvPr>
          <p:cNvSpPr>
            <a:spLocks noGrp="1"/>
          </p:cNvSpPr>
          <p:nvPr/>
        </p:nvSpPr>
        <p:spPr>
          <a:xfrm>
            <a:off x="4838700" y="3086100"/>
            <a:ext cx="3429000" cy="5905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DB84D54-62DD-4D56-A985-20341C263732}"/>
              </a:ext>
            </a:extLst>
          </p:cNvPr>
          <p:cNvSpPr>
            <a:spLocks noGrp="1"/>
          </p:cNvSpPr>
          <p:nvPr/>
        </p:nvSpPr>
        <p:spPr>
          <a:xfrm>
            <a:off x="4838700" y="3086100"/>
            <a:ext cx="342900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7BB6A48-F828-4522-8755-AE2D90A08970}"/>
              </a:ext>
            </a:extLst>
          </p:cNvPr>
          <p:cNvSpPr>
            <a:spLocks noGrp="1"/>
          </p:cNvSpPr>
          <p:nvPr/>
        </p:nvSpPr>
        <p:spPr>
          <a:xfrm>
            <a:off x="4953000" y="320040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2626636-41B6-4E20-B85F-F05C5D4CD27C}"/>
              </a:ext>
            </a:extLst>
          </p:cNvPr>
          <p:cNvSpPr>
            <a:spLocks noGrp="1"/>
          </p:cNvSpPr>
          <p:nvPr/>
        </p:nvSpPr>
        <p:spPr>
          <a:xfrm>
            <a:off x="4953000" y="3448050"/>
            <a:ext cx="3200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фактические планы выполнения для ключевых индексов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16F912F-6CDC-41F2-9F18-FF9140E61113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7486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Артефакты: снимки результатов, CSV и планы выполнения. Они подтверждают, что модель проверялась через прикладные 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746765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4E7E2DF-4244-4A42-8A3E-6BB12A6AA4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31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3CB2975-04C1-4821-B5D2-9EE69C9F650F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533400" cy="19050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F00603-EAA5-428D-8485-86870F726FD0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0">
                <a:solidFill>
                  <a:srgbClr val="8B95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5A3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33C5AC-B83F-4E47-A119-7D028BFEAE0E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75" b="1">
                <a:solidFill>
                  <a:srgbClr val="2A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AB7CA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ABFB82-98D8-4A5D-9964-5100AE30FE88}"/>
              </a:ext>
            </a:extLst>
          </p:cNvPr>
          <p:cNvSpPr>
            <a:spLocks noGrp="1"/>
          </p:cNvSpPr>
          <p:nvPr/>
        </p:nvSpPr>
        <p:spPr>
          <a:xfrm>
            <a:off x="323850" y="552450"/>
            <a:ext cx="7524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1EA"/>
                </a:solidFill>
                <a:latin typeface="Aptos Display"/>
                <a:ea typeface="Aptos Display"/>
                <a:cs typeface="Aptos Display"/>
              </a:rPr>
              <a:t>Гарантии разделены между схемой, кластером и восстановлением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83B0AAA-85C2-4CA0-8A3F-3E8EB92598C5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3619500" cy="8191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FAFAA86-2595-427B-9E87-4037956B6DB6}"/>
              </a:ext>
            </a:extLst>
          </p:cNvPr>
          <p:cNvSpPr>
            <a:spLocks noGrp="1"/>
          </p:cNvSpPr>
          <p:nvPr/>
        </p:nvSpPr>
        <p:spPr>
          <a:xfrm>
            <a:off x="552450" y="1409700"/>
            <a:ext cx="3619500" cy="28575"/>
          </a:xfrm>
          <a:prstGeom prst="rect">
            <a:avLst/>
          </a:prstGeom>
          <a:solidFill>
            <a:srgbClr val="EAB64F"/>
          </a:solidFill>
          <a:ln w="0">
            <a:solidFill>
              <a:srgbClr val="EAB64F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5F38EE-BB53-44FA-8AA3-07E0EC71905D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3390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Доменная целостность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BBFA646-EDC6-41CB-8DE0-66152542E24C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3390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ограничения и триггеры защищают календарь, платежи, отзывы и историю цен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28E25B6-5D77-439E-B411-CF24E740DD76}"/>
              </a:ext>
            </a:extLst>
          </p:cNvPr>
          <p:cNvSpPr>
            <a:spLocks noGrp="1"/>
          </p:cNvSpPr>
          <p:nvPr/>
        </p:nvSpPr>
        <p:spPr>
          <a:xfrm>
            <a:off x="4743450" y="1409700"/>
            <a:ext cx="3619500" cy="8191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CA53DF4-B26C-4D68-AD08-C509D8EC77A5}"/>
              </a:ext>
            </a:extLst>
          </p:cNvPr>
          <p:cNvSpPr>
            <a:spLocks noGrp="1"/>
          </p:cNvSpPr>
          <p:nvPr/>
        </p:nvSpPr>
        <p:spPr>
          <a:xfrm>
            <a:off x="4743450" y="1409700"/>
            <a:ext cx="3619500" cy="28575"/>
          </a:xfrm>
          <a:prstGeom prst="rect">
            <a:avLst/>
          </a:prstGeom>
          <a:solidFill>
            <a:srgbClr val="2AB7CA"/>
          </a:solidFill>
          <a:ln w="0">
            <a:solidFill>
              <a:srgbClr val="2AB7CA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FF771E-1A7F-4013-A79E-41705158A10D}"/>
              </a:ext>
            </a:extLst>
          </p:cNvPr>
          <p:cNvSpPr>
            <a:spLocks noGrp="1"/>
          </p:cNvSpPr>
          <p:nvPr/>
        </p:nvSpPr>
        <p:spPr>
          <a:xfrm>
            <a:off x="4857750" y="1524000"/>
            <a:ext cx="3390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Отказоустойчивость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BD8F5B0-77D9-45DD-8310-73E8AE18DFA9}"/>
              </a:ext>
            </a:extLst>
          </p:cNvPr>
          <p:cNvSpPr>
            <a:spLocks noGrp="1"/>
          </p:cNvSpPr>
          <p:nvPr/>
        </p:nvSpPr>
        <p:spPr>
          <a:xfrm>
            <a:off x="4857750" y="1771650"/>
            <a:ext cx="3390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Patroni и etcd выбирают основной узел без split brain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9852009-35A0-40F7-95C0-2D40B4E840E6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3619500" cy="8191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BC6E38-F053-4059-A82C-EB91A3064807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3619500" cy="28575"/>
          </a:xfrm>
          <a:prstGeom prst="rect">
            <a:avLst/>
          </a:prstGeom>
          <a:solidFill>
            <a:srgbClr val="62BE7B"/>
          </a:solidFill>
          <a:ln w="0">
            <a:solidFill>
              <a:srgbClr val="62BE7B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E572D61-D3C2-4F66-B2C8-2B8FCF765D72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3390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Сохранность подтверждений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B0D51CA-AB6B-424B-9538-D39B1CDA78A4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3390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строгая синхронная запись не допускает потери подтвержденных транзакций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DC5D969-5C45-4A54-B5ED-2C396B968F27}"/>
              </a:ext>
            </a:extLst>
          </p:cNvPr>
          <p:cNvSpPr>
            <a:spLocks noGrp="1"/>
          </p:cNvSpPr>
          <p:nvPr/>
        </p:nvSpPr>
        <p:spPr>
          <a:xfrm>
            <a:off x="4743450" y="2571750"/>
            <a:ext cx="3619500" cy="819150"/>
          </a:xfrm>
          <a:prstGeom prst="rect">
            <a:avLst/>
          </a:prstGeom>
          <a:solidFill>
            <a:srgbClr val="202631"/>
          </a:solidFill>
          <a:ln w="7620">
            <a:solidFill>
              <a:srgbClr val="34404D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D4EC4F3-EAFA-4EA2-9F76-9B1940BF9E0B}"/>
              </a:ext>
            </a:extLst>
          </p:cNvPr>
          <p:cNvSpPr>
            <a:spLocks noGrp="1"/>
          </p:cNvSpPr>
          <p:nvPr/>
        </p:nvSpPr>
        <p:spPr>
          <a:xfrm>
            <a:off x="4743450" y="2571750"/>
            <a:ext cx="3619500" cy="28575"/>
          </a:xfrm>
          <a:prstGeom prst="rect">
            <a:avLst/>
          </a:prstGeom>
          <a:solidFill>
            <a:srgbClr val="D86A78"/>
          </a:solidFill>
          <a:ln w="0">
            <a:solidFill>
              <a:srgbClr val="D86A78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CA84F5E-D7F3-48B2-AF37-FF73BA1D29BF}"/>
              </a:ext>
            </a:extLst>
          </p:cNvPr>
          <p:cNvSpPr>
            <a:spLocks noGrp="1"/>
          </p:cNvSpPr>
          <p:nvPr/>
        </p:nvSpPr>
        <p:spPr>
          <a:xfrm>
            <a:off x="4857750" y="2686050"/>
            <a:ext cx="3390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Восстановление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32F1B85-E115-4228-B5C9-1A08881736E2}"/>
              </a:ext>
            </a:extLst>
          </p:cNvPr>
          <p:cNvSpPr>
            <a:spLocks noGrp="1"/>
          </p:cNvSpPr>
          <p:nvPr/>
        </p:nvSpPr>
        <p:spPr>
          <a:xfrm>
            <a:off x="4857750" y="2933700"/>
            <a:ext cx="3390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C9D1D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1D9"/>
                </a:solidFill>
                <a:latin typeface="Aptos"/>
                <a:ea typeface="Aptos"/>
                <a:cs typeface="Aptos"/>
              </a:rPr>
              <a:t>полные копии и архив WAL закрывают сценарии логической порчи данных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A2374E0-F46C-4B56-8FCB-F693D4D0C4C1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7543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F4F1E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1EA"/>
                </a:solidFill>
                <a:latin typeface="Aptos"/>
                <a:ea typeface="Aptos"/>
                <a:cs typeface="Aptos"/>
              </a:rPr>
              <a:t>Проект показывает PostgreSQL как связанную систему: данные имеют предметный смысл, кластер защищает подтвержденные изменения, а эксплуатационный контур делает состояние наблюдаемым.</a:t>
            </a:r>
          </a:p>
        </p:txBody>
      </p:sp>
    </p:spTree>
    <p:extLst>
      <p:ext uri="{BB962C8B-B14F-4D97-AF65-F5344CB8AC3E}">
        <p14:creationId xmlns:p14="http://schemas.microsoft.com/office/powerpoint/2010/main" val="852452859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1328</Words>
  <Application>Microsoft Office PowerPoint</Application>
  <DocSecurity>0</DocSecurity>
  <PresentationFormat>Экран (16:9)</PresentationFormat>
  <Paragraphs>268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Roboto</vt:lpstr>
      <vt:lpstr>Светлая тема</vt:lpstr>
      <vt:lpstr>Светлая тема</vt:lpstr>
      <vt:lpstr>Светлая тема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Yakov Sidin</cp:lastModifiedBy>
  <cp:revision>1</cp:revision>
  <dcterms:created xsi:type="dcterms:W3CDTF">2026-06-05T15:10:44Z</dcterms:created>
  <dcterms:modified xsi:type="dcterms:W3CDTF">2026-06-05T15:44:28Z</dcterms:modified>
</cp:coreProperties>
</file>